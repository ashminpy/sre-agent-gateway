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when an incident occurs, an engineer still has to gather information from several places before they can understand what happened. The idea behind this project is straightforward: let the agent perform the initial investigation and evidence gathering automatically. The engineer receives an evidence-backed root-cause analysis instead of starting from an alert with very little context. The goal is not to replace the SRE. It is to give the SRE a much stronger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already have systems that tell us when something is wrong. The difficult part starts after the alert. An engineer has to determine which cluster is affected, inspect Kubernetes state, look at events and logs, review configuration, and then correlate those signals. That investigation requires time and experience. This is the part of the incident lifecycle we are targeting.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 SRE Agent focused specifically on investigation. It collects real operational evidence rather than answering only from the alert description. It reasons across those signals and produces an RCA explaining what it believes happened and why. Investigation remains read-only by default. The engineer still owns the remediation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high level, the agent runs on Google Cloud using Vertex AI Agent Engine. When an incident arrives, the workflow determines where it needs to investigate. Through the Agent Gateway and MCP tools, it connects to the operational environment and collects real evidence. That includes Kubernetes events, logs, pod state and relevant configuration. The agent then reasons over the evidence and produces an RCA for the engineer. The architecture is intentionally designed so we can add clusters and additional data sources without changing the core investigation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future concept deck. A meaningful portion of the investigation workflow already works today. We have validated real Kubernetes evidence collection, multi-cluster investigation and RCA generation. There are also areas we are deliberately still validating before calling this production-ready. I want to be very clear about that distinction because passing CI alone is not our definition of success.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spend more time describing it, I want to show the workflow. I'll introduce a real Kubernetes failure scenario. We'll watch the agent investigate it, see the evidence it collects, and then review the RCA it returns. The important thing to watch is not simply whether it produces an answer. Watch whether the conclusion is supported by the evidence it actually collected.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implementation establishes the investigation foundation. The next step is connecting it more naturally into the incident lifecycle and strengthening how we measure investigation quality. The architecture also gives us a path beyond one Kubernetes environment. Over time, the same investigation model can incorporate additional infrastructure and operational evidence sources. The important point is that we do not need to redesign the core system every time we add another source.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 is not to jump directly from this demo into broad production use. The next step should be completing the remaining critical validation and then running a controlled pilot. We should measure whether the agent consistently gathers the right evidence, reaches accurate conclusions, and provides meaningful value to the engineer. If those results hold, we then have a strong basis for expanding the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2761488"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WHY SHOULD I CARE?</a:t>
            </a:r>
          </a:p>
        </p:txBody>
      </p:sp>
      <p:sp>
        <p:nvSpPr>
          <p:cNvPr id="3" name="TextBox 2"/>
          <p:cNvSpPr txBox="1"/>
          <p:nvPr/>
        </p:nvSpPr>
        <p:spPr>
          <a:xfrm>
            <a:off x="548640" y="777240"/>
            <a:ext cx="9601200" cy="1005840"/>
          </a:xfrm>
          <a:prstGeom prst="rect">
            <a:avLst/>
          </a:prstGeom>
          <a:noFill/>
        </p:spPr>
        <p:txBody>
          <a:bodyPr wrap="square" anchor="t" lIns="0" rIns="0" tIns="0" bIns="0">
            <a:spAutoFit/>
          </a:bodyPr>
          <a:lstStyle/>
          <a:p>
            <a:pPr algn="l">
              <a:lnSpc>
                <a:spcPct val="105000"/>
              </a:lnSpc>
            </a:pPr>
            <a:r>
              <a:rPr sz="3400" b="0" i="0">
                <a:solidFill>
                  <a:srgbClr val="26282B"/>
                </a:solidFill>
                <a:latin typeface="Georgia"/>
              </a:rPr>
              <a:t>From Incident Alert to</a:t>
            </a:r>
          </a:p>
          <a:p>
            <a:pPr algn="l">
              <a:lnSpc>
                <a:spcPct val="105000"/>
              </a:lnSpc>
            </a:pPr>
            <a:r>
              <a:rPr sz="3400" b="0" i="0">
                <a:solidFill>
                  <a:srgbClr val="26282B"/>
                </a:solidFill>
                <a:latin typeface="Georgia"/>
              </a:rPr>
              <a:t>Evidence-Backed RCA</a:t>
            </a:r>
          </a:p>
        </p:txBody>
      </p:sp>
      <p:sp>
        <p:nvSpPr>
          <p:cNvPr id="4" name="TextBox 3"/>
          <p:cNvSpPr txBox="1"/>
          <p:nvPr/>
        </p:nvSpPr>
        <p:spPr>
          <a:xfrm>
            <a:off x="548640" y="1874519"/>
            <a:ext cx="8961120" cy="640080"/>
          </a:xfrm>
          <a:prstGeom prst="rect">
            <a:avLst/>
          </a:prstGeom>
          <a:noFill/>
        </p:spPr>
        <p:txBody>
          <a:bodyPr wrap="square" anchor="t" lIns="0" rIns="0" tIns="0" bIns="0">
            <a:spAutoFit/>
          </a:bodyPr>
          <a:lstStyle/>
          <a:p>
            <a:pPr algn="l">
              <a:lnSpc>
                <a:spcPct val="120000"/>
              </a:lnSpc>
            </a:pPr>
            <a:r>
              <a:rPr sz="1500" b="0" i="0">
                <a:solidFill>
                  <a:srgbClr val="565A5E"/>
                </a:solidFill>
                <a:latin typeface="Calibri"/>
              </a:rPr>
              <a:t>Production incidents often require engineers to manually correlate information across multiple operational systems before they can confidently identify what happened.</a:t>
            </a:r>
          </a:p>
        </p:txBody>
      </p:sp>
      <p:sp>
        <p:nvSpPr>
          <p:cNvPr id="5" name="Rounded Rectangle 4"/>
          <p:cNvSpPr/>
          <p:nvPr/>
        </p:nvSpPr>
        <p:spPr>
          <a:xfrm>
            <a:off x="685800" y="2514600"/>
            <a:ext cx="3383280" cy="9601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Incident occurs</a:t>
            </a:r>
          </a:p>
        </p:txBody>
      </p:sp>
      <p:sp>
        <p:nvSpPr>
          <p:cNvPr id="6" name="TextBox 5"/>
          <p:cNvSpPr txBox="1"/>
          <p:nvPr/>
        </p:nvSpPr>
        <p:spPr>
          <a:xfrm>
            <a:off x="4091940" y="2514600"/>
            <a:ext cx="274320" cy="960120"/>
          </a:xfrm>
          <a:prstGeom prst="rect">
            <a:avLst/>
          </a:prstGeom>
          <a:noFill/>
        </p:spPr>
        <p:txBody>
          <a:bodyPr wrap="none" anchor="ctr">
            <a:spAutoFit/>
          </a:bodyPr>
          <a:lstStyle/>
          <a:p>
            <a:pPr algn="ctr"/>
            <a:r>
              <a:rPr sz="1600">
                <a:solidFill>
                  <a:srgbClr val="8A8E92"/>
                </a:solidFill>
              </a:rPr>
              <a:t>→</a:t>
            </a:r>
          </a:p>
        </p:txBody>
      </p:sp>
      <p:sp>
        <p:nvSpPr>
          <p:cNvPr id="7" name="Rounded Rectangle 6"/>
          <p:cNvSpPr/>
          <p:nvPr/>
        </p:nvSpPr>
        <p:spPr>
          <a:xfrm>
            <a:off x="4389120" y="2514600"/>
            <a:ext cx="3383280" cy="9601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Engineer investigates</a:t>
            </a:r>
          </a:p>
          <a:p>
            <a:pPr algn="ctr"/>
            <a:r>
              <a:rPr sz="950">
                <a:solidFill>
                  <a:srgbClr val="8A8E92"/>
                </a:solidFill>
                <a:latin typeface="Calibri"/>
              </a:rPr>
              <a:t>multiple signals, manually</a:t>
            </a:r>
          </a:p>
        </p:txBody>
      </p:sp>
      <p:sp>
        <p:nvSpPr>
          <p:cNvPr id="8" name="TextBox 7"/>
          <p:cNvSpPr txBox="1"/>
          <p:nvPr/>
        </p:nvSpPr>
        <p:spPr>
          <a:xfrm>
            <a:off x="7795260" y="2514600"/>
            <a:ext cx="274320" cy="960120"/>
          </a:xfrm>
          <a:prstGeom prst="rect">
            <a:avLst/>
          </a:prstGeom>
          <a:noFill/>
        </p:spPr>
        <p:txBody>
          <a:bodyPr wrap="none" anchor="ctr">
            <a:spAutoFit/>
          </a:bodyPr>
          <a:lstStyle/>
          <a:p>
            <a:pPr algn="ctr"/>
            <a:r>
              <a:rPr sz="1600">
                <a:solidFill>
                  <a:srgbClr val="8A8E92"/>
                </a:solidFill>
              </a:rPr>
              <a:t>→</a:t>
            </a:r>
          </a:p>
        </p:txBody>
      </p:sp>
      <p:sp>
        <p:nvSpPr>
          <p:cNvPr id="9" name="Rounded Rectangle 8"/>
          <p:cNvSpPr/>
          <p:nvPr/>
        </p:nvSpPr>
        <p:spPr>
          <a:xfrm>
            <a:off x="8092440" y="2514600"/>
            <a:ext cx="3383280" cy="9601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Root cause identified</a:t>
            </a:r>
          </a:p>
        </p:txBody>
      </p:sp>
      <p:sp>
        <p:nvSpPr>
          <p:cNvPr id="10" name="Rounded Rectangle 9"/>
          <p:cNvSpPr/>
          <p:nvPr/>
        </p:nvSpPr>
        <p:spPr>
          <a:xfrm>
            <a:off x="685800" y="3794760"/>
            <a:ext cx="10789920" cy="777240"/>
          </a:xfrm>
          <a:prstGeom prst="roundRect">
            <a:avLst>
              <a:gd name="adj" fmla="val 15000"/>
            </a:avLst>
          </a:prstGeom>
          <a:solidFill>
            <a:srgbClr val="E7F3EF"/>
          </a:solidFill>
          <a:ln w="9525">
            <a:solidFill>
              <a:srgbClr val="C4E1D8"/>
            </a:solidFill>
          </a:ln>
          <a:effectLst/>
        </p:spPr>
        <p:style>
          <a:lnRef idx="1">
            <a:schemeClr val="accent1"/>
          </a:lnRef>
          <a:fillRef idx="3">
            <a:schemeClr val="accent1"/>
          </a:fillRef>
          <a:effectRef idx="2">
            <a:schemeClr val="accent1"/>
          </a:effectRef>
          <a:fontRef idx="minor">
            <a:schemeClr val="lt1"/>
          </a:fontRef>
        </p:style>
        <p:txBody>
          <a:bodyPr rtlCol="0" anchor="ctr" lIns="320040" rIns="320040"/>
          <a:lstStyle/>
          <a:p>
            <a:pPr algn="ctr"/>
            <a:r>
              <a:rPr b="1" sz="1400">
                <a:solidFill>
                  <a:srgbClr val="26282B"/>
                </a:solidFill>
                <a:latin typeface="Calibri"/>
              </a:rPr>
              <a:t>The opportunity:  </a:t>
            </a:r>
            <a:r>
              <a:rPr sz="1400">
                <a:solidFill>
                  <a:srgbClr val="26282B"/>
                </a:solidFill>
                <a:latin typeface="Calibri"/>
              </a:rPr>
              <a:t>SRE Agent investigates the evidence automatically and gives the engineer a structured starting point.</a:t>
            </a:r>
          </a:p>
        </p:txBody>
      </p:sp>
      <p:sp>
        <p:nvSpPr>
          <p:cNvPr id="11" name="Oval 10"/>
          <p:cNvSpPr/>
          <p:nvPr/>
        </p:nvSpPr>
        <p:spPr>
          <a:xfrm>
            <a:off x="685800" y="492861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4892040"/>
            <a:ext cx="224942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Reduce investigation effort</a:t>
            </a:r>
          </a:p>
        </p:txBody>
      </p:sp>
      <p:sp>
        <p:nvSpPr>
          <p:cNvPr id="13" name="Oval 12"/>
          <p:cNvSpPr/>
          <p:nvPr/>
        </p:nvSpPr>
        <p:spPr>
          <a:xfrm>
            <a:off x="3337560" y="492861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7016" y="4892040"/>
            <a:ext cx="224942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Gather evidence consistently</a:t>
            </a:r>
          </a:p>
        </p:txBody>
      </p:sp>
      <p:sp>
        <p:nvSpPr>
          <p:cNvPr id="15" name="Oval 14"/>
          <p:cNvSpPr/>
          <p:nvPr/>
        </p:nvSpPr>
        <p:spPr>
          <a:xfrm>
            <a:off x="5989320" y="492861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8776" y="4892040"/>
            <a:ext cx="224942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Accelerate root-cause understanding</a:t>
            </a:r>
          </a:p>
        </p:txBody>
      </p:sp>
      <p:sp>
        <p:nvSpPr>
          <p:cNvPr id="17" name="Oval 16"/>
          <p:cNvSpPr/>
          <p:nvPr/>
        </p:nvSpPr>
        <p:spPr>
          <a:xfrm>
            <a:off x="8641080" y="492861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0536" y="4892040"/>
            <a:ext cx="224942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Keep engineers in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5577840"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WHY IS INCIDENT INVESTIGATION DIFFICULT?</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200" b="0" i="0">
                <a:solidFill>
                  <a:srgbClr val="26282B"/>
                </a:solidFill>
                <a:latin typeface="Georgia"/>
              </a:rPr>
              <a:t>The Operational Problem</a:t>
            </a:r>
          </a:p>
        </p:txBody>
      </p:sp>
      <p:sp>
        <p:nvSpPr>
          <p:cNvPr id="4" name="Rounded Rectangle 3"/>
          <p:cNvSpPr/>
          <p:nvPr/>
        </p:nvSpPr>
        <p:spPr>
          <a:xfrm>
            <a:off x="685800" y="2103120"/>
            <a:ext cx="2457450" cy="11887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Alert</a:t>
            </a:r>
          </a:p>
          <a:p>
            <a:pPr algn="ctr"/>
            <a:r>
              <a:rPr sz="950">
                <a:solidFill>
                  <a:srgbClr val="8A8E92"/>
                </a:solidFill>
                <a:latin typeface="Calibri"/>
              </a:rPr>
              <a:t>Limited initial context</a:t>
            </a:r>
          </a:p>
        </p:txBody>
      </p:sp>
      <p:sp>
        <p:nvSpPr>
          <p:cNvPr id="5" name="TextBox 4"/>
          <p:cNvSpPr txBox="1"/>
          <p:nvPr/>
        </p:nvSpPr>
        <p:spPr>
          <a:xfrm>
            <a:off x="3166110" y="2103120"/>
            <a:ext cx="274320" cy="1188720"/>
          </a:xfrm>
          <a:prstGeom prst="rect">
            <a:avLst/>
          </a:prstGeom>
          <a:noFill/>
        </p:spPr>
        <p:txBody>
          <a:bodyPr wrap="none" anchor="ctr">
            <a:spAutoFit/>
          </a:bodyPr>
          <a:lstStyle/>
          <a:p>
            <a:pPr algn="ctr"/>
            <a:r>
              <a:rPr sz="1600">
                <a:solidFill>
                  <a:srgbClr val="8A8E92"/>
                </a:solidFill>
              </a:rPr>
              <a:t>→</a:t>
            </a:r>
          </a:p>
        </p:txBody>
      </p:sp>
      <p:sp>
        <p:nvSpPr>
          <p:cNvPr id="6" name="Rounded Rectangle 5"/>
          <p:cNvSpPr/>
          <p:nvPr/>
        </p:nvSpPr>
        <p:spPr>
          <a:xfrm>
            <a:off x="3463290" y="2103120"/>
            <a:ext cx="2457450" cy="11887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Investigation</a:t>
            </a:r>
          </a:p>
          <a:p>
            <a:pPr algn="ctr"/>
            <a:r>
              <a:rPr sz="950">
                <a:solidFill>
                  <a:srgbClr val="8A8E92"/>
                </a:solidFill>
                <a:latin typeface="Calibri"/>
              </a:rPr>
              <a:t>Logs, events, pod state,
configuration, cluster context</a:t>
            </a:r>
          </a:p>
        </p:txBody>
      </p:sp>
      <p:sp>
        <p:nvSpPr>
          <p:cNvPr id="7" name="TextBox 6"/>
          <p:cNvSpPr txBox="1"/>
          <p:nvPr/>
        </p:nvSpPr>
        <p:spPr>
          <a:xfrm>
            <a:off x="5943600" y="2103120"/>
            <a:ext cx="274320" cy="1188720"/>
          </a:xfrm>
          <a:prstGeom prst="rect">
            <a:avLst/>
          </a:prstGeom>
          <a:noFill/>
        </p:spPr>
        <p:txBody>
          <a:bodyPr wrap="none" anchor="ctr">
            <a:spAutoFit/>
          </a:bodyPr>
          <a:lstStyle/>
          <a:p>
            <a:pPr algn="ctr"/>
            <a:r>
              <a:rPr sz="1600">
                <a:solidFill>
                  <a:srgbClr val="8A8E92"/>
                </a:solidFill>
              </a:rPr>
              <a:t>→</a:t>
            </a:r>
          </a:p>
        </p:txBody>
      </p:sp>
      <p:sp>
        <p:nvSpPr>
          <p:cNvPr id="8" name="Rounded Rectangle 7"/>
          <p:cNvSpPr/>
          <p:nvPr/>
        </p:nvSpPr>
        <p:spPr>
          <a:xfrm>
            <a:off x="6240780" y="2103120"/>
            <a:ext cx="2457450" cy="11887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Engineering judgment</a:t>
            </a:r>
          </a:p>
          <a:p>
            <a:pPr algn="ctr"/>
            <a:r>
              <a:rPr sz="950">
                <a:solidFill>
                  <a:srgbClr val="8A8E92"/>
                </a:solidFill>
                <a:latin typeface="Calibri"/>
              </a:rPr>
              <a:t>Correlate evidence</a:t>
            </a:r>
          </a:p>
        </p:txBody>
      </p:sp>
      <p:sp>
        <p:nvSpPr>
          <p:cNvPr id="9" name="TextBox 8"/>
          <p:cNvSpPr txBox="1"/>
          <p:nvPr/>
        </p:nvSpPr>
        <p:spPr>
          <a:xfrm>
            <a:off x="8721090" y="2103120"/>
            <a:ext cx="274320" cy="1188720"/>
          </a:xfrm>
          <a:prstGeom prst="rect">
            <a:avLst/>
          </a:prstGeom>
          <a:noFill/>
        </p:spPr>
        <p:txBody>
          <a:bodyPr wrap="none" anchor="ctr">
            <a:spAutoFit/>
          </a:bodyPr>
          <a:lstStyle/>
          <a:p>
            <a:pPr algn="ctr"/>
            <a:r>
              <a:rPr sz="1600">
                <a:solidFill>
                  <a:srgbClr val="8A8E92"/>
                </a:solidFill>
              </a:rPr>
              <a:t>→</a:t>
            </a:r>
          </a:p>
        </p:txBody>
      </p:sp>
      <p:sp>
        <p:nvSpPr>
          <p:cNvPr id="10" name="Rounded Rectangle 9"/>
          <p:cNvSpPr/>
          <p:nvPr/>
        </p:nvSpPr>
        <p:spPr>
          <a:xfrm>
            <a:off x="9018270" y="2103120"/>
            <a:ext cx="2457450" cy="118872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6282B"/>
                </a:solidFill>
                <a:latin typeface="Calibri"/>
              </a:rPr>
              <a:t>RCA</a:t>
            </a:r>
          </a:p>
          <a:p>
            <a:pPr algn="ctr"/>
            <a:r>
              <a:rPr sz="950">
                <a:solidFill>
                  <a:srgbClr val="8A8E92"/>
                </a:solidFill>
                <a:latin typeface="Calibri"/>
              </a:rPr>
              <a:t>Determine likely cause</a:t>
            </a:r>
          </a:p>
        </p:txBody>
      </p:sp>
      <p:cxnSp>
        <p:nvCxnSpPr>
          <p:cNvPr id="11" name="Connector 10"/>
          <p:cNvCxnSpPr/>
          <p:nvPr/>
        </p:nvCxnSpPr>
        <p:spPr>
          <a:xfrm>
            <a:off x="685800" y="3794760"/>
            <a:ext cx="10789920" cy="0"/>
          </a:xfrm>
          <a:prstGeom prst="line">
            <a:avLst/>
          </a:prstGeom>
          <a:ln w="12700">
            <a:solidFill>
              <a:srgbClr val="E4E1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4023360"/>
            <a:ext cx="11064240" cy="457200"/>
          </a:xfrm>
          <a:prstGeom prst="rect">
            <a:avLst/>
          </a:prstGeom>
          <a:noFill/>
        </p:spPr>
        <p:txBody>
          <a:bodyPr wrap="square" anchor="t" lIns="0" rIns="0" tIns="0" bIns="0">
            <a:spAutoFit/>
          </a:bodyPr>
          <a:lstStyle/>
          <a:p>
            <a:pPr algn="ctr">
              <a:lnSpc>
                <a:spcPct val="100000"/>
              </a:lnSpc>
            </a:pPr>
            <a:r>
              <a:rPr sz="1800" b="0" i="1">
                <a:solidFill>
                  <a:srgbClr val="8A8E92"/>
                </a:solidFill>
                <a:latin typeface="Georgia"/>
              </a:rPr>
              <a:t>The bottleneck is not alerting.</a:t>
            </a:r>
          </a:p>
        </p:txBody>
      </p:sp>
      <p:sp>
        <p:nvSpPr>
          <p:cNvPr id="13" name="TextBox 12"/>
          <p:cNvSpPr txBox="1"/>
          <p:nvPr/>
        </p:nvSpPr>
        <p:spPr>
          <a:xfrm>
            <a:off x="548640" y="4480560"/>
            <a:ext cx="11064240" cy="502920"/>
          </a:xfrm>
          <a:prstGeom prst="rect">
            <a:avLst/>
          </a:prstGeom>
          <a:noFill/>
        </p:spPr>
        <p:txBody>
          <a:bodyPr wrap="square" anchor="t" lIns="0" rIns="0" tIns="0" bIns="0">
            <a:spAutoFit/>
          </a:bodyPr>
          <a:lstStyle/>
          <a:p>
            <a:pPr algn="ctr">
              <a:lnSpc>
                <a:spcPct val="100000"/>
              </a:lnSpc>
            </a:pPr>
            <a:r>
              <a:rPr sz="2000" b="0" i="1">
                <a:solidFill>
                  <a:srgbClr val="4A7CA8"/>
                </a:solidFill>
                <a:latin typeface="Georgia"/>
              </a:rPr>
              <a:t>The bottleneck is investigation and correlation.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2761488"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WHAT DID WE BUILD?</a:t>
            </a:r>
          </a:p>
        </p:txBody>
      </p:sp>
      <p:sp>
        <p:nvSpPr>
          <p:cNvPr id="3" name="TextBox 2"/>
          <p:cNvSpPr txBox="1"/>
          <p:nvPr/>
        </p:nvSpPr>
        <p:spPr>
          <a:xfrm>
            <a:off x="548640" y="822960"/>
            <a:ext cx="10515600" cy="1005840"/>
          </a:xfrm>
          <a:prstGeom prst="rect">
            <a:avLst/>
          </a:prstGeom>
          <a:noFill/>
        </p:spPr>
        <p:txBody>
          <a:bodyPr wrap="square" anchor="t" lIns="0" rIns="0" tIns="0" bIns="0">
            <a:spAutoFit/>
          </a:bodyPr>
          <a:lstStyle/>
          <a:p>
            <a:pPr algn="l">
              <a:lnSpc>
                <a:spcPct val="105000"/>
              </a:lnSpc>
            </a:pPr>
            <a:r>
              <a:rPr sz="3000" b="0" i="0">
                <a:solidFill>
                  <a:srgbClr val="26282B"/>
                </a:solidFill>
                <a:latin typeface="Georgia"/>
              </a:rPr>
              <a:t>An AI Investigator for Kubernetes Incidents</a:t>
            </a:r>
          </a:p>
        </p:txBody>
      </p:sp>
      <p:sp>
        <p:nvSpPr>
          <p:cNvPr id="4" name="Rounded Rectangle 3"/>
          <p:cNvSpPr/>
          <p:nvPr/>
        </p:nvSpPr>
        <p:spPr>
          <a:xfrm>
            <a:off x="685800" y="1965960"/>
            <a:ext cx="3429000" cy="164592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194560"/>
            <a:ext cx="457200" cy="457200"/>
          </a:xfrm>
          <a:prstGeom prst="roundRect">
            <a:avLst>
              <a:gd name="adj" fmla="val 25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2971800" cy="320040"/>
          </a:xfrm>
          <a:prstGeom prst="rect">
            <a:avLst/>
          </a:prstGeom>
          <a:noFill/>
        </p:spPr>
        <p:txBody>
          <a:bodyPr wrap="square" anchor="t" lIns="0" rIns="0" tIns="0" bIns="0">
            <a:spAutoFit/>
          </a:bodyPr>
          <a:lstStyle/>
          <a:p>
            <a:pPr algn="l">
              <a:lnSpc>
                <a:spcPct val="100000"/>
              </a:lnSpc>
            </a:pPr>
            <a:r>
              <a:rPr sz="1600" b="1" i="0">
                <a:solidFill>
                  <a:srgbClr val="26282B"/>
                </a:solidFill>
                <a:latin typeface="Calibri"/>
              </a:rPr>
              <a:t>Investigate</a:t>
            </a:r>
          </a:p>
        </p:txBody>
      </p:sp>
      <p:sp>
        <p:nvSpPr>
          <p:cNvPr id="7" name="TextBox 6"/>
          <p:cNvSpPr txBox="1"/>
          <p:nvPr/>
        </p:nvSpPr>
        <p:spPr>
          <a:xfrm>
            <a:off x="914400" y="3154680"/>
            <a:ext cx="2971800" cy="457200"/>
          </a:xfrm>
          <a:prstGeom prst="rect">
            <a:avLst/>
          </a:prstGeom>
          <a:noFill/>
        </p:spPr>
        <p:txBody>
          <a:bodyPr wrap="square" anchor="t" lIns="0" rIns="0" tIns="0" bIns="0">
            <a:spAutoFit/>
          </a:bodyPr>
          <a:lstStyle/>
          <a:p>
            <a:pPr algn="l">
              <a:lnSpc>
                <a:spcPct val="115000"/>
              </a:lnSpc>
            </a:pPr>
            <a:r>
              <a:rPr sz="1150" b="0" i="0">
                <a:solidFill>
                  <a:srgbClr val="565A5E"/>
                </a:solidFill>
                <a:latin typeface="Calibri"/>
              </a:rPr>
              <a:t>Collect real operational evidence directly from the environment.</a:t>
            </a:r>
          </a:p>
        </p:txBody>
      </p:sp>
      <p:sp>
        <p:nvSpPr>
          <p:cNvPr id="8" name="Rounded Rectangle 7"/>
          <p:cNvSpPr/>
          <p:nvPr/>
        </p:nvSpPr>
        <p:spPr>
          <a:xfrm>
            <a:off x="4389120" y="1965960"/>
            <a:ext cx="3429000" cy="164592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17720" y="2194560"/>
            <a:ext cx="457200" cy="457200"/>
          </a:xfrm>
          <a:prstGeom prst="roundRect">
            <a:avLst>
              <a:gd name="adj" fmla="val 25000"/>
            </a:avLst>
          </a:prstGeom>
          <a:solidFill>
            <a:srgbClr val="E7F3EF"/>
          </a:solidFill>
          <a:ln w="9525">
            <a:solidFill>
              <a:srgbClr val="C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834640"/>
            <a:ext cx="2971800" cy="320040"/>
          </a:xfrm>
          <a:prstGeom prst="rect">
            <a:avLst/>
          </a:prstGeom>
          <a:noFill/>
        </p:spPr>
        <p:txBody>
          <a:bodyPr wrap="square" anchor="t" lIns="0" rIns="0" tIns="0" bIns="0">
            <a:spAutoFit/>
          </a:bodyPr>
          <a:lstStyle/>
          <a:p>
            <a:pPr algn="l">
              <a:lnSpc>
                <a:spcPct val="100000"/>
              </a:lnSpc>
            </a:pPr>
            <a:r>
              <a:rPr sz="1600" b="1" i="0">
                <a:solidFill>
                  <a:srgbClr val="26282B"/>
                </a:solidFill>
                <a:latin typeface="Calibri"/>
              </a:rPr>
              <a:t>Reason</a:t>
            </a:r>
          </a:p>
        </p:txBody>
      </p:sp>
      <p:sp>
        <p:nvSpPr>
          <p:cNvPr id="11" name="TextBox 10"/>
          <p:cNvSpPr txBox="1"/>
          <p:nvPr/>
        </p:nvSpPr>
        <p:spPr>
          <a:xfrm>
            <a:off x="4617720" y="3154680"/>
            <a:ext cx="2971800" cy="457200"/>
          </a:xfrm>
          <a:prstGeom prst="rect">
            <a:avLst/>
          </a:prstGeom>
          <a:noFill/>
        </p:spPr>
        <p:txBody>
          <a:bodyPr wrap="square" anchor="t" lIns="0" rIns="0" tIns="0" bIns="0">
            <a:spAutoFit/>
          </a:bodyPr>
          <a:lstStyle/>
          <a:p>
            <a:pPr algn="l">
              <a:lnSpc>
                <a:spcPct val="115000"/>
              </a:lnSpc>
            </a:pPr>
            <a:r>
              <a:rPr sz="1150" b="0" i="0">
                <a:solidFill>
                  <a:srgbClr val="565A5E"/>
                </a:solidFill>
                <a:latin typeface="Calibri"/>
              </a:rPr>
              <a:t>Correlate signals and weigh competing hypotheses.</a:t>
            </a:r>
          </a:p>
        </p:txBody>
      </p:sp>
      <p:sp>
        <p:nvSpPr>
          <p:cNvPr id="12" name="Rounded Rectangle 11"/>
          <p:cNvSpPr/>
          <p:nvPr/>
        </p:nvSpPr>
        <p:spPr>
          <a:xfrm>
            <a:off x="8092440" y="1965960"/>
            <a:ext cx="3429000" cy="164592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21040" y="2194560"/>
            <a:ext cx="457200" cy="457200"/>
          </a:xfrm>
          <a:prstGeom prst="roundRect">
            <a:avLst>
              <a:gd name="adj" fmla="val 25000"/>
            </a:avLst>
          </a:prstGeom>
          <a:solidFill>
            <a:srgbClr val="F7EFDF"/>
          </a:solidFill>
          <a:ln w="9525">
            <a:solidFill>
              <a:srgbClr val="E6D2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834640"/>
            <a:ext cx="2971800" cy="320040"/>
          </a:xfrm>
          <a:prstGeom prst="rect">
            <a:avLst/>
          </a:prstGeom>
          <a:noFill/>
        </p:spPr>
        <p:txBody>
          <a:bodyPr wrap="square" anchor="t" lIns="0" rIns="0" tIns="0" bIns="0">
            <a:spAutoFit/>
          </a:bodyPr>
          <a:lstStyle/>
          <a:p>
            <a:pPr algn="l">
              <a:lnSpc>
                <a:spcPct val="100000"/>
              </a:lnSpc>
            </a:pPr>
            <a:r>
              <a:rPr sz="1600" b="1" i="0">
                <a:solidFill>
                  <a:srgbClr val="26282B"/>
                </a:solidFill>
                <a:latin typeface="Calibri"/>
              </a:rPr>
              <a:t>Explain</a:t>
            </a:r>
          </a:p>
        </p:txBody>
      </p:sp>
      <p:sp>
        <p:nvSpPr>
          <p:cNvPr id="15" name="TextBox 14"/>
          <p:cNvSpPr txBox="1"/>
          <p:nvPr/>
        </p:nvSpPr>
        <p:spPr>
          <a:xfrm>
            <a:off x="8321040" y="3154680"/>
            <a:ext cx="2971800" cy="457200"/>
          </a:xfrm>
          <a:prstGeom prst="rect">
            <a:avLst/>
          </a:prstGeom>
          <a:noFill/>
        </p:spPr>
        <p:txBody>
          <a:bodyPr wrap="square" anchor="t" lIns="0" rIns="0" tIns="0" bIns="0">
            <a:spAutoFit/>
          </a:bodyPr>
          <a:lstStyle/>
          <a:p>
            <a:pPr algn="l">
              <a:lnSpc>
                <a:spcPct val="115000"/>
              </a:lnSpc>
            </a:pPr>
            <a:r>
              <a:rPr sz="1150" b="0" i="0">
                <a:solidFill>
                  <a:srgbClr val="565A5E"/>
                </a:solidFill>
                <a:latin typeface="Calibri"/>
              </a:rPr>
              <a:t>Produce an evidence-backed RCA, not just an answer.</a:t>
            </a:r>
          </a:p>
        </p:txBody>
      </p:sp>
      <p:sp>
        <p:nvSpPr>
          <p:cNvPr id="16" name="Rounded Rectangle 15"/>
          <p:cNvSpPr/>
          <p:nvPr/>
        </p:nvSpPr>
        <p:spPr>
          <a:xfrm>
            <a:off x="685800" y="3931920"/>
            <a:ext cx="2560320"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Read-only by default</a:t>
            </a:r>
          </a:p>
        </p:txBody>
      </p:sp>
      <p:sp>
        <p:nvSpPr>
          <p:cNvPr id="17" name="Rounded Rectangle 16"/>
          <p:cNvSpPr/>
          <p:nvPr/>
        </p:nvSpPr>
        <p:spPr>
          <a:xfrm>
            <a:off x="3474720" y="3931920"/>
            <a:ext cx="3264408"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Evidence before conclusions</a:t>
            </a:r>
          </a:p>
        </p:txBody>
      </p:sp>
      <p:sp>
        <p:nvSpPr>
          <p:cNvPr id="18" name="Rounded Rectangle 17"/>
          <p:cNvSpPr/>
          <p:nvPr/>
        </p:nvSpPr>
        <p:spPr>
          <a:xfrm>
            <a:off x="6967728" y="3931920"/>
            <a:ext cx="3364992"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Human-controlled remediation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4425696"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HOW DOES THIS TECHNICALLY WORK?</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000" b="0" i="0">
                <a:solidFill>
                  <a:srgbClr val="26282B"/>
                </a:solidFill>
                <a:latin typeface="Georgia"/>
              </a:rPr>
              <a:t>How the Agent Works</a:t>
            </a:r>
          </a:p>
        </p:txBody>
      </p:sp>
      <p:sp>
        <p:nvSpPr>
          <p:cNvPr id="4" name="TextBox 3"/>
          <p:cNvSpPr txBox="1"/>
          <p:nvPr/>
        </p:nvSpPr>
        <p:spPr>
          <a:xfrm>
            <a:off x="685800"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TRIGGER</a:t>
            </a:r>
          </a:p>
        </p:txBody>
      </p:sp>
      <p:sp>
        <p:nvSpPr>
          <p:cNvPr id="5" name="Rounded Rectangle 4"/>
          <p:cNvSpPr/>
          <p:nvPr/>
        </p:nvSpPr>
        <p:spPr>
          <a:xfrm>
            <a:off x="685800" y="2148840"/>
            <a:ext cx="1630680" cy="123444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01</a:t>
            </a:r>
          </a:p>
          <a:p>
            <a:pPr algn="ctr"/>
            <a:r>
              <a:rPr sz="1250" b="1">
                <a:solidFill>
                  <a:srgbClr val="26282B"/>
                </a:solidFill>
                <a:latin typeface="Calibri"/>
              </a:rPr>
              <a:t>Incident</a:t>
            </a:r>
          </a:p>
          <a:p>
            <a:pPr algn="ctr"/>
            <a:r>
              <a:rPr sz="850">
                <a:solidFill>
                  <a:srgbClr val="8A8E92"/>
                </a:solidFill>
                <a:latin typeface="Calibri"/>
              </a:rPr>
              <a:t>PagerDuty, Engineer, API</a:t>
            </a:r>
          </a:p>
        </p:txBody>
      </p:sp>
      <p:sp>
        <p:nvSpPr>
          <p:cNvPr id="6" name="TextBox 5"/>
          <p:cNvSpPr txBox="1"/>
          <p:nvPr/>
        </p:nvSpPr>
        <p:spPr>
          <a:xfrm>
            <a:off x="2316480" y="2148840"/>
            <a:ext cx="201168" cy="1234440"/>
          </a:xfrm>
          <a:prstGeom prst="rect">
            <a:avLst/>
          </a:prstGeom>
          <a:noFill/>
        </p:spPr>
        <p:txBody>
          <a:bodyPr wrap="none" anchor="ctr">
            <a:spAutoFit/>
          </a:bodyPr>
          <a:lstStyle/>
          <a:p>
            <a:pPr algn="ctr"/>
            <a:r>
              <a:rPr sz="1300">
                <a:solidFill>
                  <a:srgbClr val="8A8E92"/>
                </a:solidFill>
              </a:rPr>
              <a:t>→</a:t>
            </a:r>
          </a:p>
        </p:txBody>
      </p:sp>
      <p:sp>
        <p:nvSpPr>
          <p:cNvPr id="7" name="TextBox 6"/>
          <p:cNvSpPr txBox="1"/>
          <p:nvPr/>
        </p:nvSpPr>
        <p:spPr>
          <a:xfrm>
            <a:off x="2517648"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INTELLIGENCE</a:t>
            </a:r>
          </a:p>
        </p:txBody>
      </p:sp>
      <p:sp>
        <p:nvSpPr>
          <p:cNvPr id="8" name="Rounded Rectangle 7"/>
          <p:cNvSpPr/>
          <p:nvPr/>
        </p:nvSpPr>
        <p:spPr>
          <a:xfrm>
            <a:off x="2517648" y="2148840"/>
            <a:ext cx="1630680" cy="1234440"/>
          </a:xfrm>
          <a:prstGeom prst="roundRect">
            <a:avLst>
              <a:gd name="adj" fmla="val 12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02</a:t>
            </a:r>
          </a:p>
          <a:p>
            <a:pPr algn="ctr"/>
            <a:r>
              <a:rPr sz="1250" b="1">
                <a:solidFill>
                  <a:srgbClr val="26282B"/>
                </a:solidFill>
                <a:latin typeface="Calibri"/>
              </a:rPr>
              <a:t>SRE Agent</a:t>
            </a:r>
          </a:p>
          <a:p>
            <a:pPr algn="ctr"/>
            <a:r>
              <a:rPr sz="850">
                <a:solidFill>
                  <a:srgbClr val="8A8E92"/>
                </a:solidFill>
                <a:latin typeface="Calibri"/>
              </a:rPr>
              <a:t>Vertex AI Agent Engine
Investigation workflow</a:t>
            </a:r>
          </a:p>
        </p:txBody>
      </p:sp>
      <p:sp>
        <p:nvSpPr>
          <p:cNvPr id="9" name="TextBox 8"/>
          <p:cNvSpPr txBox="1"/>
          <p:nvPr/>
        </p:nvSpPr>
        <p:spPr>
          <a:xfrm>
            <a:off x="4148328" y="2148840"/>
            <a:ext cx="201168" cy="1234440"/>
          </a:xfrm>
          <a:prstGeom prst="rect">
            <a:avLst/>
          </a:prstGeom>
          <a:noFill/>
        </p:spPr>
        <p:txBody>
          <a:bodyPr wrap="none" anchor="ctr">
            <a:spAutoFit/>
          </a:bodyPr>
          <a:lstStyle/>
          <a:p>
            <a:pPr algn="ctr"/>
            <a:r>
              <a:rPr sz="1300">
                <a:solidFill>
                  <a:srgbClr val="8A8E92"/>
                </a:solidFill>
              </a:rPr>
              <a:t>→</a:t>
            </a:r>
          </a:p>
        </p:txBody>
      </p:sp>
      <p:sp>
        <p:nvSpPr>
          <p:cNvPr id="10" name="TextBox 9"/>
          <p:cNvSpPr txBox="1"/>
          <p:nvPr/>
        </p:nvSpPr>
        <p:spPr>
          <a:xfrm>
            <a:off x="4349496"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ACCESS</a:t>
            </a:r>
          </a:p>
        </p:txBody>
      </p:sp>
      <p:sp>
        <p:nvSpPr>
          <p:cNvPr id="11" name="Rounded Rectangle 10"/>
          <p:cNvSpPr/>
          <p:nvPr/>
        </p:nvSpPr>
        <p:spPr>
          <a:xfrm>
            <a:off x="4349496" y="2148840"/>
            <a:ext cx="1630680" cy="123444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03</a:t>
            </a:r>
          </a:p>
          <a:p>
            <a:pPr algn="ctr"/>
            <a:r>
              <a:rPr sz="1250" b="1">
                <a:solidFill>
                  <a:srgbClr val="26282B"/>
                </a:solidFill>
                <a:latin typeface="Calibri"/>
              </a:rPr>
              <a:t>Tool Access</a:t>
            </a:r>
          </a:p>
          <a:p>
            <a:pPr algn="ctr"/>
            <a:r>
              <a:rPr sz="850">
                <a:solidFill>
                  <a:srgbClr val="8A8E92"/>
                </a:solidFill>
                <a:latin typeface="Calibri"/>
              </a:rPr>
              <a:t>Agent Gateway
MCP integrations</a:t>
            </a:r>
          </a:p>
        </p:txBody>
      </p:sp>
      <p:sp>
        <p:nvSpPr>
          <p:cNvPr id="12" name="TextBox 11"/>
          <p:cNvSpPr txBox="1"/>
          <p:nvPr/>
        </p:nvSpPr>
        <p:spPr>
          <a:xfrm>
            <a:off x="5980176" y="2148840"/>
            <a:ext cx="201168" cy="1234440"/>
          </a:xfrm>
          <a:prstGeom prst="rect">
            <a:avLst/>
          </a:prstGeom>
          <a:noFill/>
        </p:spPr>
        <p:txBody>
          <a:bodyPr wrap="none" anchor="ctr">
            <a:spAutoFit/>
          </a:bodyPr>
          <a:lstStyle/>
          <a:p>
            <a:pPr algn="ctr"/>
            <a:r>
              <a:rPr sz="1300">
                <a:solidFill>
                  <a:srgbClr val="8A8E92"/>
                </a:solidFill>
              </a:rPr>
              <a:t>→</a:t>
            </a:r>
          </a:p>
        </p:txBody>
      </p:sp>
      <p:sp>
        <p:nvSpPr>
          <p:cNvPr id="13" name="TextBox 12"/>
          <p:cNvSpPr txBox="1"/>
          <p:nvPr/>
        </p:nvSpPr>
        <p:spPr>
          <a:xfrm>
            <a:off x="6181344"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INFRASTRUCTURE</a:t>
            </a:r>
          </a:p>
        </p:txBody>
      </p:sp>
      <p:sp>
        <p:nvSpPr>
          <p:cNvPr id="14" name="Rounded Rectangle 13"/>
          <p:cNvSpPr/>
          <p:nvPr/>
        </p:nvSpPr>
        <p:spPr>
          <a:xfrm>
            <a:off x="6181344" y="2148840"/>
            <a:ext cx="1630680" cy="123444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04</a:t>
            </a:r>
          </a:p>
          <a:p>
            <a:pPr algn="ctr"/>
            <a:r>
              <a:rPr sz="1250" b="1">
                <a:solidFill>
                  <a:srgbClr val="26282B"/>
                </a:solidFill>
                <a:latin typeface="Calibri"/>
              </a:rPr>
              <a:t>Environment</a:t>
            </a:r>
          </a:p>
          <a:p>
            <a:pPr algn="ctr"/>
            <a:r>
              <a:rPr sz="850">
                <a:solidFill>
                  <a:srgbClr val="8A8E92"/>
                </a:solidFill>
                <a:latin typeface="Calibri"/>
              </a:rPr>
              <a:t>GKE / Kubernetes
Future non-GKE targets</a:t>
            </a:r>
          </a:p>
        </p:txBody>
      </p:sp>
      <p:sp>
        <p:nvSpPr>
          <p:cNvPr id="15" name="TextBox 14"/>
          <p:cNvSpPr txBox="1"/>
          <p:nvPr/>
        </p:nvSpPr>
        <p:spPr>
          <a:xfrm>
            <a:off x="7812024" y="2148840"/>
            <a:ext cx="201168" cy="1234440"/>
          </a:xfrm>
          <a:prstGeom prst="rect">
            <a:avLst/>
          </a:prstGeom>
          <a:noFill/>
        </p:spPr>
        <p:txBody>
          <a:bodyPr wrap="none" anchor="ctr">
            <a:spAutoFit/>
          </a:bodyPr>
          <a:lstStyle/>
          <a:p>
            <a:pPr algn="ctr"/>
            <a:r>
              <a:rPr sz="1300">
                <a:solidFill>
                  <a:srgbClr val="8A8E92"/>
                </a:solidFill>
              </a:rPr>
              <a:t>→</a:t>
            </a:r>
          </a:p>
        </p:txBody>
      </p:sp>
      <p:sp>
        <p:nvSpPr>
          <p:cNvPr id="16" name="TextBox 15"/>
          <p:cNvSpPr txBox="1"/>
          <p:nvPr/>
        </p:nvSpPr>
        <p:spPr>
          <a:xfrm>
            <a:off x="8013192"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EVIDENCE</a:t>
            </a:r>
          </a:p>
        </p:txBody>
      </p:sp>
      <p:sp>
        <p:nvSpPr>
          <p:cNvPr id="17" name="Rounded Rectangle 16"/>
          <p:cNvSpPr/>
          <p:nvPr/>
        </p:nvSpPr>
        <p:spPr>
          <a:xfrm>
            <a:off x="8013192" y="2148840"/>
            <a:ext cx="1630680" cy="1234440"/>
          </a:xfrm>
          <a:prstGeom prst="roundRect">
            <a:avLst>
              <a:gd name="adj" fmla="val 12000"/>
            </a:avLst>
          </a:prstGeom>
          <a:solidFill>
            <a:srgbClr val="E7F3EF"/>
          </a:solidFill>
          <a:ln w="9525">
            <a:solidFill>
              <a:srgbClr val="C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05</a:t>
            </a:r>
          </a:p>
          <a:p>
            <a:pPr algn="ctr"/>
            <a:r>
              <a:rPr sz="1250" b="1">
                <a:solidFill>
                  <a:srgbClr val="26282B"/>
                </a:solidFill>
                <a:latin typeface="Calibri"/>
              </a:rPr>
              <a:t>Evidence</a:t>
            </a:r>
          </a:p>
          <a:p>
            <a:pPr algn="ctr"/>
            <a:r>
              <a:rPr sz="850">
                <a:solidFill>
                  <a:srgbClr val="8A8E92"/>
                </a:solidFill>
                <a:latin typeface="Calibri"/>
              </a:rPr>
              <a:t>Logs, events
Pod status, config</a:t>
            </a:r>
          </a:p>
        </p:txBody>
      </p:sp>
      <p:sp>
        <p:nvSpPr>
          <p:cNvPr id="18" name="TextBox 17"/>
          <p:cNvSpPr txBox="1"/>
          <p:nvPr/>
        </p:nvSpPr>
        <p:spPr>
          <a:xfrm>
            <a:off x="9643872" y="2148840"/>
            <a:ext cx="201168" cy="1234440"/>
          </a:xfrm>
          <a:prstGeom prst="rect">
            <a:avLst/>
          </a:prstGeom>
          <a:noFill/>
        </p:spPr>
        <p:txBody>
          <a:bodyPr wrap="none" anchor="ctr">
            <a:spAutoFit/>
          </a:bodyPr>
          <a:lstStyle/>
          <a:p>
            <a:pPr algn="ctr"/>
            <a:r>
              <a:rPr sz="1300">
                <a:solidFill>
                  <a:srgbClr val="8A8E92"/>
                </a:solidFill>
              </a:rPr>
              <a:t>→</a:t>
            </a:r>
          </a:p>
        </p:txBody>
      </p:sp>
      <p:sp>
        <p:nvSpPr>
          <p:cNvPr id="19" name="TextBox 18"/>
          <p:cNvSpPr txBox="1"/>
          <p:nvPr/>
        </p:nvSpPr>
        <p:spPr>
          <a:xfrm>
            <a:off x="9845040" y="1828800"/>
            <a:ext cx="1630680" cy="274320"/>
          </a:xfrm>
          <a:prstGeom prst="rect">
            <a:avLst/>
          </a:prstGeom>
          <a:noFill/>
        </p:spPr>
        <p:txBody>
          <a:bodyPr wrap="square" anchor="t" lIns="0" rIns="0" tIns="0" bIns="0">
            <a:spAutoFit/>
          </a:bodyPr>
          <a:lstStyle/>
          <a:p>
            <a:pPr algn="ctr">
              <a:lnSpc>
                <a:spcPct val="100000"/>
              </a:lnSpc>
            </a:pPr>
            <a:r>
              <a:rPr sz="850" b="1" i="0">
                <a:solidFill>
                  <a:srgbClr val="8A8E92"/>
                </a:solidFill>
                <a:latin typeface="Calibri"/>
              </a:rPr>
              <a:t>DECISION SUPPORT</a:t>
            </a:r>
          </a:p>
        </p:txBody>
      </p:sp>
      <p:sp>
        <p:nvSpPr>
          <p:cNvPr id="20" name="Rounded Rectangle 19"/>
          <p:cNvSpPr/>
          <p:nvPr/>
        </p:nvSpPr>
        <p:spPr>
          <a:xfrm>
            <a:off x="9845040" y="2148840"/>
            <a:ext cx="1630680" cy="1234440"/>
          </a:xfrm>
          <a:prstGeom prst="roundRect">
            <a:avLst>
              <a:gd name="adj" fmla="val 12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850" b="1">
                <a:solidFill>
                  <a:srgbClr val="8A8E92"/>
                </a:solidFill>
                <a:latin typeface="Calibri"/>
              </a:rPr>
              <a:t>06</a:t>
            </a:r>
          </a:p>
          <a:p>
            <a:pPr algn="ctr"/>
            <a:r>
              <a:rPr sz="1250" b="1">
                <a:solidFill>
                  <a:srgbClr val="26282B"/>
                </a:solidFill>
                <a:latin typeface="Calibri"/>
              </a:rPr>
              <a:t>Outcome</a:t>
            </a:r>
          </a:p>
          <a:p>
            <a:pPr algn="ctr"/>
            <a:r>
              <a:rPr sz="850">
                <a:solidFill>
                  <a:srgbClr val="8A8E92"/>
                </a:solidFill>
                <a:latin typeface="Calibri"/>
              </a:rPr>
              <a:t>Evidence-backed RCA
Confidence, human review</a:t>
            </a:r>
          </a:p>
        </p:txBody>
      </p:sp>
      <p:sp>
        <p:nvSpPr>
          <p:cNvPr id="21" name="Rounded Rectangle 20"/>
          <p:cNvSpPr/>
          <p:nvPr/>
        </p:nvSpPr>
        <p:spPr>
          <a:xfrm>
            <a:off x="685800" y="3977639"/>
            <a:ext cx="2862072"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Multi-cluster by design</a:t>
            </a:r>
          </a:p>
        </p:txBody>
      </p:sp>
      <p:sp>
        <p:nvSpPr>
          <p:cNvPr id="22" name="Rounded Rectangle 21"/>
          <p:cNvSpPr/>
          <p:nvPr/>
        </p:nvSpPr>
        <p:spPr>
          <a:xfrm>
            <a:off x="3776472" y="3977639"/>
            <a:ext cx="2862072"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Read-only investigation</a:t>
            </a:r>
          </a:p>
        </p:txBody>
      </p:sp>
      <p:sp>
        <p:nvSpPr>
          <p:cNvPr id="23" name="Rounded Rectangle 22"/>
          <p:cNvSpPr/>
          <p:nvPr/>
        </p:nvSpPr>
        <p:spPr>
          <a:xfrm>
            <a:off x="6867144" y="3977639"/>
            <a:ext cx="2862072" cy="411480"/>
          </a:xfrm>
          <a:prstGeom prst="roundRect">
            <a:avLst>
              <a:gd name="adj" fmla="val 30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26282B"/>
                </a:solidFill>
                <a:latin typeface="Calibri"/>
              </a:rPr>
              <a:t>Extensible data 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3785616"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WHAT ACTUALLY WORKS TODAY?</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000" b="0" i="0">
                <a:solidFill>
                  <a:srgbClr val="26282B"/>
                </a:solidFill>
                <a:latin typeface="Georgia"/>
              </a:rPr>
              <a:t>Current State</a:t>
            </a:r>
          </a:p>
        </p:txBody>
      </p:sp>
      <p:sp>
        <p:nvSpPr>
          <p:cNvPr id="4" name="Rounded Rectangle 3"/>
          <p:cNvSpPr/>
          <p:nvPr/>
        </p:nvSpPr>
        <p:spPr>
          <a:xfrm>
            <a:off x="685800" y="1828800"/>
            <a:ext cx="5257800" cy="4297680"/>
          </a:xfrm>
          <a:prstGeom prst="roundRect">
            <a:avLst>
              <a:gd name="adj" fmla="val 6000"/>
            </a:avLst>
          </a:prstGeom>
          <a:solidFill>
            <a:srgbClr val="E7F3EF"/>
          </a:solidFill>
          <a:ln w="9525">
            <a:solidFill>
              <a:srgbClr val="C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2200" y="1828800"/>
            <a:ext cx="5257800" cy="4297680"/>
          </a:xfrm>
          <a:prstGeom prst="roundRect">
            <a:avLst>
              <a:gd name="adj" fmla="val 6000"/>
            </a:avLst>
          </a:prstGeom>
          <a:solidFill>
            <a:srgbClr val="F1F0EC"/>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57400"/>
            <a:ext cx="4709160" cy="320040"/>
          </a:xfrm>
          <a:prstGeom prst="rect">
            <a:avLst/>
          </a:prstGeom>
          <a:noFill/>
        </p:spPr>
        <p:txBody>
          <a:bodyPr wrap="square" anchor="t" lIns="0" rIns="0" tIns="0" bIns="0">
            <a:spAutoFit/>
          </a:bodyPr>
          <a:lstStyle/>
          <a:p>
            <a:pPr algn="l">
              <a:lnSpc>
                <a:spcPct val="100000"/>
              </a:lnSpc>
            </a:pPr>
            <a:r>
              <a:rPr sz="1300" b="1" i="0">
                <a:solidFill>
                  <a:srgbClr val="3E8F7C"/>
                </a:solidFill>
                <a:latin typeface="Calibri"/>
              </a:rPr>
              <a:t>VALIDATED TODAY</a:t>
            </a:r>
          </a:p>
        </p:txBody>
      </p:sp>
      <p:sp>
        <p:nvSpPr>
          <p:cNvPr id="7" name="Oval 6"/>
          <p:cNvSpPr/>
          <p:nvPr/>
        </p:nvSpPr>
        <p:spPr>
          <a:xfrm>
            <a:off x="960120" y="250545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2468880"/>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Real Kubernetes investigations, live-verified</a:t>
            </a:r>
          </a:p>
        </p:txBody>
      </p:sp>
      <p:sp>
        <p:nvSpPr>
          <p:cNvPr id="9" name="Oval 8"/>
          <p:cNvSpPr/>
          <p:nvPr/>
        </p:nvSpPr>
        <p:spPr>
          <a:xfrm>
            <a:off x="960120" y="2834640"/>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9576" y="2798064"/>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GKE evidence collection (logs, events, pod state)</a:t>
            </a:r>
          </a:p>
        </p:txBody>
      </p:sp>
      <p:sp>
        <p:nvSpPr>
          <p:cNvPr id="11" name="Oval 10"/>
          <p:cNvSpPr/>
          <p:nvPr/>
        </p:nvSpPr>
        <p:spPr>
          <a:xfrm>
            <a:off x="960120" y="3163824"/>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9576" y="3127248"/>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Multi-cluster routing and support</a:t>
            </a:r>
          </a:p>
        </p:txBody>
      </p:sp>
      <p:sp>
        <p:nvSpPr>
          <p:cNvPr id="13" name="Oval 12"/>
          <p:cNvSpPr/>
          <p:nvPr/>
        </p:nvSpPr>
        <p:spPr>
          <a:xfrm>
            <a:off x="960120" y="3493008"/>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3456432"/>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MCP tool execution against live infrastructure</a:t>
            </a:r>
          </a:p>
        </p:txBody>
      </p:sp>
      <p:sp>
        <p:nvSpPr>
          <p:cNvPr id="15" name="Oval 14"/>
          <p:cNvSpPr/>
          <p:nvPr/>
        </p:nvSpPr>
        <p:spPr>
          <a:xfrm>
            <a:off x="960120" y="3822192"/>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9576" y="3785616"/>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Evidence-backed RCA with confidence scoring</a:t>
            </a:r>
          </a:p>
        </p:txBody>
      </p:sp>
      <p:sp>
        <p:nvSpPr>
          <p:cNvPr id="17" name="Oval 16"/>
          <p:cNvSpPr/>
          <p:nvPr/>
        </p:nvSpPr>
        <p:spPr>
          <a:xfrm>
            <a:off x="960120" y="415137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9576" y="4114800"/>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Read-only investigation model</a:t>
            </a:r>
          </a:p>
        </p:txBody>
      </p:sp>
      <p:sp>
        <p:nvSpPr>
          <p:cNvPr id="19" name="Oval 18"/>
          <p:cNvSpPr/>
          <p:nvPr/>
        </p:nvSpPr>
        <p:spPr>
          <a:xfrm>
            <a:off x="960120" y="4480560"/>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9576" y="4443984"/>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Human-controlled remediation</a:t>
            </a:r>
          </a:p>
        </p:txBody>
      </p:sp>
      <p:sp>
        <p:nvSpPr>
          <p:cNvPr id="21" name="TextBox 20"/>
          <p:cNvSpPr txBox="1"/>
          <p:nvPr/>
        </p:nvSpPr>
        <p:spPr>
          <a:xfrm>
            <a:off x="6446520" y="2057400"/>
            <a:ext cx="4709160" cy="320040"/>
          </a:xfrm>
          <a:prstGeom prst="rect">
            <a:avLst/>
          </a:prstGeom>
          <a:noFill/>
        </p:spPr>
        <p:txBody>
          <a:bodyPr wrap="square" anchor="t" lIns="0" rIns="0" tIns="0" bIns="0">
            <a:spAutoFit/>
          </a:bodyPr>
          <a:lstStyle/>
          <a:p>
            <a:pPr algn="l">
              <a:lnSpc>
                <a:spcPct val="100000"/>
              </a:lnSpc>
            </a:pPr>
            <a:r>
              <a:rPr sz="1300" b="1" i="0">
                <a:solidFill>
                  <a:srgbClr val="565A5E"/>
                </a:solidFill>
                <a:latin typeface="Calibri"/>
              </a:rPr>
              <a:t>IN PROGRESS / NEXT</a:t>
            </a:r>
          </a:p>
        </p:txBody>
      </p:sp>
      <p:sp>
        <p:nvSpPr>
          <p:cNvPr id="22" name="Oval 21"/>
          <p:cNvSpPr/>
          <p:nvPr/>
        </p:nvSpPr>
        <p:spPr>
          <a:xfrm>
            <a:off x="6446520" y="2505456"/>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5976" y="2468880"/>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PagerDuty-triggered investigations</a:t>
            </a:r>
          </a:p>
        </p:txBody>
      </p:sp>
      <p:sp>
        <p:nvSpPr>
          <p:cNvPr id="24" name="Oval 23"/>
          <p:cNvSpPr/>
          <p:nvPr/>
        </p:nvSpPr>
        <p:spPr>
          <a:xfrm>
            <a:off x="6446520" y="2834640"/>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5976" y="2798064"/>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Non-GKE cluster support</a:t>
            </a:r>
          </a:p>
        </p:txBody>
      </p:sp>
      <p:sp>
        <p:nvSpPr>
          <p:cNvPr id="26" name="Oval 25"/>
          <p:cNvSpPr/>
          <p:nvPr/>
        </p:nvSpPr>
        <p:spPr>
          <a:xfrm>
            <a:off x="6446520" y="3163824"/>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65976" y="3127248"/>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Confidence calibration &amp; improvements</a:t>
            </a:r>
          </a:p>
        </p:txBody>
      </p:sp>
      <p:sp>
        <p:nvSpPr>
          <p:cNvPr id="28" name="Oval 27"/>
          <p:cNvSpPr/>
          <p:nvPr/>
        </p:nvSpPr>
        <p:spPr>
          <a:xfrm>
            <a:off x="6446520" y="3493008"/>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65976" y="3456432"/>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Expanded evaluation coverage</a:t>
            </a:r>
          </a:p>
        </p:txBody>
      </p:sp>
      <p:sp>
        <p:nvSpPr>
          <p:cNvPr id="30" name="Oval 29"/>
          <p:cNvSpPr/>
          <p:nvPr/>
        </p:nvSpPr>
        <p:spPr>
          <a:xfrm>
            <a:off x="6446520" y="3822192"/>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5976" y="3785616"/>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Production monitoring &amp; dashboards</a:t>
            </a:r>
          </a:p>
        </p:txBody>
      </p:sp>
      <p:sp>
        <p:nvSpPr>
          <p:cNvPr id="32" name="Oval 31"/>
          <p:cNvSpPr/>
          <p:nvPr/>
        </p:nvSpPr>
        <p:spPr>
          <a:xfrm>
            <a:off x="6446520" y="4151376"/>
            <a:ext cx="109728" cy="109728"/>
          </a:xfrm>
          <a:prstGeom prst="ellipse">
            <a:avLst/>
          </a:prstGeom>
          <a:solidFill>
            <a:srgbClr val="8A8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65976" y="4114800"/>
            <a:ext cx="4489704" cy="292608"/>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Additional incident scenario coverage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2633472"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CAN YOU PROVE IT?</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000" b="0" i="0">
                <a:solidFill>
                  <a:srgbClr val="26282B"/>
                </a:solidFill>
                <a:latin typeface="Georgia"/>
              </a:rPr>
              <a:t>Live Demonstration</a:t>
            </a:r>
          </a:p>
        </p:txBody>
      </p:sp>
      <p:sp>
        <p:nvSpPr>
          <p:cNvPr id="4" name="Oval 3"/>
          <p:cNvSpPr/>
          <p:nvPr/>
        </p:nvSpPr>
        <p:spPr>
          <a:xfrm>
            <a:off x="1615287" y="2103120"/>
            <a:ext cx="731520" cy="731520"/>
          </a:xfrm>
          <a:prstGeom prst="ellipse">
            <a:avLst/>
          </a:prstGeom>
          <a:solidFill>
            <a:srgbClr val="FFFFFF"/>
          </a:solidFill>
          <a:ln w="19050">
            <a:solidFill>
              <a:srgbClr val="4A7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a:solidFill>
                  <a:srgbClr val="4A7CA8"/>
                </a:solidFill>
                <a:latin typeface="Georgia"/>
              </a:rPr>
              <a:t>1</a:t>
            </a:r>
          </a:p>
        </p:txBody>
      </p:sp>
      <p:sp>
        <p:nvSpPr>
          <p:cNvPr id="5" name="TextBox 4"/>
          <p:cNvSpPr txBox="1"/>
          <p:nvPr/>
        </p:nvSpPr>
        <p:spPr>
          <a:xfrm>
            <a:off x="1020927" y="2971800"/>
            <a:ext cx="1920240" cy="548640"/>
          </a:xfrm>
          <a:prstGeom prst="rect">
            <a:avLst/>
          </a:prstGeom>
          <a:noFill/>
        </p:spPr>
        <p:txBody>
          <a:bodyPr wrap="square" anchor="t" lIns="0" rIns="0" tIns="0" bIns="0">
            <a:spAutoFit/>
          </a:bodyPr>
          <a:lstStyle/>
          <a:p>
            <a:pPr algn="ctr">
              <a:lnSpc>
                <a:spcPct val="100000"/>
              </a:lnSpc>
            </a:pPr>
            <a:r>
              <a:rPr sz="1250" b="1" i="0">
                <a:solidFill>
                  <a:srgbClr val="26282B"/>
                </a:solidFill>
                <a:latin typeface="Calibri"/>
              </a:rPr>
              <a:t>Introduce</a:t>
            </a:r>
          </a:p>
          <a:p>
            <a:pPr algn="ctr">
              <a:lnSpc>
                <a:spcPct val="100000"/>
              </a:lnSpc>
            </a:pPr>
            <a:r>
              <a:rPr sz="1250" b="1" i="0">
                <a:solidFill>
                  <a:srgbClr val="26282B"/>
                </a:solidFill>
                <a:latin typeface="Calibri"/>
              </a:rPr>
              <a:t>incident</a:t>
            </a:r>
          </a:p>
        </p:txBody>
      </p:sp>
      <p:sp>
        <p:nvSpPr>
          <p:cNvPr id="6" name="Oval 5"/>
          <p:cNvSpPr/>
          <p:nvPr/>
        </p:nvSpPr>
        <p:spPr>
          <a:xfrm>
            <a:off x="3672687" y="2103120"/>
            <a:ext cx="731520" cy="731520"/>
          </a:xfrm>
          <a:prstGeom prst="ellipse">
            <a:avLst/>
          </a:prstGeom>
          <a:solidFill>
            <a:srgbClr val="FFFFFF"/>
          </a:solidFill>
          <a:ln w="19050">
            <a:solidFill>
              <a:srgbClr val="4A7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a:solidFill>
                  <a:srgbClr val="4A7CA8"/>
                </a:solidFill>
                <a:latin typeface="Georgia"/>
              </a:rPr>
              <a:t>2</a:t>
            </a:r>
          </a:p>
        </p:txBody>
      </p:sp>
      <p:sp>
        <p:nvSpPr>
          <p:cNvPr id="7" name="TextBox 6"/>
          <p:cNvSpPr txBox="1"/>
          <p:nvPr/>
        </p:nvSpPr>
        <p:spPr>
          <a:xfrm>
            <a:off x="3078327" y="2971800"/>
            <a:ext cx="1920240" cy="548640"/>
          </a:xfrm>
          <a:prstGeom prst="rect">
            <a:avLst/>
          </a:prstGeom>
          <a:noFill/>
        </p:spPr>
        <p:txBody>
          <a:bodyPr wrap="square" anchor="t" lIns="0" rIns="0" tIns="0" bIns="0">
            <a:spAutoFit/>
          </a:bodyPr>
          <a:lstStyle/>
          <a:p>
            <a:pPr algn="ctr">
              <a:lnSpc>
                <a:spcPct val="100000"/>
              </a:lnSpc>
            </a:pPr>
            <a:r>
              <a:rPr sz="1250" b="1" i="0">
                <a:solidFill>
                  <a:srgbClr val="26282B"/>
                </a:solidFill>
                <a:latin typeface="Calibri"/>
              </a:rPr>
              <a:t>Agent</a:t>
            </a:r>
          </a:p>
          <a:p>
            <a:pPr algn="ctr">
              <a:lnSpc>
                <a:spcPct val="100000"/>
              </a:lnSpc>
            </a:pPr>
            <a:r>
              <a:rPr sz="1250" b="1" i="0">
                <a:solidFill>
                  <a:srgbClr val="26282B"/>
                </a:solidFill>
                <a:latin typeface="Calibri"/>
              </a:rPr>
              <a:t>investigates</a:t>
            </a:r>
          </a:p>
        </p:txBody>
      </p:sp>
      <p:sp>
        <p:nvSpPr>
          <p:cNvPr id="8" name="Oval 7"/>
          <p:cNvSpPr/>
          <p:nvPr/>
        </p:nvSpPr>
        <p:spPr>
          <a:xfrm>
            <a:off x="5730087" y="2103120"/>
            <a:ext cx="731520" cy="731520"/>
          </a:xfrm>
          <a:prstGeom prst="ellipse">
            <a:avLst/>
          </a:prstGeom>
          <a:solidFill>
            <a:srgbClr val="FFFFFF"/>
          </a:solidFill>
          <a:ln w="19050">
            <a:solidFill>
              <a:srgbClr val="3E8F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a:solidFill>
                  <a:srgbClr val="3E8F7C"/>
                </a:solidFill>
                <a:latin typeface="Georgia"/>
              </a:rPr>
              <a:t>3</a:t>
            </a:r>
          </a:p>
        </p:txBody>
      </p:sp>
      <p:sp>
        <p:nvSpPr>
          <p:cNvPr id="9" name="TextBox 8"/>
          <p:cNvSpPr txBox="1"/>
          <p:nvPr/>
        </p:nvSpPr>
        <p:spPr>
          <a:xfrm>
            <a:off x="5135727" y="2971800"/>
            <a:ext cx="1920240" cy="548640"/>
          </a:xfrm>
          <a:prstGeom prst="rect">
            <a:avLst/>
          </a:prstGeom>
          <a:noFill/>
        </p:spPr>
        <p:txBody>
          <a:bodyPr wrap="square" anchor="t" lIns="0" rIns="0" tIns="0" bIns="0">
            <a:spAutoFit/>
          </a:bodyPr>
          <a:lstStyle/>
          <a:p>
            <a:pPr algn="ctr">
              <a:lnSpc>
                <a:spcPct val="100000"/>
              </a:lnSpc>
            </a:pPr>
            <a:r>
              <a:rPr sz="1250" b="1" i="0">
                <a:solidFill>
                  <a:srgbClr val="26282B"/>
                </a:solidFill>
                <a:latin typeface="Calibri"/>
              </a:rPr>
              <a:t>Evidence is</a:t>
            </a:r>
          </a:p>
          <a:p>
            <a:pPr algn="ctr">
              <a:lnSpc>
                <a:spcPct val="100000"/>
              </a:lnSpc>
            </a:pPr>
            <a:r>
              <a:rPr sz="1250" b="1" i="0">
                <a:solidFill>
                  <a:srgbClr val="26282B"/>
                </a:solidFill>
                <a:latin typeface="Calibri"/>
              </a:rPr>
              <a:t>collected</a:t>
            </a:r>
          </a:p>
        </p:txBody>
      </p:sp>
      <p:sp>
        <p:nvSpPr>
          <p:cNvPr id="10" name="Oval 9"/>
          <p:cNvSpPr/>
          <p:nvPr/>
        </p:nvSpPr>
        <p:spPr>
          <a:xfrm>
            <a:off x="7787487" y="2103120"/>
            <a:ext cx="731520" cy="731520"/>
          </a:xfrm>
          <a:prstGeom prst="ellipse">
            <a:avLst/>
          </a:prstGeom>
          <a:solidFill>
            <a:srgbClr val="FFFFFF"/>
          </a:solidFill>
          <a:ln w="19050">
            <a:solidFill>
              <a:srgbClr val="3E8F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a:solidFill>
                  <a:srgbClr val="3E8F7C"/>
                </a:solidFill>
                <a:latin typeface="Georgia"/>
              </a:rPr>
              <a:t>4</a:t>
            </a:r>
          </a:p>
        </p:txBody>
      </p:sp>
      <p:sp>
        <p:nvSpPr>
          <p:cNvPr id="11" name="TextBox 10"/>
          <p:cNvSpPr txBox="1"/>
          <p:nvPr/>
        </p:nvSpPr>
        <p:spPr>
          <a:xfrm>
            <a:off x="7193127" y="2971800"/>
            <a:ext cx="1920240" cy="548640"/>
          </a:xfrm>
          <a:prstGeom prst="rect">
            <a:avLst/>
          </a:prstGeom>
          <a:noFill/>
        </p:spPr>
        <p:txBody>
          <a:bodyPr wrap="square" anchor="t" lIns="0" rIns="0" tIns="0" bIns="0">
            <a:spAutoFit/>
          </a:bodyPr>
          <a:lstStyle/>
          <a:p>
            <a:pPr algn="ctr">
              <a:lnSpc>
                <a:spcPct val="100000"/>
              </a:lnSpc>
            </a:pPr>
            <a:r>
              <a:rPr sz="1250" b="1" i="0">
                <a:solidFill>
                  <a:srgbClr val="26282B"/>
                </a:solidFill>
                <a:latin typeface="Calibri"/>
              </a:rPr>
              <a:t>Agent forms</a:t>
            </a:r>
          </a:p>
          <a:p>
            <a:pPr algn="ctr">
              <a:lnSpc>
                <a:spcPct val="100000"/>
              </a:lnSpc>
            </a:pPr>
            <a:r>
              <a:rPr sz="1250" b="1" i="0">
                <a:solidFill>
                  <a:srgbClr val="26282B"/>
                </a:solidFill>
                <a:latin typeface="Calibri"/>
              </a:rPr>
              <a:t>RCA</a:t>
            </a:r>
          </a:p>
        </p:txBody>
      </p:sp>
      <p:sp>
        <p:nvSpPr>
          <p:cNvPr id="12" name="Oval 11"/>
          <p:cNvSpPr/>
          <p:nvPr/>
        </p:nvSpPr>
        <p:spPr>
          <a:xfrm>
            <a:off x="9844887" y="2103120"/>
            <a:ext cx="731520" cy="731520"/>
          </a:xfrm>
          <a:prstGeom prst="ellipse">
            <a:avLst/>
          </a:prstGeom>
          <a:solidFill>
            <a:srgbClr val="FFFFFF"/>
          </a:solidFill>
          <a:ln w="19050">
            <a:solidFill>
              <a:srgbClr val="B88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a:solidFill>
                  <a:srgbClr val="B8863C"/>
                </a:solidFill>
                <a:latin typeface="Georgia"/>
              </a:rPr>
              <a:t>5</a:t>
            </a:r>
          </a:p>
        </p:txBody>
      </p:sp>
      <p:sp>
        <p:nvSpPr>
          <p:cNvPr id="13" name="TextBox 12"/>
          <p:cNvSpPr txBox="1"/>
          <p:nvPr/>
        </p:nvSpPr>
        <p:spPr>
          <a:xfrm>
            <a:off x="9250527" y="2971800"/>
            <a:ext cx="1920240" cy="548640"/>
          </a:xfrm>
          <a:prstGeom prst="rect">
            <a:avLst/>
          </a:prstGeom>
          <a:noFill/>
        </p:spPr>
        <p:txBody>
          <a:bodyPr wrap="square" anchor="t" lIns="0" rIns="0" tIns="0" bIns="0">
            <a:spAutoFit/>
          </a:bodyPr>
          <a:lstStyle/>
          <a:p>
            <a:pPr algn="ctr">
              <a:lnSpc>
                <a:spcPct val="100000"/>
              </a:lnSpc>
            </a:pPr>
            <a:r>
              <a:rPr sz="1250" b="1" i="0">
                <a:solidFill>
                  <a:srgbClr val="26282B"/>
                </a:solidFill>
                <a:latin typeface="Calibri"/>
              </a:rPr>
              <a:t>Engineer reviews</a:t>
            </a:r>
          </a:p>
          <a:p>
            <a:pPr algn="ctr">
              <a:lnSpc>
                <a:spcPct val="100000"/>
              </a:lnSpc>
            </a:pPr>
            <a:r>
              <a:rPr sz="1250" b="1" i="0">
                <a:solidFill>
                  <a:srgbClr val="26282B"/>
                </a:solidFill>
                <a:latin typeface="Calibri"/>
              </a:rPr>
              <a:t>outcome</a:t>
            </a:r>
          </a:p>
        </p:txBody>
      </p:sp>
      <p:sp>
        <p:nvSpPr>
          <p:cNvPr id="14" name="Rounded Rectangle 13"/>
          <p:cNvSpPr/>
          <p:nvPr/>
        </p:nvSpPr>
        <p:spPr>
          <a:xfrm>
            <a:off x="1737360" y="3931920"/>
            <a:ext cx="8686800" cy="1005840"/>
          </a:xfrm>
          <a:prstGeom prst="roundRect">
            <a:avLst>
              <a:gd name="adj" fmla="val 10000"/>
            </a:avLst>
          </a:prstGeom>
          <a:solidFill>
            <a:srgbClr val="FFFFFF"/>
          </a:solidFill>
          <a:ln w="9525">
            <a:solidFill>
              <a:srgbClr val="4A7CA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r>
              <a:rPr b="1" sz="1350">
                <a:solidFill>
                  <a:srgbClr val="26282B"/>
                </a:solidFill>
                <a:latin typeface="Calibri"/>
              </a:rPr>
              <a:t>What to watch for:  </a:t>
            </a:r>
            <a:r>
              <a:rPr sz="1350">
                <a:solidFill>
                  <a:srgbClr val="565A5E"/>
                </a:solidFill>
                <a:latin typeface="Calibri"/>
              </a:rPr>
              <a:t>not simply whether the agent produces an answer — whether its conclusion is actually supported by the evidence it collected along the 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5449824"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CAN THIS BECOME MORE VALUABLE AT SCALE?</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000" b="0" i="0">
                <a:solidFill>
                  <a:srgbClr val="26282B"/>
                </a:solidFill>
                <a:latin typeface="Georgia"/>
              </a:rPr>
              <a:t>Where This Goes Next</a:t>
            </a:r>
          </a:p>
        </p:txBody>
      </p:sp>
      <p:sp>
        <p:nvSpPr>
          <p:cNvPr id="4" name="TextBox 3"/>
          <p:cNvSpPr txBox="1"/>
          <p:nvPr/>
        </p:nvSpPr>
        <p:spPr>
          <a:xfrm>
            <a:off x="685800" y="1965960"/>
            <a:ext cx="3429000" cy="320040"/>
          </a:xfrm>
          <a:prstGeom prst="rect">
            <a:avLst/>
          </a:prstGeom>
          <a:noFill/>
        </p:spPr>
        <p:txBody>
          <a:bodyPr wrap="square" anchor="t" lIns="0" rIns="0" tIns="0" bIns="0">
            <a:spAutoFit/>
          </a:bodyPr>
          <a:lstStyle/>
          <a:p>
            <a:pPr algn="l">
              <a:lnSpc>
                <a:spcPct val="100000"/>
              </a:lnSpc>
            </a:pPr>
            <a:r>
              <a:rPr sz="1300" b="1" i="0">
                <a:solidFill>
                  <a:srgbClr val="3E8F7C"/>
                </a:solidFill>
                <a:latin typeface="Calibri"/>
              </a:rPr>
              <a:t>TODAY</a:t>
            </a:r>
          </a:p>
        </p:txBody>
      </p:sp>
      <p:cxnSp>
        <p:nvCxnSpPr>
          <p:cNvPr id="5" name="Connector 4"/>
          <p:cNvCxnSpPr/>
          <p:nvPr/>
        </p:nvCxnSpPr>
        <p:spPr>
          <a:xfrm>
            <a:off x="685800" y="2350008"/>
            <a:ext cx="3429000" cy="0"/>
          </a:xfrm>
          <a:prstGeom prst="line">
            <a:avLst/>
          </a:prstGeom>
          <a:ln w="25400">
            <a:solidFill>
              <a:srgbClr val="C4E1D8"/>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85800" y="2551176"/>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514600"/>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Kubernetes investigation</a:t>
            </a:r>
          </a:p>
        </p:txBody>
      </p:sp>
      <p:sp>
        <p:nvSpPr>
          <p:cNvPr id="8" name="Oval 7"/>
          <p:cNvSpPr/>
          <p:nvPr/>
        </p:nvSpPr>
        <p:spPr>
          <a:xfrm>
            <a:off x="685800" y="2880360"/>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843784"/>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Multi-cluster support</a:t>
            </a:r>
          </a:p>
        </p:txBody>
      </p:sp>
      <p:sp>
        <p:nvSpPr>
          <p:cNvPr id="10" name="Oval 9"/>
          <p:cNvSpPr/>
          <p:nvPr/>
        </p:nvSpPr>
        <p:spPr>
          <a:xfrm>
            <a:off x="685800" y="3209544"/>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3172968"/>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Evidence-backed RCA</a:t>
            </a:r>
          </a:p>
        </p:txBody>
      </p:sp>
      <p:sp>
        <p:nvSpPr>
          <p:cNvPr id="12" name="Oval 11"/>
          <p:cNvSpPr/>
          <p:nvPr/>
        </p:nvSpPr>
        <p:spPr>
          <a:xfrm>
            <a:off x="685800" y="3538728"/>
            <a:ext cx="109728" cy="109728"/>
          </a:xfrm>
          <a:prstGeom prst="ellipse">
            <a:avLst/>
          </a:prstGeom>
          <a:solidFill>
            <a:srgbClr val="3E8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502152"/>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Human-controlled actions</a:t>
            </a:r>
          </a:p>
        </p:txBody>
      </p:sp>
      <p:sp>
        <p:nvSpPr>
          <p:cNvPr id="14" name="TextBox 13"/>
          <p:cNvSpPr txBox="1"/>
          <p:nvPr/>
        </p:nvSpPr>
        <p:spPr>
          <a:xfrm>
            <a:off x="4137660" y="3246120"/>
            <a:ext cx="274320" cy="365760"/>
          </a:xfrm>
          <a:prstGeom prst="rect">
            <a:avLst/>
          </a:prstGeom>
          <a:noFill/>
        </p:spPr>
        <p:txBody>
          <a:bodyPr wrap="none" anchor="ctr">
            <a:spAutoFit/>
          </a:bodyPr>
          <a:lstStyle/>
          <a:p>
            <a:pPr algn="ctr"/>
            <a:r>
              <a:rPr sz="1600">
                <a:solidFill>
                  <a:srgbClr val="8A8E92"/>
                </a:solidFill>
              </a:rPr>
              <a:t>→</a:t>
            </a:r>
          </a:p>
        </p:txBody>
      </p:sp>
      <p:sp>
        <p:nvSpPr>
          <p:cNvPr id="15" name="TextBox 14"/>
          <p:cNvSpPr txBox="1"/>
          <p:nvPr/>
        </p:nvSpPr>
        <p:spPr>
          <a:xfrm>
            <a:off x="4434840" y="1965960"/>
            <a:ext cx="3429000" cy="320040"/>
          </a:xfrm>
          <a:prstGeom prst="rect">
            <a:avLst/>
          </a:prstGeom>
          <a:noFill/>
        </p:spPr>
        <p:txBody>
          <a:bodyPr wrap="square" anchor="t" lIns="0" rIns="0" tIns="0" bIns="0">
            <a:spAutoFit/>
          </a:bodyPr>
          <a:lstStyle/>
          <a:p>
            <a:pPr algn="l">
              <a:lnSpc>
                <a:spcPct val="100000"/>
              </a:lnSpc>
            </a:pPr>
            <a:r>
              <a:rPr sz="1300" b="1" i="0">
                <a:solidFill>
                  <a:srgbClr val="4A7CA8"/>
                </a:solidFill>
                <a:latin typeface="Calibri"/>
              </a:rPr>
              <a:t>NEXT</a:t>
            </a:r>
          </a:p>
        </p:txBody>
      </p:sp>
      <p:cxnSp>
        <p:nvCxnSpPr>
          <p:cNvPr id="16" name="Connector 15"/>
          <p:cNvCxnSpPr/>
          <p:nvPr/>
        </p:nvCxnSpPr>
        <p:spPr>
          <a:xfrm>
            <a:off x="4434840" y="2350008"/>
            <a:ext cx="3429000" cy="0"/>
          </a:xfrm>
          <a:prstGeom prst="line">
            <a:avLst/>
          </a:prstGeom>
          <a:ln w="25400">
            <a:solidFill>
              <a:srgbClr val="C9DCEA"/>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434840" y="2551176"/>
            <a:ext cx="109728" cy="109728"/>
          </a:xfrm>
          <a:prstGeom prst="ellipse">
            <a:avLst/>
          </a:prstGeom>
          <a:solidFill>
            <a:srgbClr val="4A7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54296" y="2514600"/>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PagerDuty-triggered investigations</a:t>
            </a:r>
          </a:p>
        </p:txBody>
      </p:sp>
      <p:sp>
        <p:nvSpPr>
          <p:cNvPr id="19" name="Oval 18"/>
          <p:cNvSpPr/>
          <p:nvPr/>
        </p:nvSpPr>
        <p:spPr>
          <a:xfrm>
            <a:off x="4434840" y="2880360"/>
            <a:ext cx="109728" cy="109728"/>
          </a:xfrm>
          <a:prstGeom prst="ellipse">
            <a:avLst/>
          </a:prstGeom>
          <a:solidFill>
            <a:srgbClr val="4A7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2843784"/>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Non-GKE environments</a:t>
            </a:r>
          </a:p>
        </p:txBody>
      </p:sp>
      <p:sp>
        <p:nvSpPr>
          <p:cNvPr id="21" name="Oval 20"/>
          <p:cNvSpPr/>
          <p:nvPr/>
        </p:nvSpPr>
        <p:spPr>
          <a:xfrm>
            <a:off x="4434840" y="3209544"/>
            <a:ext cx="109728" cy="109728"/>
          </a:xfrm>
          <a:prstGeom prst="ellipse">
            <a:avLst/>
          </a:prstGeom>
          <a:solidFill>
            <a:srgbClr val="4A7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3172968"/>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Stronger confidence model</a:t>
            </a:r>
          </a:p>
        </p:txBody>
      </p:sp>
      <p:sp>
        <p:nvSpPr>
          <p:cNvPr id="23" name="Oval 22"/>
          <p:cNvSpPr/>
          <p:nvPr/>
        </p:nvSpPr>
        <p:spPr>
          <a:xfrm>
            <a:off x="4434840" y="3538728"/>
            <a:ext cx="109728" cy="109728"/>
          </a:xfrm>
          <a:prstGeom prst="ellipse">
            <a:avLst/>
          </a:prstGeom>
          <a:solidFill>
            <a:srgbClr val="4A7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3502152"/>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Golden incident evaluation</a:t>
            </a:r>
          </a:p>
        </p:txBody>
      </p:sp>
      <p:sp>
        <p:nvSpPr>
          <p:cNvPr id="25" name="Oval 24"/>
          <p:cNvSpPr/>
          <p:nvPr/>
        </p:nvSpPr>
        <p:spPr>
          <a:xfrm>
            <a:off x="4434840" y="3867912"/>
            <a:ext cx="109728" cy="109728"/>
          </a:xfrm>
          <a:prstGeom prst="ellipse">
            <a:avLst/>
          </a:prstGeom>
          <a:solidFill>
            <a:srgbClr val="4A7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3831336"/>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Production observability</a:t>
            </a:r>
          </a:p>
        </p:txBody>
      </p:sp>
      <p:sp>
        <p:nvSpPr>
          <p:cNvPr id="27" name="TextBox 26"/>
          <p:cNvSpPr txBox="1"/>
          <p:nvPr/>
        </p:nvSpPr>
        <p:spPr>
          <a:xfrm>
            <a:off x="7886700" y="3246120"/>
            <a:ext cx="274320" cy="365760"/>
          </a:xfrm>
          <a:prstGeom prst="rect">
            <a:avLst/>
          </a:prstGeom>
          <a:noFill/>
        </p:spPr>
        <p:txBody>
          <a:bodyPr wrap="none" anchor="ctr">
            <a:spAutoFit/>
          </a:bodyPr>
          <a:lstStyle/>
          <a:p>
            <a:pPr algn="ctr"/>
            <a:r>
              <a:rPr sz="1600">
                <a:solidFill>
                  <a:srgbClr val="8A8E92"/>
                </a:solidFill>
              </a:rPr>
              <a:t>→</a:t>
            </a:r>
          </a:p>
        </p:txBody>
      </p:sp>
      <p:sp>
        <p:nvSpPr>
          <p:cNvPr id="28" name="TextBox 27"/>
          <p:cNvSpPr txBox="1"/>
          <p:nvPr/>
        </p:nvSpPr>
        <p:spPr>
          <a:xfrm>
            <a:off x="8183880" y="1965960"/>
            <a:ext cx="3429000" cy="320040"/>
          </a:xfrm>
          <a:prstGeom prst="rect">
            <a:avLst/>
          </a:prstGeom>
          <a:noFill/>
        </p:spPr>
        <p:txBody>
          <a:bodyPr wrap="square" anchor="t" lIns="0" rIns="0" tIns="0" bIns="0">
            <a:spAutoFit/>
          </a:bodyPr>
          <a:lstStyle/>
          <a:p>
            <a:pPr algn="l">
              <a:lnSpc>
                <a:spcPct val="100000"/>
              </a:lnSpc>
            </a:pPr>
            <a:r>
              <a:rPr sz="1300" b="1" i="0">
                <a:solidFill>
                  <a:srgbClr val="B8863C"/>
                </a:solidFill>
                <a:latin typeface="Calibri"/>
              </a:rPr>
              <a:t>SCALE</a:t>
            </a:r>
          </a:p>
        </p:txBody>
      </p:sp>
      <p:cxnSp>
        <p:nvCxnSpPr>
          <p:cNvPr id="29" name="Connector 28"/>
          <p:cNvCxnSpPr/>
          <p:nvPr/>
        </p:nvCxnSpPr>
        <p:spPr>
          <a:xfrm>
            <a:off x="8183880" y="2350008"/>
            <a:ext cx="3429000" cy="0"/>
          </a:xfrm>
          <a:prstGeom prst="line">
            <a:avLst/>
          </a:prstGeom>
          <a:ln w="25400">
            <a:solidFill>
              <a:srgbClr val="E6D2A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183880" y="2551176"/>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03336" y="2514600"/>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Additional operational data sources</a:t>
            </a:r>
          </a:p>
        </p:txBody>
      </p:sp>
      <p:sp>
        <p:nvSpPr>
          <p:cNvPr id="32" name="Oval 31"/>
          <p:cNvSpPr/>
          <p:nvPr/>
        </p:nvSpPr>
        <p:spPr>
          <a:xfrm>
            <a:off x="8183880" y="2880360"/>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6" y="2843784"/>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Cross-platform investigations</a:t>
            </a:r>
          </a:p>
        </p:txBody>
      </p:sp>
      <p:sp>
        <p:nvSpPr>
          <p:cNvPr id="34" name="Oval 33"/>
          <p:cNvSpPr/>
          <p:nvPr/>
        </p:nvSpPr>
        <p:spPr>
          <a:xfrm>
            <a:off x="8183880" y="3209544"/>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03336" y="3172968"/>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Continuous evaluation</a:t>
            </a:r>
          </a:p>
        </p:txBody>
      </p:sp>
      <p:sp>
        <p:nvSpPr>
          <p:cNvPr id="36" name="Oval 35"/>
          <p:cNvSpPr/>
          <p:nvPr/>
        </p:nvSpPr>
        <p:spPr>
          <a:xfrm>
            <a:off x="8183880" y="3538728"/>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6" y="3502152"/>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Enterprise governance</a:t>
            </a:r>
          </a:p>
        </p:txBody>
      </p:sp>
      <p:sp>
        <p:nvSpPr>
          <p:cNvPr id="38" name="Oval 37"/>
          <p:cNvSpPr/>
          <p:nvPr/>
        </p:nvSpPr>
        <p:spPr>
          <a:xfrm>
            <a:off x="8183880" y="3867912"/>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3336" y="3831336"/>
            <a:ext cx="3209544" cy="292608"/>
          </a:xfrm>
          <a:prstGeom prst="rect">
            <a:avLst/>
          </a:prstGeom>
          <a:noFill/>
        </p:spPr>
        <p:txBody>
          <a:bodyPr wrap="square" anchor="t" lIns="0" rIns="0" tIns="0" bIns="0">
            <a:spAutoFit/>
          </a:bodyPr>
          <a:lstStyle/>
          <a:p>
            <a:pPr algn="l">
              <a:lnSpc>
                <a:spcPct val="100000"/>
              </a:lnSpc>
            </a:pPr>
            <a:r>
              <a:rPr sz="1200" b="0" i="0">
                <a:solidFill>
                  <a:srgbClr val="26282B"/>
                </a:solidFill>
                <a:latin typeface="Calibri"/>
              </a:rPr>
              <a:t>Broader incident intelligence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ounded Rectangle 1"/>
          <p:cNvSpPr/>
          <p:nvPr/>
        </p:nvSpPr>
        <p:spPr>
          <a:xfrm>
            <a:off x="548640" y="384048"/>
            <a:ext cx="4169664" cy="329184"/>
          </a:xfrm>
          <a:prstGeom prst="roundRect">
            <a:avLst>
              <a:gd name="adj" fmla="val 50000"/>
            </a:avLst>
          </a:prstGeom>
          <a:solidFill>
            <a:srgbClr val="EAF1F7"/>
          </a:solidFill>
          <a:ln w="9525">
            <a:solidFill>
              <a:srgbClr val="C9DCE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50" b="1">
                <a:solidFill>
                  <a:srgbClr val="4A7CA8"/>
                </a:solidFill>
                <a:latin typeface="Calibri"/>
              </a:rPr>
              <a:t>WHAT DECISION DO WE NEED NOW?</a:t>
            </a:r>
          </a:p>
        </p:txBody>
      </p:sp>
      <p:sp>
        <p:nvSpPr>
          <p:cNvPr id="3" name="TextBox 2"/>
          <p:cNvSpPr txBox="1"/>
          <p:nvPr/>
        </p:nvSpPr>
        <p:spPr>
          <a:xfrm>
            <a:off x="548640" y="822960"/>
            <a:ext cx="9601200" cy="1005840"/>
          </a:xfrm>
          <a:prstGeom prst="rect">
            <a:avLst/>
          </a:prstGeom>
          <a:noFill/>
        </p:spPr>
        <p:txBody>
          <a:bodyPr wrap="square" anchor="t" lIns="0" rIns="0" tIns="0" bIns="0">
            <a:spAutoFit/>
          </a:bodyPr>
          <a:lstStyle/>
          <a:p>
            <a:pPr algn="l">
              <a:lnSpc>
                <a:spcPct val="105000"/>
              </a:lnSpc>
            </a:pPr>
            <a:r>
              <a:rPr sz="3200" b="0" i="0">
                <a:solidFill>
                  <a:srgbClr val="26282B"/>
                </a:solidFill>
                <a:latin typeface="Georgia"/>
              </a:rPr>
              <a:t>Validate the Production Path</a:t>
            </a:r>
          </a:p>
        </p:txBody>
      </p:sp>
      <p:sp>
        <p:nvSpPr>
          <p:cNvPr id="4" name="Rounded Rectangle 3"/>
          <p:cNvSpPr/>
          <p:nvPr/>
        </p:nvSpPr>
        <p:spPr>
          <a:xfrm>
            <a:off x="685800" y="1920240"/>
            <a:ext cx="3429000" cy="123444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ctr"/>
            <a:r>
              <a:rPr sz="2600">
                <a:solidFill>
                  <a:srgbClr val="4A7CA8"/>
                </a:solidFill>
                <a:latin typeface="Georgia"/>
              </a:rPr>
              <a:t>1</a:t>
            </a:r>
          </a:p>
          <a:p>
            <a:r>
              <a:rPr sz="1350" b="1">
                <a:solidFill>
                  <a:srgbClr val="26282B"/>
                </a:solidFill>
                <a:latin typeface="Calibri"/>
              </a:rPr>
              <a:t>Complete critical
validation</a:t>
            </a:r>
          </a:p>
        </p:txBody>
      </p:sp>
      <p:sp>
        <p:nvSpPr>
          <p:cNvPr id="5" name="Rounded Rectangle 4"/>
          <p:cNvSpPr/>
          <p:nvPr/>
        </p:nvSpPr>
        <p:spPr>
          <a:xfrm>
            <a:off x="4389120" y="1920240"/>
            <a:ext cx="3429000" cy="123444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ctr"/>
            <a:r>
              <a:rPr sz="2600">
                <a:solidFill>
                  <a:srgbClr val="4A7CA8"/>
                </a:solidFill>
                <a:latin typeface="Georgia"/>
              </a:rPr>
              <a:t>2</a:t>
            </a:r>
          </a:p>
          <a:p>
            <a:r>
              <a:rPr sz="1350" b="1">
                <a:solidFill>
                  <a:srgbClr val="26282B"/>
                </a:solidFill>
                <a:latin typeface="Calibri"/>
              </a:rPr>
              <a:t>Run controlled
production pilot</a:t>
            </a:r>
          </a:p>
        </p:txBody>
      </p:sp>
      <p:sp>
        <p:nvSpPr>
          <p:cNvPr id="6" name="Rounded Rectangle 5"/>
          <p:cNvSpPr/>
          <p:nvPr/>
        </p:nvSpPr>
        <p:spPr>
          <a:xfrm>
            <a:off x="8092440" y="1920240"/>
            <a:ext cx="3429000" cy="1234440"/>
          </a:xfrm>
          <a:prstGeom prst="roundRect">
            <a:avLst>
              <a:gd name="adj" fmla="val 10000"/>
            </a:avLst>
          </a:prstGeom>
          <a:solidFill>
            <a:srgbClr val="FFFFFF"/>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ctr"/>
            <a:r>
              <a:rPr sz="2600">
                <a:solidFill>
                  <a:srgbClr val="4A7CA8"/>
                </a:solidFill>
                <a:latin typeface="Georgia"/>
              </a:rPr>
              <a:t>3</a:t>
            </a:r>
          </a:p>
          <a:p>
            <a:r>
              <a:rPr sz="1350" b="1">
                <a:solidFill>
                  <a:srgbClr val="26282B"/>
                </a:solidFill>
                <a:latin typeface="Calibri"/>
              </a:rPr>
              <a:t>Measure operational
value</a:t>
            </a:r>
          </a:p>
        </p:txBody>
      </p:sp>
      <p:sp>
        <p:nvSpPr>
          <p:cNvPr id="7" name="Rounded Rectangle 6"/>
          <p:cNvSpPr/>
          <p:nvPr/>
        </p:nvSpPr>
        <p:spPr>
          <a:xfrm>
            <a:off x="685800" y="3520440"/>
            <a:ext cx="10789920" cy="2011680"/>
          </a:xfrm>
          <a:prstGeom prst="roundRect">
            <a:avLst>
              <a:gd name="adj" fmla="val 8000"/>
            </a:avLst>
          </a:prstGeom>
          <a:solidFill>
            <a:srgbClr val="F7EFDF"/>
          </a:solidFill>
          <a:ln w="9525">
            <a:solidFill>
              <a:srgbClr val="E6D2AA"/>
            </a:solidFill>
          </a:ln>
          <a:effectLst/>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r>
              <a:rPr sz="1700" i="1">
                <a:solidFill>
                  <a:srgbClr val="26282B"/>
                </a:solidFill>
                <a:latin typeface="Georgia"/>
              </a:rPr>
              <a:t>Success means more than a working demo.</a:t>
            </a:r>
          </a:p>
        </p:txBody>
      </p:sp>
      <p:sp>
        <p:nvSpPr>
          <p:cNvPr id="8" name="Oval 7"/>
          <p:cNvSpPr/>
          <p:nvPr/>
        </p:nvSpPr>
        <p:spPr>
          <a:xfrm>
            <a:off x="1051560" y="4197096"/>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52728" y="4160520"/>
            <a:ext cx="2194560" cy="274320"/>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Accurate RCA</a:t>
            </a:r>
          </a:p>
        </p:txBody>
      </p:sp>
      <p:sp>
        <p:nvSpPr>
          <p:cNvPr id="10" name="Oval 9"/>
          <p:cNvSpPr/>
          <p:nvPr/>
        </p:nvSpPr>
        <p:spPr>
          <a:xfrm>
            <a:off x="1051560" y="4581144"/>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2728" y="4544568"/>
            <a:ext cx="2194560" cy="274320"/>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Complete evidence</a:t>
            </a:r>
          </a:p>
        </p:txBody>
      </p:sp>
      <p:sp>
        <p:nvSpPr>
          <p:cNvPr id="12" name="Oval 11"/>
          <p:cNvSpPr/>
          <p:nvPr/>
        </p:nvSpPr>
        <p:spPr>
          <a:xfrm>
            <a:off x="1051560" y="4965192"/>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4928616"/>
            <a:ext cx="2194560" cy="274320"/>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Reliable execution</a:t>
            </a:r>
          </a:p>
        </p:txBody>
      </p:sp>
      <p:sp>
        <p:nvSpPr>
          <p:cNvPr id="14" name="Oval 13"/>
          <p:cNvSpPr/>
          <p:nvPr/>
        </p:nvSpPr>
        <p:spPr>
          <a:xfrm>
            <a:off x="1051560" y="5349240"/>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2728" y="5312664"/>
            <a:ext cx="2194560" cy="274320"/>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Safe access controls</a:t>
            </a:r>
          </a:p>
        </p:txBody>
      </p:sp>
      <p:sp>
        <p:nvSpPr>
          <p:cNvPr id="16" name="Oval 15"/>
          <p:cNvSpPr/>
          <p:nvPr/>
        </p:nvSpPr>
        <p:spPr>
          <a:xfrm>
            <a:off x="1051560" y="5733288"/>
            <a:ext cx="109728" cy="109728"/>
          </a:xfrm>
          <a:prstGeom prst="ellipse">
            <a:avLst/>
          </a:prstGeom>
          <a:solidFill>
            <a:srgbClr val="B88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52728" y="5696712"/>
            <a:ext cx="2194560" cy="274320"/>
          </a:xfrm>
          <a:prstGeom prst="rect">
            <a:avLst/>
          </a:prstGeom>
          <a:noFill/>
        </p:spPr>
        <p:txBody>
          <a:bodyPr wrap="square" anchor="t" lIns="0" rIns="0" tIns="0" bIns="0">
            <a:spAutoFit/>
          </a:bodyPr>
          <a:lstStyle/>
          <a:p>
            <a:pPr algn="l">
              <a:lnSpc>
                <a:spcPct val="100000"/>
              </a:lnSpc>
            </a:pPr>
            <a:r>
              <a:rPr sz="1250" b="0" i="0">
                <a:solidFill>
                  <a:srgbClr val="26282B"/>
                </a:solidFill>
                <a:latin typeface="Calibri"/>
              </a:rPr>
              <a:t>Real incident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