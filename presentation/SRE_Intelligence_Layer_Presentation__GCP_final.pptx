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66" r:id="rId1"/>
  </p:sldMasterIdLst>
  <p:notesMasterIdLst>
    <p:notesMasterId r:id="rId18"/>
  </p:notesMasterIdLst>
  <p:sldIdLst>
    <p:sldId id="256" r:id="rId2"/>
    <p:sldId id="257" r:id="rId3"/>
    <p:sldId id="258" r:id="rId4"/>
    <p:sldId id="259" r:id="rId5"/>
    <p:sldId id="260" r:id="rId6"/>
    <p:sldId id="261" r:id="rId7"/>
    <p:sldId id="262" r:id="rId8"/>
    <p:sldId id="263" r:id="rId9"/>
    <p:sldId id="264" r:id="rId10"/>
    <p:sldId id="265" r:id="rId11"/>
    <p:sldId id="281" r:id="rId23"/>
    <p:sldId id="282" r:id="rId24"/>
    <p:sldId id="283" r:id="rId25"/>
    <p:sldId id="284" r:id="rId26"/>
    <p:sldId id="273" r:id="rId12"/>
    <p:sldId id="274" r:id="rId13"/>
    <p:sldId id="285" r:id="rId27"/>
    <p:sldId id="290" r:id="rId31"/>
    <p:sldId id="276" r:id="rId14"/>
    <p:sldId id="288" r:id="rId15"/>
    <p:sldId id="278" r:id="rId16"/>
    <p:sldId id="279" r:id="rId17"/>
    <p:sldId id="286" r:id="rId28"/>
    <p:sldId id="289" r:id="rId30"/>
    <p:sldId id="287" r:id="rId29"/>
  </p:sldIdLst>
  <p:sldSz cx="9144000" cy="5143500" type="screen16x9"/>
  <p:notesSz cx="51435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146"/>
    <p:restoredTop sz="94610"/>
  </p:normalViewPr>
  <p:slideViewPr>
    <p:cSldViewPr snapToGrid="0" snapToObjects="1">
      <p:cViewPr varScale="1">
        <p:scale>
          <a:sx n="299" d="100"/>
          <a:sy n="299" d="100"/>
        </p:scale>
        <p:origin x="560" y="17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5.xml"/><Relationship Id="rId13" Type="http://schemas.openxmlformats.org/officeDocument/2006/relationships/slide" Target="slides/slide16.xml"/><Relationship Id="rId14" Type="http://schemas.openxmlformats.org/officeDocument/2006/relationships/slide" Target="slides/slide19.xml"/><Relationship Id="rId15" Type="http://schemas.openxmlformats.org/officeDocument/2006/relationships/slide" Target="slides/slide20.xml"/><Relationship Id="rId16" Type="http://schemas.openxmlformats.org/officeDocument/2006/relationships/slide" Target="slides/slide21.xml"/><Relationship Id="rId17" Type="http://schemas.openxmlformats.org/officeDocument/2006/relationships/slide" Target="slides/slide22.xml"/><Relationship Id="rId18" Type="http://schemas.openxmlformats.org/officeDocument/2006/relationships/notesMaster" Target="notesMasters/notesMaster1.xml"/><Relationship Id="rId19" Type="http://schemas.openxmlformats.org/officeDocument/2006/relationships/presProps" Target="presProps.xml"/><Relationship Id="rId20" Type="http://schemas.openxmlformats.org/officeDocument/2006/relationships/viewProps" Target="viewProps.xml"/><Relationship Id="rId21" Type="http://schemas.openxmlformats.org/officeDocument/2006/relationships/theme" Target="theme/theme1.xml"/><Relationship Id="rId22" Type="http://schemas.openxmlformats.org/officeDocument/2006/relationships/tableStyles" Target="tableStyles.xml"/><Relationship Id="rId23" Type="http://schemas.openxmlformats.org/officeDocument/2006/relationships/slide" Target="slides/slide11.xml"/><Relationship Id="rId24" Type="http://schemas.openxmlformats.org/officeDocument/2006/relationships/slide" Target="slides/slide12.xml"/><Relationship Id="rId25" Type="http://schemas.openxmlformats.org/officeDocument/2006/relationships/slide" Target="slides/slide13.xml"/><Relationship Id="rId26" Type="http://schemas.openxmlformats.org/officeDocument/2006/relationships/slide" Target="slides/slide14.xml"/><Relationship Id="rId27" Type="http://schemas.openxmlformats.org/officeDocument/2006/relationships/slide" Target="slides/slide17.xml"/><Relationship Id="rId28" Type="http://schemas.openxmlformats.org/officeDocument/2006/relationships/slide" Target="slides/slide23.xml"/><Relationship Id="rId29" Type="http://schemas.openxmlformats.org/officeDocument/2006/relationships/slide" Target="slides/slide25.xml"/><Relationship Id="rId30" Type="http://schemas.openxmlformats.org/officeDocument/2006/relationships/slide" Target="slides/slide24.xml"/><Relationship Id="rId31" Type="http://schemas.openxmlformats.org/officeDocument/2006/relationships/slide" Target="slides/slide1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32382715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Hey everyone, thanks for making time. I'm going to walk you through an AI SRE investigator we've been building on Google Cloud -- LangGraph for the reasoning, Vertex AI Agent Engine to run it. It's human-in-the-loop -- it investigates and explains, we still approve and act. I'll cover the problem we're solving, how it's built, a live demo, security, cost, and what's next.</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introduction — I'm Ashwadeep Vaishnav, working in SRE and CloudOps here at Sectigo, based out of Ottawa. My focus areas include AI-assisted operations, cloud infrastructure, and automation. Today's presentation is the culmination of a prototype I've been building to bring AI reasoning into our incident response workflow.</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Quick run-through of what we're covering: the problem we're solving, the vision, how it's actually built, security -- since that's usually the first question anyway -- a live demo, what it costs, and where we take it next. Questions any time, don't wait for the end.</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Let's start with why we're here. What's the core problem we're trying to solve?</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Here's the real problem, in six pieces. Too many alerts and no easy way to correlate them. Most of the time in an incident isn't fixing anything, it's just gathering context. The quality of the RCA depends entirely on who's on call. Engineers are troubleshooting and explaining impact at the same time. A lot of knowledge only lives in a few people's heads. And more dashboards hasn't actually made any of this clearer. The real insight: we don't have a tools problem, we have a correlation problem.</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 what are we actually fixing? Engineers spend most of an incident just gathering information -- logs, pod status, events -- not using their actual expertise. We're going after three things: automate that gathering, reason over the evidence to build a real hypothesis, and make sure every investigation comes out the same structured way no matter who's on call. This is a co-pilot -- the engineer is still in charge.</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let's talk about what the solution looks like at a conceptual level.</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Here's the shape of it, conceptually. At the bottom, each data source -- logs, metrics, infra, docs -- plugs in as its own independent tool. Above that, the orchestrator decides what to check and in what order. Then a memory layer keeps context during the investigation. And the output is a structured RCA. The important part is the principle underneath all of it: it observes and recommends, it doesn't act. Read-only by default, everything logged, a human approves every step.</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This is the actual before-and-after. Today: alert fires, someone's paged, and they spend the next 30 to 60 minutes manually digging -- logs, dashboards, runbooks, piecing it together by hand. With the agent: same alert, but it automatically investigates -- pulls the evidence, reasons over it, and hands back a structured RCA in well under two minutes, real numbers we've measured average around 20 seconds. The engineer's job shifts from digging to reviewing -- that's where their judgment actually matters.</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Now the technical part -- how it's actually built. I'll keep the jargon explained as I go, don't worry if some of these terms are new.</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Enough theory, let me actually show you. First the three scenarios I'll run, then we go live -- against a real GKE cluster, not a simulation.</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Three real scenarios, live cluster, not simulated. First: a pod referencing a ConfigMap that was never created -- the agent should catch the missing reference and explain it clearly. Second: a pod stuck Pending because it's asking for storage that doesn't exist -- watch it trace that back to the real cause. Third: a pod whose liveness probe keeps failing, so it keeps restarting -- the agent needs to connect the restarts to the actual probe failure. All three passed clean in our last real run. Let's go live.</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Let's talk about the economics — what does this actually cost, and how do we measure value?</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Quick numbers on cost, since this always comes up. Each investigation runs about a quarter of a cent and takes about 20 seconds. We're not estimating this — it's tracked per run and already wired into Cloud Monitoring with an alert if it spikes. At any real volume this is a rounding error, not a budget line — the actual cost of scaling this is engineering time, not compute.</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How we'll actually measure success, two buckets. Operational: MTTR reduction is the headline metric, but we're not claiming a number yet -- no real baseline exists until we've run this in a real pilot, and I'd rather say that plainly than guess. Alongside that: how many alerts get triaged automatically, whether alert noise goes down, and how often the root cause is actually correct. Productivity side: time saved per incident, on-call fatigue, faster ramp-up for new engineers, and getting tribal knowledge out of people's heads and into the system.</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Last section, quick one — where we take this next.</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 at a high level, here's how it actually works. Someone triggers an investigation, it runs on Vertex AI as a LangGraph workflow, goes through our Agent Gateway with a scoped identity, out to the cluster, and evidence comes straight back. Every piece of this is live today, nothing here is a future promise.</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This is the actual thinking loop. It figures out where to look, goes and gets the evidence, checks itself — do I have enough, am I confident — and only then writes the RCA. That loop is really the whole point, it's what makes this an investigator and not just a chatbot answering blind.</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Quick section on security, since I know this is usually the first question. Short version: read-only, least-privilege, nothing hardcoded, human still approves every fix.</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Nothing here is aspirational, this is all live. Model Armor filters both directions. IAM is scoped tight, no broad roles. Identity uses Workload Identity, so no static keys sitting around anywhere. Every tool it has is read-only — it can't write or exec anything on the cluster. And the engineer always approves before anything actually changes.</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We didn't want a demo that just looks good, so we actually measured it -- 10 real scenarios, live cluster, real deployed agent. Here's the number I actually care about: zero hallucinated root causes. All 7 completed investigations got the exact root cause right -- not partial credit, the real designed failure every time. The other 3 didn't guess wrong -- they hit the same one permissions gap reading pod logs and said so instead of making something up. One even named the exact missing RoleBinding on its own. I'll show the case-by-case breakdown on the next slide if you want the detail.</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My take — let's not jump straight from this demo into full production. Fix what we found today, run a controlled pilot, and actually measure whether it helps before we go wider. That's it, that's the ask.</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That's everything — happy to take questions, or dig into any part of this live if that's more useful.</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Last thing before we close -- this is the bigger picture, where this scales to over time. Multiple clusters, multiple environments, more data sources, all through the same investigation model we already have working today. We don't rebuild the core every time we add something new.</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This is the case-by-case view, if anyone wants to see exactly what the agent said for each one. Rows 1 through 7 -- correct root cause, every time, real designed failures matched exactly: bad image, missing configmap, missing secret, missing config key, failing probes, bad node selector, missing PVC. Rows 8 through 10 are the ones our eval script marked failed -- but look at what the agent actually said: it didn't invent an answer, it told us logs were blocked by permissions. Row 9 is the one I'd point out specifically -- it even named the exact missing RoleBinding on its own, without us telling it what to look for. That's the behavior we want from an agent operating with production access: say what you know, say what you don't, never guess.</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jp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jp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jp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jpg"/></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jp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jp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jp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jpg"/></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jpg"/></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jpg"/></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jpg"/></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Title with Picture">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137160" y="3882120"/>
            <a:ext cx="8730234" cy="634120"/>
          </a:xfrm>
        </p:spPr>
        <p:txBody>
          <a:bodyPr vert="horz" lIns="91440" tIns="45720" rIns="91440" bIns="45720" rtlCol="0" anchor="b">
            <a:normAutofit/>
          </a:bodyPr>
          <a:lstStyle>
            <a:lvl1pPr>
              <a:defRPr lang="en-US" sz="3300" dirty="0">
                <a:solidFill>
                  <a:schemeClr val="tx2"/>
                </a:solidFill>
              </a:defRPr>
            </a:lvl1pPr>
          </a:lstStyle>
          <a:p>
            <a:pPr lvl="0"/>
            <a:r>
              <a:rPr lang="en-US"/>
              <a:t>Click to edit Master title style</a:t>
            </a:r>
            <a:endParaRPr lang="en-US" dirty="0"/>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157735" y="4485132"/>
            <a:ext cx="8709660" cy="397764"/>
          </a:xfrm>
        </p:spPr>
        <p:txBody>
          <a:bodyPr vert="horz" lIns="91440" tIns="45720" rIns="91440" bIns="45720" rtlCol="0">
            <a:normAutofit/>
          </a:bodyPr>
          <a:lstStyle>
            <a:lvl1pPr marL="0" indent="0">
              <a:buNone/>
              <a:defRPr lang="en-US" sz="1200" dirty="0">
                <a:solidFill>
                  <a:schemeClr val="tx2"/>
                </a:solidFill>
              </a:defRPr>
            </a:lvl1pPr>
          </a:lstStyle>
          <a:p>
            <a:pPr lvl="0"/>
            <a:r>
              <a:rPr lang="en-US"/>
              <a:t>Click to edit Master subtitle style</a:t>
            </a:r>
            <a:endParaRPr lang="en-US" dirty="0"/>
          </a:p>
        </p:txBody>
      </p:sp>
      <p:sp>
        <p:nvSpPr>
          <p:cNvPr id="10" name="Picture Placeholder 9">
            <a:extLst>
              <a:ext uri="{FF2B5EF4-FFF2-40B4-BE49-F238E27FC236}">
                <a16:creationId xmlns:a16="http://schemas.microsoft.com/office/drawing/2014/main" id="{150AF6FA-7D1D-1351-A76E-43C54D28FD68}"/>
              </a:ext>
            </a:extLst>
          </p:cNvPr>
          <p:cNvSpPr>
            <a:spLocks noGrp="1"/>
          </p:cNvSpPr>
          <p:nvPr>
            <p:ph type="pic" sz="quarter" idx="13" hasCustomPrompt="1"/>
          </p:nvPr>
        </p:nvSpPr>
        <p:spPr>
          <a:xfrm>
            <a:off x="205665" y="200025"/>
            <a:ext cx="8737092" cy="3640361"/>
          </a:xfrm>
          <a:custGeom>
            <a:avLst/>
            <a:gdLst>
              <a:gd name="connsiteX0" fmla="*/ 291520 w 11651080"/>
              <a:gd name="connsiteY0" fmla="*/ 0 h 4853814"/>
              <a:gd name="connsiteX1" fmla="*/ 11359560 w 11651080"/>
              <a:gd name="connsiteY1" fmla="*/ 0 h 4853814"/>
              <a:gd name="connsiteX2" fmla="*/ 11651080 w 11651080"/>
              <a:gd name="connsiteY2" fmla="*/ 291520 h 4853814"/>
              <a:gd name="connsiteX3" fmla="*/ 11651080 w 11651080"/>
              <a:gd name="connsiteY3" fmla="*/ 4562294 h 4853814"/>
              <a:gd name="connsiteX4" fmla="*/ 11359560 w 11651080"/>
              <a:gd name="connsiteY4" fmla="*/ 4853814 h 4853814"/>
              <a:gd name="connsiteX5" fmla="*/ 291520 w 11651080"/>
              <a:gd name="connsiteY5" fmla="*/ 4853814 h 4853814"/>
              <a:gd name="connsiteX6" fmla="*/ 0 w 11651080"/>
              <a:gd name="connsiteY6" fmla="*/ 4562294 h 4853814"/>
              <a:gd name="connsiteX7" fmla="*/ 0 w 11651080"/>
              <a:gd name="connsiteY7" fmla="*/ 291520 h 4853814"/>
              <a:gd name="connsiteX8" fmla="*/ 291520 w 11651080"/>
              <a:gd name="connsiteY8" fmla="*/ 0 h 48538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1651080" h="4853814">
                <a:moveTo>
                  <a:pt x="291520" y="0"/>
                </a:moveTo>
                <a:lnTo>
                  <a:pt x="11359560" y="0"/>
                </a:lnTo>
                <a:cubicBezTo>
                  <a:pt x="11520562" y="0"/>
                  <a:pt x="11651080" y="130518"/>
                  <a:pt x="11651080" y="291520"/>
                </a:cubicBezTo>
                <a:lnTo>
                  <a:pt x="11651080" y="4562294"/>
                </a:lnTo>
                <a:cubicBezTo>
                  <a:pt x="11651080" y="4723296"/>
                  <a:pt x="11520562" y="4853814"/>
                  <a:pt x="11359560" y="4853814"/>
                </a:cubicBezTo>
                <a:lnTo>
                  <a:pt x="291520" y="4853814"/>
                </a:lnTo>
                <a:cubicBezTo>
                  <a:pt x="130518" y="4853814"/>
                  <a:pt x="0" y="4723296"/>
                  <a:pt x="0" y="4562294"/>
                </a:cubicBezTo>
                <a:lnTo>
                  <a:pt x="0" y="291520"/>
                </a:lnTo>
                <a:cubicBezTo>
                  <a:pt x="0" y="130518"/>
                  <a:pt x="130518" y="0"/>
                  <a:pt x="291520" y="0"/>
                </a:cubicBezTo>
                <a:close/>
              </a:path>
            </a:pathLst>
          </a:custGeom>
          <a:blipFill dpi="0" rotWithShape="1">
            <a:blip r:embed="rId2">
              <a:alphaModFix amt="70000"/>
            </a:blip>
            <a:srcRect/>
            <a:stretch>
              <a:fillRect/>
            </a:stretch>
          </a:blipFill>
        </p:spPr>
        <p:txBody>
          <a:bodyPr wrap="square">
            <a:noAutofit/>
          </a:bodyPr>
          <a:lstStyle>
            <a:lvl1pPr marL="0" indent="0">
              <a:buNone/>
              <a:defRPr/>
            </a:lvl1pPr>
          </a:lstStyle>
          <a:p>
            <a:r>
              <a:rPr lang="en-US" dirty="0"/>
              <a:t> </a:t>
            </a:r>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a:xfrm>
            <a:off x="137160" y="4793743"/>
            <a:ext cx="2104054" cy="247850"/>
          </a:xfrm>
        </p:spPr>
        <p:txBody>
          <a:bodyPr/>
          <a:lstStyle>
            <a:lvl1pPr>
              <a:defRPr>
                <a:solidFill>
                  <a:schemeClr val="tx2"/>
                </a:solidFill>
                <a:effectLst/>
              </a:defRPr>
            </a:lvl1pPr>
          </a:lstStyle>
          <a:p>
            <a:r>
              <a:rPr lang="en-US"/>
              <a:t>Sample Footer Text</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a:xfrm>
            <a:off x="6103386" y="4793743"/>
            <a:ext cx="2620736" cy="247850"/>
          </a:xfrm>
        </p:spPr>
        <p:txBody>
          <a:bodyPr/>
          <a:lstStyle>
            <a:lvl1pPr algn="r">
              <a:defRPr>
                <a:solidFill>
                  <a:schemeClr val="tx2"/>
                </a:solidFill>
                <a:effectLst/>
              </a:defRPr>
            </a:lvl1pPr>
          </a:lstStyle>
          <a:p>
            <a:fld id="{7FA43F5B-065E-43CE-B3FD-98C48A6F94D7}" type="datetime1">
              <a:rPr lang="en-US" smtClean="0"/>
              <a:t>8/19/26</a:t>
            </a:fld>
            <a:endParaRPr lang="en-US"/>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a:xfrm>
            <a:off x="8724122" y="4793743"/>
            <a:ext cx="321905" cy="247850"/>
          </a:xfrm>
        </p:spPr>
        <p:txBody>
          <a:bodyPr/>
          <a:lstStyle>
            <a:lvl1pPr>
              <a:defRPr>
                <a:solidFill>
                  <a:schemeClr val="tx2"/>
                </a:solidFill>
                <a:effectLst/>
              </a:defRPr>
            </a:lvl1pPr>
          </a:lstStyle>
          <a:p>
            <a:fld id="{2DE90F28-AFBB-4AB2-AA79-6D3F72ED131B}" type="slidenum">
              <a:rPr lang="en-US" smtClean="0"/>
              <a:pPr/>
              <a:t>‹#›</a:t>
            </a:fld>
            <a:endParaRPr lang="en-US"/>
          </a:p>
        </p:txBody>
      </p:sp>
    </p:spTree>
    <p:extLst>
      <p:ext uri="{BB962C8B-B14F-4D97-AF65-F5344CB8AC3E}">
        <p14:creationId xmlns:p14="http://schemas.microsoft.com/office/powerpoint/2010/main" val="4122518712"/>
      </p:ext>
    </p:extLst>
  </p:cSld>
  <p:clrMapOvr>
    <a:overrideClrMapping bg1="dk1" tx1="lt1" bg2="dk2" tx2="lt2" accent1="accent1" accent2="accent2" accent3="accent3" accent4="accent4" accent5="accent5" accent6="accent6" hlink="hlink" folHlink="folHlink"/>
  </p:clrMapOvr>
  <p:hf sldNum="0" hdr="0" ftr="0" dt="0"/>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6C2DD052-3E45-E789-01F8-33250024ECBD}"/>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a:t>Sample Footer Text</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EEE6A364-A39C-470E-B89A-9BD899585684}" type="datetime1">
              <a:rPr lang="en-US" smtClean="0"/>
              <a:pPr/>
              <a:t>8/19/26</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C057153-B650-4DEB-B370-79DDCFDCE934}" type="slidenum">
              <a:rPr lang="en-US" smtClean="0"/>
              <a:pPr/>
              <a:t>‹#›</a:t>
            </a:fld>
            <a:endParaRPr lang="en-US"/>
          </a:p>
        </p:txBody>
      </p:sp>
    </p:spTree>
    <p:extLst>
      <p:ext uri="{BB962C8B-B14F-4D97-AF65-F5344CB8AC3E}">
        <p14:creationId xmlns:p14="http://schemas.microsoft.com/office/powerpoint/2010/main" val="518576403"/>
      </p:ext>
    </p:extLst>
  </p:cSld>
  <p:clrMapOvr>
    <a:masterClrMapping/>
  </p:clrMapOvr>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itle with Picture 2">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5745197" y="156566"/>
            <a:ext cx="3049554" cy="2794453"/>
          </a:xfrm>
        </p:spPr>
        <p:txBody>
          <a:bodyPr vert="horz" lIns="91440" tIns="45720" rIns="91440" bIns="45720" rtlCol="0" anchor="t">
            <a:normAutofit/>
          </a:bodyPr>
          <a:lstStyle>
            <a:lvl1pPr>
              <a:defRPr lang="en-US" sz="3750" dirty="0">
                <a:solidFill>
                  <a:schemeClr val="tx2"/>
                </a:solidFill>
              </a:defRPr>
            </a:lvl1pPr>
          </a:lstStyle>
          <a:p>
            <a:pPr lvl="0"/>
            <a:r>
              <a:rPr lang="en-US"/>
              <a:t>Click to edit Master title style</a:t>
            </a:r>
            <a:endParaRPr lang="en-US" dirty="0"/>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5751547" y="3634740"/>
            <a:ext cx="3049554" cy="1035558"/>
          </a:xfrm>
        </p:spPr>
        <p:txBody>
          <a:bodyPr vert="horz" lIns="91440" tIns="45720" rIns="91440" bIns="45720" rtlCol="0" anchor="b">
            <a:normAutofit/>
          </a:bodyPr>
          <a:lstStyle>
            <a:lvl1pPr marL="0" indent="0">
              <a:buNone/>
              <a:defRPr lang="en-US" sz="1200">
                <a:solidFill>
                  <a:schemeClr val="tx2"/>
                </a:solidFill>
              </a:defRPr>
            </a:lvl1pPr>
          </a:lstStyle>
          <a:p>
            <a:pPr lvl="0"/>
            <a:r>
              <a:rPr lang="en-US"/>
              <a:t>Click to edit Master subtitle style</a:t>
            </a:r>
            <a:endParaRPr lang="en-US" dirty="0"/>
          </a:p>
        </p:txBody>
      </p:sp>
      <p:sp>
        <p:nvSpPr>
          <p:cNvPr id="12" name="Picture Placeholder 11">
            <a:extLst>
              <a:ext uri="{FF2B5EF4-FFF2-40B4-BE49-F238E27FC236}">
                <a16:creationId xmlns:a16="http://schemas.microsoft.com/office/drawing/2014/main" id="{7A934108-77F2-43A6-38EF-C1CDEDD103C2}"/>
              </a:ext>
            </a:extLst>
          </p:cNvPr>
          <p:cNvSpPr>
            <a:spLocks noGrp="1"/>
          </p:cNvSpPr>
          <p:nvPr>
            <p:ph type="pic" sz="quarter" idx="13" hasCustomPrompt="1"/>
          </p:nvPr>
        </p:nvSpPr>
        <p:spPr>
          <a:xfrm>
            <a:off x="205740" y="200025"/>
            <a:ext cx="5429249" cy="4742168"/>
          </a:xfrm>
          <a:custGeom>
            <a:avLst/>
            <a:gdLst>
              <a:gd name="connsiteX0" fmla="*/ 291359 w 7238998"/>
              <a:gd name="connsiteY0" fmla="*/ 0 h 6322891"/>
              <a:gd name="connsiteX1" fmla="*/ 6947639 w 7238998"/>
              <a:gd name="connsiteY1" fmla="*/ 0 h 6322891"/>
              <a:gd name="connsiteX2" fmla="*/ 7238998 w 7238998"/>
              <a:gd name="connsiteY2" fmla="*/ 291359 h 6322891"/>
              <a:gd name="connsiteX3" fmla="*/ 7238998 w 7238998"/>
              <a:gd name="connsiteY3" fmla="*/ 6031532 h 6322891"/>
              <a:gd name="connsiteX4" fmla="*/ 6947639 w 7238998"/>
              <a:gd name="connsiteY4" fmla="*/ 6322891 h 6322891"/>
              <a:gd name="connsiteX5" fmla="*/ 291359 w 7238998"/>
              <a:gd name="connsiteY5" fmla="*/ 6322891 h 6322891"/>
              <a:gd name="connsiteX6" fmla="*/ 0 w 7238998"/>
              <a:gd name="connsiteY6" fmla="*/ 6031532 h 6322891"/>
              <a:gd name="connsiteX7" fmla="*/ 0 w 7238998"/>
              <a:gd name="connsiteY7" fmla="*/ 291359 h 6322891"/>
              <a:gd name="connsiteX8" fmla="*/ 291359 w 7238998"/>
              <a:gd name="connsiteY8" fmla="*/ 0 h 63228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238998" h="6322891">
                <a:moveTo>
                  <a:pt x="291359" y="0"/>
                </a:moveTo>
                <a:lnTo>
                  <a:pt x="6947639" y="0"/>
                </a:lnTo>
                <a:cubicBezTo>
                  <a:pt x="7108552" y="0"/>
                  <a:pt x="7238998" y="130446"/>
                  <a:pt x="7238998" y="291359"/>
                </a:cubicBezTo>
                <a:lnTo>
                  <a:pt x="7238998" y="6031532"/>
                </a:lnTo>
                <a:cubicBezTo>
                  <a:pt x="7238998" y="6192445"/>
                  <a:pt x="7108552" y="6322891"/>
                  <a:pt x="6947639" y="6322891"/>
                </a:cubicBezTo>
                <a:lnTo>
                  <a:pt x="291359" y="6322891"/>
                </a:lnTo>
                <a:cubicBezTo>
                  <a:pt x="130446" y="6322891"/>
                  <a:pt x="0" y="6192445"/>
                  <a:pt x="0" y="6031532"/>
                </a:cubicBezTo>
                <a:lnTo>
                  <a:pt x="0" y="291359"/>
                </a:lnTo>
                <a:cubicBezTo>
                  <a:pt x="0" y="130446"/>
                  <a:pt x="130446" y="0"/>
                  <a:pt x="291359" y="0"/>
                </a:cubicBezTo>
                <a:close/>
              </a:path>
            </a:pathLst>
          </a:custGeom>
          <a:blipFill dpi="0" rotWithShape="1">
            <a:blip r:embed="rId2">
              <a:alphaModFix amt="70000"/>
            </a:blip>
            <a:srcRect/>
            <a:stretch>
              <a:fillRect/>
            </a:stretch>
          </a:blipFill>
        </p:spPr>
        <p:txBody>
          <a:bodyPr wrap="square">
            <a:noAutofit/>
          </a:bodyPr>
          <a:lstStyle>
            <a:lvl1pPr marL="0" indent="0">
              <a:buNone/>
              <a:defRPr/>
            </a:lvl1pPr>
          </a:lstStyle>
          <a:p>
            <a:r>
              <a:rPr lang="en-US" dirty="0"/>
              <a:t> </a:t>
            </a:r>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a:xfrm>
            <a:off x="5749861" y="4793742"/>
            <a:ext cx="2027833" cy="253746"/>
          </a:xfrm>
        </p:spPr>
        <p:txBody>
          <a:bodyPr/>
          <a:lstStyle>
            <a:lvl1pPr>
              <a:defRPr>
                <a:solidFill>
                  <a:schemeClr val="tx2"/>
                </a:solidFill>
              </a:defRPr>
            </a:lvl1pPr>
          </a:lstStyle>
          <a:p>
            <a:r>
              <a:rPr lang="en-US"/>
              <a:t>Sample Footer Text</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a:xfrm>
            <a:off x="7858125" y="4793742"/>
            <a:ext cx="774063" cy="253746"/>
          </a:xfrm>
        </p:spPr>
        <p:txBody>
          <a:bodyPr/>
          <a:lstStyle>
            <a:lvl1pPr>
              <a:defRPr>
                <a:solidFill>
                  <a:schemeClr val="tx2"/>
                </a:solidFill>
                <a:effectLst/>
              </a:defRPr>
            </a:lvl1pPr>
          </a:lstStyle>
          <a:p>
            <a:fld id="{7FA43F5B-065E-43CE-B3FD-98C48A6F94D7}" type="datetime1">
              <a:rPr lang="en-US" smtClean="0"/>
              <a:pPr/>
              <a:t>8/19/26</a:t>
            </a:fld>
            <a:endParaRPr lang="en-US"/>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a:xfrm>
            <a:off x="8632188" y="4791628"/>
            <a:ext cx="342900" cy="253746"/>
          </a:xfrm>
        </p:spPr>
        <p:txBody>
          <a:bodyPr/>
          <a:lstStyle>
            <a:lvl1pPr>
              <a:defRPr>
                <a:solidFill>
                  <a:schemeClr val="tx2"/>
                </a:solidFill>
              </a:defRPr>
            </a:lvl1pPr>
          </a:lstStyle>
          <a:p>
            <a:fld id="{2DE90F28-AFBB-4AB2-AA79-6D3F72ED131B}" type="slidenum">
              <a:rPr lang="en-US" smtClean="0"/>
              <a:pPr/>
              <a:t>‹#›</a:t>
            </a:fld>
            <a:endParaRPr lang="en-US"/>
          </a:p>
        </p:txBody>
      </p:sp>
    </p:spTree>
    <p:extLst>
      <p:ext uri="{BB962C8B-B14F-4D97-AF65-F5344CB8AC3E}">
        <p14:creationId xmlns:p14="http://schemas.microsoft.com/office/powerpoint/2010/main" val="2720843843"/>
      </p:ext>
    </p:extLst>
  </p:cSld>
  <p:clrMapOvr>
    <a:overrideClrMapping bg1="dk1" tx1="lt1" bg2="dk2" tx2="lt2" accent1="accent1" accent2="accent2" accent3="accent3" accent4="accent4" accent5="accent5" accent6="accent6" hlink="hlink" folHlink="folHlink"/>
  </p:clrMapOvr>
  <p:hf sldNum="0" hdr="0" ftr="0" dt="0"/>
  <p:extLst>
    <p:ext uri="{DCECCB84-F9BA-43D5-87BE-67443E8EF086}">
      <p15:sldGuideLst xmlns:p15="http://schemas.microsoft.com/office/powerpoint/2012/main"/>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type="title" preserve="1">
  <p:cSld name="Title">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1513949" y="1147157"/>
            <a:ext cx="6116103" cy="1742912"/>
          </a:xfrm>
        </p:spPr>
        <p:txBody>
          <a:bodyPr anchor="b">
            <a:normAutofit/>
          </a:bodyPr>
          <a:lstStyle>
            <a:lvl1pPr algn="ctr">
              <a:defRPr sz="4050">
                <a:solidFill>
                  <a:schemeClr val="tx2"/>
                </a:solidFill>
              </a:defRPr>
            </a:lvl1pPr>
          </a:lstStyle>
          <a:p>
            <a:r>
              <a:rPr lang="en-US"/>
              <a:t>Click to edit Master title style</a:t>
            </a:r>
            <a:endParaRPr lang="en-US" dirty="0"/>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2333036" y="3040128"/>
            <a:ext cx="4477928" cy="804509"/>
          </a:xfrm>
        </p:spPr>
        <p:txBody>
          <a:bodyPr anchor="t">
            <a:normAutofit/>
          </a:bodyPr>
          <a:lstStyle>
            <a:lvl1pPr marL="0" indent="0" algn="ctr">
              <a:buNone/>
              <a:defRPr sz="1200">
                <a:solidFill>
                  <a:schemeClr val="tx2"/>
                </a:solidFill>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endParaRPr lang="en-US" dirty="0"/>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lvl1pPr>
              <a:defRPr>
                <a:solidFill>
                  <a:schemeClr val="tx2"/>
                </a:solidFill>
              </a:defRPr>
            </a:lvl1pPr>
          </a:lstStyle>
          <a:p>
            <a:r>
              <a:rPr lang="en-US"/>
              <a:t>Sample Footer Text</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lvl1pPr>
              <a:defRPr>
                <a:solidFill>
                  <a:schemeClr val="tx2"/>
                </a:solidFill>
              </a:defRPr>
            </a:lvl1pPr>
          </a:lstStyle>
          <a:p>
            <a:fld id="{7FA43F5B-065E-43CE-B3FD-98C48A6F94D7}" type="datetime1">
              <a:rPr lang="en-US" smtClean="0"/>
              <a:pPr/>
              <a:t>8/19/26</a:t>
            </a:fld>
            <a:endParaRPr lang="en-US"/>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lvl1pPr>
              <a:defRPr>
                <a:solidFill>
                  <a:schemeClr val="tx2"/>
                </a:solidFill>
              </a:defRPr>
            </a:lvl1pPr>
          </a:lstStyle>
          <a:p>
            <a:fld id="{2DE90F28-AFBB-4AB2-AA79-6D3F72ED131B}" type="slidenum">
              <a:rPr lang="en-US" smtClean="0"/>
              <a:pPr/>
              <a:t>‹#›</a:t>
            </a:fld>
            <a:endParaRPr lang="en-US"/>
          </a:p>
        </p:txBody>
      </p:sp>
    </p:spTree>
    <p:extLst>
      <p:ext uri="{BB962C8B-B14F-4D97-AF65-F5344CB8AC3E}">
        <p14:creationId xmlns:p14="http://schemas.microsoft.com/office/powerpoint/2010/main" val="1535240184"/>
      </p:ext>
    </p:extLst>
  </p:cSld>
  <p:clrMapOvr>
    <a:overrideClrMapping bg1="dk1" tx1="lt1" bg2="dk2" tx2="lt2" accent1="accent1" accent2="accent2" accent3="accent3" accent4="accent4" accent5="accent5" accent6="accent6" hlink="hlink" folHlink="folHlink"/>
  </p:clrMapOvr>
  <p:hf sldNum="0"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ection Header">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92EA34-13CC-54C1-DE3D-4F1D5D55C9A7}"/>
              </a:ext>
            </a:extLst>
          </p:cNvPr>
          <p:cNvSpPr>
            <a:spLocks noGrp="1"/>
          </p:cNvSpPr>
          <p:nvPr>
            <p:ph type="title"/>
          </p:nvPr>
        </p:nvSpPr>
        <p:spPr>
          <a:xfrm>
            <a:off x="118297" y="2400300"/>
            <a:ext cx="6752171" cy="2686638"/>
          </a:xfrm>
        </p:spPr>
        <p:txBody>
          <a:bodyPr anchor="b">
            <a:normAutofit/>
          </a:bodyPr>
          <a:lstStyle>
            <a:lvl1pPr>
              <a:defRPr sz="5175">
                <a:solidFill>
                  <a:schemeClr val="tx2"/>
                </a:solidFill>
              </a:defRPr>
            </a:lvl1pPr>
          </a:lstStyle>
          <a:p>
            <a:r>
              <a:rPr lang="en-US"/>
              <a:t>Click to edit Master title style</a:t>
            </a:r>
            <a:endParaRPr lang="en-US" dirty="0"/>
          </a:p>
        </p:txBody>
      </p:sp>
      <p:sp>
        <p:nvSpPr>
          <p:cNvPr id="5" name="Footer Placeholder 4">
            <a:extLst>
              <a:ext uri="{FF2B5EF4-FFF2-40B4-BE49-F238E27FC236}">
                <a16:creationId xmlns:a16="http://schemas.microsoft.com/office/drawing/2014/main" id="{9F1849E7-8E94-3B02-239C-AAB481596BFD}"/>
              </a:ext>
            </a:extLst>
          </p:cNvPr>
          <p:cNvSpPr>
            <a:spLocks noGrp="1"/>
          </p:cNvSpPr>
          <p:nvPr>
            <p:ph type="ftr" sz="quarter" idx="11"/>
          </p:nvPr>
        </p:nvSpPr>
        <p:spPr>
          <a:xfrm>
            <a:off x="134028" y="105912"/>
            <a:ext cx="2027833" cy="253746"/>
          </a:xfrm>
        </p:spPr>
        <p:txBody>
          <a:bodyPr/>
          <a:lstStyle>
            <a:lvl1pPr>
              <a:defRPr>
                <a:solidFill>
                  <a:schemeClr val="tx2"/>
                </a:solidFill>
              </a:defRPr>
            </a:lvl1pPr>
          </a:lstStyle>
          <a:p>
            <a:r>
              <a:rPr lang="en-US"/>
              <a:t>Sample Footer Text</a:t>
            </a:r>
          </a:p>
        </p:txBody>
      </p:sp>
      <p:sp>
        <p:nvSpPr>
          <p:cNvPr id="4" name="Date Placeholder 3">
            <a:extLst>
              <a:ext uri="{FF2B5EF4-FFF2-40B4-BE49-F238E27FC236}">
                <a16:creationId xmlns:a16="http://schemas.microsoft.com/office/drawing/2014/main" id="{8F845713-EE4C-7615-B812-531C14CF0CA2}"/>
              </a:ext>
            </a:extLst>
          </p:cNvPr>
          <p:cNvSpPr>
            <a:spLocks noGrp="1"/>
          </p:cNvSpPr>
          <p:nvPr>
            <p:ph type="dt" sz="half" idx="10"/>
          </p:nvPr>
        </p:nvSpPr>
        <p:spPr>
          <a:xfrm>
            <a:off x="7858125" y="105912"/>
            <a:ext cx="774063" cy="253746"/>
          </a:xfrm>
        </p:spPr>
        <p:txBody>
          <a:bodyPr/>
          <a:lstStyle>
            <a:lvl1pPr>
              <a:defRPr>
                <a:solidFill>
                  <a:schemeClr val="tx2"/>
                </a:solidFill>
              </a:defRPr>
            </a:lvl1pPr>
          </a:lstStyle>
          <a:p>
            <a:fld id="{EEE2A7A0-B9EE-41A8-8016-28E5803F20B2}" type="datetime1">
              <a:rPr lang="en-US" smtClean="0"/>
              <a:pPr/>
              <a:t>8/19/26</a:t>
            </a:fld>
            <a:endParaRPr lang="en-US"/>
          </a:p>
        </p:txBody>
      </p:sp>
      <p:sp>
        <p:nvSpPr>
          <p:cNvPr id="6" name="Slide Number Placeholder 5">
            <a:extLst>
              <a:ext uri="{FF2B5EF4-FFF2-40B4-BE49-F238E27FC236}">
                <a16:creationId xmlns:a16="http://schemas.microsoft.com/office/drawing/2014/main" id="{70644BD7-C050-D052-8408-65ADAAF674FF}"/>
              </a:ext>
            </a:extLst>
          </p:cNvPr>
          <p:cNvSpPr>
            <a:spLocks noGrp="1"/>
          </p:cNvSpPr>
          <p:nvPr>
            <p:ph type="sldNum" sz="quarter" idx="12"/>
          </p:nvPr>
        </p:nvSpPr>
        <p:spPr>
          <a:xfrm>
            <a:off x="8632188" y="105912"/>
            <a:ext cx="342900" cy="253746"/>
          </a:xfrm>
        </p:spPr>
        <p:txBody>
          <a:bodyPr/>
          <a:lstStyle>
            <a:lvl1pPr>
              <a:defRPr>
                <a:solidFill>
                  <a:schemeClr val="tx2"/>
                </a:solidFill>
              </a:defRPr>
            </a:lvl1pPr>
          </a:lstStyle>
          <a:p>
            <a:fld id="{CC057153-B650-4DEB-B370-79DDCFDCE934}" type="slidenum">
              <a:rPr lang="en-US" smtClean="0"/>
              <a:pPr/>
              <a:t>‹#›</a:t>
            </a:fld>
            <a:endParaRPr lang="en-US"/>
          </a:p>
        </p:txBody>
      </p:sp>
    </p:spTree>
    <p:extLst>
      <p:ext uri="{BB962C8B-B14F-4D97-AF65-F5344CB8AC3E}">
        <p14:creationId xmlns:p14="http://schemas.microsoft.com/office/powerpoint/2010/main" val="2863426054"/>
      </p:ext>
    </p:extLst>
  </p:cSld>
  <p:clrMapOvr>
    <a:overrideClrMapping bg1="dk1" tx1="lt1" bg2="dk2" tx2="lt2" accent1="accent1" accent2="accent2" accent3="accent3" accent4="accent4" accent5="accent5" accent6="accent6" hlink="hlink" folHlink="folHlink"/>
  </p:clrMapOvr>
  <p:hf sldNum="0" hdr="0" ftr="0" dt="0"/>
  <p:extLst>
    <p:ext uri="{DCECCB84-F9BA-43D5-87BE-67443E8EF086}">
      <p15:sldGuideLst xmlns:p15="http://schemas.microsoft.com/office/powerpoint/2012/main"/>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Agenda">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4019F8-742E-9EEF-F591-C9666AC32AF1}"/>
              </a:ext>
            </a:extLst>
          </p:cNvPr>
          <p:cNvSpPr>
            <a:spLocks noGrp="1"/>
          </p:cNvSpPr>
          <p:nvPr>
            <p:ph type="title"/>
          </p:nvPr>
        </p:nvSpPr>
        <p:spPr>
          <a:xfrm>
            <a:off x="100362" y="142267"/>
            <a:ext cx="8506429" cy="1222114"/>
          </a:xfrm>
        </p:spPr>
        <p:txBody>
          <a:bodyPr anchor="t">
            <a:normAutofit/>
          </a:bodyPr>
          <a:lstStyle>
            <a:lvl1pPr>
              <a:defRPr sz="5700" baseline="0"/>
            </a:lvl1pPr>
          </a:lstStyle>
          <a:p>
            <a:r>
              <a:rPr lang="en-US"/>
              <a:t>Click to edit Master title style</a:t>
            </a:r>
            <a:endParaRPr lang="en-US" dirty="0"/>
          </a:p>
        </p:txBody>
      </p:sp>
      <p:sp>
        <p:nvSpPr>
          <p:cNvPr id="7" name="Content Placeholder 6">
            <a:extLst>
              <a:ext uri="{FF2B5EF4-FFF2-40B4-BE49-F238E27FC236}">
                <a16:creationId xmlns:a16="http://schemas.microsoft.com/office/drawing/2014/main" id="{28C8B19A-6FC1-2B71-0BFB-9274CBF396B9}"/>
              </a:ext>
            </a:extLst>
          </p:cNvPr>
          <p:cNvSpPr>
            <a:spLocks noGrp="1"/>
          </p:cNvSpPr>
          <p:nvPr>
            <p:ph sz="quarter" idx="13"/>
          </p:nvPr>
        </p:nvSpPr>
        <p:spPr>
          <a:xfrm>
            <a:off x="4572000" y="1771650"/>
            <a:ext cx="4371975" cy="2857500"/>
          </a:xfrm>
        </p:spPr>
        <p:txBody>
          <a:bodyPr vert="horz" lIns="91440" tIns="45720" rIns="91440" bIns="45720" rtlCol="0" anchor="b">
            <a:normAutofit/>
          </a:bodyPr>
          <a:lstStyle>
            <a:lvl1pPr marL="342900" indent="-342900">
              <a:buFont typeface="+mj-lt"/>
              <a:buAutoNum type="arabicPeriod"/>
              <a:defRPr lang="en-US" sz="1200" dirty="0"/>
            </a:lvl1pPr>
            <a:lvl2pPr marL="428625" indent="-257175">
              <a:buFont typeface="+mj-lt"/>
              <a:buAutoNum type="arabicPeriod"/>
              <a:defRPr lang="en-US" sz="1200" dirty="0"/>
            </a:lvl2pPr>
            <a:lvl3pPr marL="600075" indent="-257175">
              <a:buFont typeface="+mj-lt"/>
              <a:buAutoNum type="arabicPeriod"/>
              <a:defRPr lang="en-US" sz="1200" dirty="0"/>
            </a:lvl3pPr>
            <a:lvl4pPr>
              <a:buFont typeface="+mj-lt"/>
              <a:buAutoNum type="arabicPeriod"/>
              <a:defRPr lang="en-US" sz="1200" dirty="0"/>
            </a:lvl4pPr>
            <a:lvl5pPr>
              <a:buFont typeface="+mj-lt"/>
              <a:buAutoNum type="arabicPeriod"/>
              <a:defRPr lang="en-US" sz="1200"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Footer Placeholder 3">
            <a:extLst>
              <a:ext uri="{FF2B5EF4-FFF2-40B4-BE49-F238E27FC236}">
                <a16:creationId xmlns:a16="http://schemas.microsoft.com/office/drawing/2014/main" id="{0B12CFE6-D05E-5478-B3A4-81DC4DCD7410}"/>
              </a:ext>
            </a:extLst>
          </p:cNvPr>
          <p:cNvSpPr>
            <a:spLocks noGrp="1"/>
          </p:cNvSpPr>
          <p:nvPr>
            <p:ph type="ftr" sz="quarter" idx="11"/>
          </p:nvPr>
        </p:nvSpPr>
        <p:spPr/>
        <p:txBody>
          <a:bodyPr/>
          <a:lstStyle/>
          <a:p>
            <a:r>
              <a:rPr lang="en-US"/>
              <a:t>Sample Footer Text</a:t>
            </a:r>
          </a:p>
        </p:txBody>
      </p:sp>
      <p:sp>
        <p:nvSpPr>
          <p:cNvPr id="3" name="Date Placeholder 2">
            <a:extLst>
              <a:ext uri="{FF2B5EF4-FFF2-40B4-BE49-F238E27FC236}">
                <a16:creationId xmlns:a16="http://schemas.microsoft.com/office/drawing/2014/main" id="{6CC77F2D-39D2-22F7-CF0B-39D63EBF00B7}"/>
              </a:ext>
            </a:extLst>
          </p:cNvPr>
          <p:cNvSpPr>
            <a:spLocks noGrp="1"/>
          </p:cNvSpPr>
          <p:nvPr>
            <p:ph type="dt" sz="half" idx="10"/>
          </p:nvPr>
        </p:nvSpPr>
        <p:spPr/>
        <p:txBody>
          <a:bodyPr/>
          <a:lstStyle/>
          <a:p>
            <a:fld id="{F53D6F41-6645-4089-A6BB-7B692A44A4CC}" type="datetime1">
              <a:rPr lang="en-US" smtClean="0"/>
              <a:pPr/>
              <a:t>8/19/26</a:t>
            </a:fld>
            <a:endParaRPr lang="en-US"/>
          </a:p>
        </p:txBody>
      </p:sp>
      <p:sp>
        <p:nvSpPr>
          <p:cNvPr id="5" name="Slide Number Placeholder 4">
            <a:extLst>
              <a:ext uri="{FF2B5EF4-FFF2-40B4-BE49-F238E27FC236}">
                <a16:creationId xmlns:a16="http://schemas.microsoft.com/office/drawing/2014/main" id="{626B86D3-24E1-029E-BA22-9F17F9517D65}"/>
              </a:ext>
            </a:extLst>
          </p:cNvPr>
          <p:cNvSpPr>
            <a:spLocks noGrp="1"/>
          </p:cNvSpPr>
          <p:nvPr>
            <p:ph type="sldNum" sz="quarter" idx="12"/>
          </p:nvPr>
        </p:nvSpPr>
        <p:spPr/>
        <p:txBody>
          <a:bodyPr/>
          <a:lstStyle/>
          <a:p>
            <a:fld id="{CC057153-B650-4DEB-B370-79DDCFDCE934}" type="slidenum">
              <a:rPr lang="en-US" smtClean="0"/>
              <a:pPr/>
              <a:t>‹#›</a:t>
            </a:fld>
            <a:endParaRPr lang="en-US"/>
          </a:p>
        </p:txBody>
      </p:sp>
    </p:spTree>
    <p:extLst>
      <p:ext uri="{BB962C8B-B14F-4D97-AF65-F5344CB8AC3E}">
        <p14:creationId xmlns:p14="http://schemas.microsoft.com/office/powerpoint/2010/main" val="3913466510"/>
      </p:ext>
    </p:extLst>
  </p:cSld>
  <p:clrMapOvr>
    <a:overrideClrMapping bg1="lt1" tx1="dk1" bg2="lt2" tx2="dk2" accent1="accent1" accent2="accent2" accent3="accent3" accent4="accent4" accent5="accent5" accent6="accent6" hlink="hlink" folHlink="folHlink"/>
  </p:clrMapOvr>
  <p:hf sldNum="0"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Agenda with Picture">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4019F8-742E-9EEF-F591-C9666AC32AF1}"/>
              </a:ext>
            </a:extLst>
          </p:cNvPr>
          <p:cNvSpPr>
            <a:spLocks noGrp="1"/>
          </p:cNvSpPr>
          <p:nvPr>
            <p:ph type="title"/>
          </p:nvPr>
        </p:nvSpPr>
        <p:spPr>
          <a:xfrm>
            <a:off x="137160" y="3046397"/>
            <a:ext cx="4434840" cy="1701269"/>
          </a:xfrm>
        </p:spPr>
        <p:txBody>
          <a:bodyPr anchor="t">
            <a:normAutofit/>
          </a:bodyPr>
          <a:lstStyle>
            <a:lvl1pPr>
              <a:defRPr sz="4350"/>
            </a:lvl1pPr>
          </a:lstStyle>
          <a:p>
            <a:r>
              <a:rPr lang="en-US"/>
              <a:t>Click to edit Master title style</a:t>
            </a:r>
            <a:endParaRPr lang="en-US" dirty="0"/>
          </a:p>
        </p:txBody>
      </p:sp>
      <p:sp>
        <p:nvSpPr>
          <p:cNvPr id="16" name="Picture Placeholder 15">
            <a:extLst>
              <a:ext uri="{FF2B5EF4-FFF2-40B4-BE49-F238E27FC236}">
                <a16:creationId xmlns:a16="http://schemas.microsoft.com/office/drawing/2014/main" id="{F88BC23C-4171-DFCF-3175-10D2602FF561}"/>
              </a:ext>
            </a:extLst>
          </p:cNvPr>
          <p:cNvSpPr>
            <a:spLocks noGrp="1"/>
          </p:cNvSpPr>
          <p:nvPr>
            <p:ph type="pic" sz="quarter" idx="14" hasCustomPrompt="1"/>
          </p:nvPr>
        </p:nvSpPr>
        <p:spPr>
          <a:xfrm>
            <a:off x="205740" y="201381"/>
            <a:ext cx="8737092" cy="2706814"/>
          </a:xfrm>
          <a:custGeom>
            <a:avLst/>
            <a:gdLst>
              <a:gd name="connsiteX0" fmla="*/ 283385 w 11658600"/>
              <a:gd name="connsiteY0" fmla="*/ 0 h 3609085"/>
              <a:gd name="connsiteX1" fmla="*/ 11375215 w 11658600"/>
              <a:gd name="connsiteY1" fmla="*/ 0 h 3609085"/>
              <a:gd name="connsiteX2" fmla="*/ 11658600 w 11658600"/>
              <a:gd name="connsiteY2" fmla="*/ 283385 h 3609085"/>
              <a:gd name="connsiteX3" fmla="*/ 11658600 w 11658600"/>
              <a:gd name="connsiteY3" fmla="*/ 3325700 h 3609085"/>
              <a:gd name="connsiteX4" fmla="*/ 11375215 w 11658600"/>
              <a:gd name="connsiteY4" fmla="*/ 3609085 h 3609085"/>
              <a:gd name="connsiteX5" fmla="*/ 283385 w 11658600"/>
              <a:gd name="connsiteY5" fmla="*/ 3609085 h 3609085"/>
              <a:gd name="connsiteX6" fmla="*/ 0 w 11658600"/>
              <a:gd name="connsiteY6" fmla="*/ 3325700 h 3609085"/>
              <a:gd name="connsiteX7" fmla="*/ 0 w 11658600"/>
              <a:gd name="connsiteY7" fmla="*/ 283385 h 3609085"/>
              <a:gd name="connsiteX8" fmla="*/ 283385 w 11658600"/>
              <a:gd name="connsiteY8" fmla="*/ 0 h 36090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1658600" h="3609085">
                <a:moveTo>
                  <a:pt x="283385" y="0"/>
                </a:moveTo>
                <a:lnTo>
                  <a:pt x="11375215" y="0"/>
                </a:lnTo>
                <a:cubicBezTo>
                  <a:pt x="11531724" y="0"/>
                  <a:pt x="11658600" y="126876"/>
                  <a:pt x="11658600" y="283385"/>
                </a:cubicBezTo>
                <a:lnTo>
                  <a:pt x="11658600" y="3325700"/>
                </a:lnTo>
                <a:cubicBezTo>
                  <a:pt x="11658600" y="3482209"/>
                  <a:pt x="11531724" y="3609085"/>
                  <a:pt x="11375215" y="3609085"/>
                </a:cubicBezTo>
                <a:lnTo>
                  <a:pt x="283385" y="3609085"/>
                </a:lnTo>
                <a:cubicBezTo>
                  <a:pt x="126876" y="3609085"/>
                  <a:pt x="0" y="3482209"/>
                  <a:pt x="0" y="3325700"/>
                </a:cubicBezTo>
                <a:lnTo>
                  <a:pt x="0" y="283385"/>
                </a:lnTo>
                <a:cubicBezTo>
                  <a:pt x="0" y="126876"/>
                  <a:pt x="126876" y="0"/>
                  <a:pt x="283385" y="0"/>
                </a:cubicBezTo>
                <a:close/>
              </a:path>
            </a:pathLst>
          </a:custGeom>
          <a:blipFill>
            <a:blip r:embed="rId2">
              <a:alphaModFix amt="60000"/>
            </a:blip>
            <a:stretch>
              <a:fillRect/>
            </a:stretch>
          </a:blipFill>
        </p:spPr>
        <p:txBody>
          <a:bodyPr wrap="square">
            <a:noAutofit/>
          </a:bodyPr>
          <a:lstStyle>
            <a:lvl1pPr marL="0" indent="0">
              <a:buNone/>
              <a:defRPr/>
            </a:lvl1pPr>
          </a:lstStyle>
          <a:p>
            <a:r>
              <a:rPr lang="en-US" dirty="0"/>
              <a:t>  </a:t>
            </a:r>
          </a:p>
        </p:txBody>
      </p:sp>
      <p:sp>
        <p:nvSpPr>
          <p:cNvPr id="7" name="Content Placeholder 6">
            <a:extLst>
              <a:ext uri="{FF2B5EF4-FFF2-40B4-BE49-F238E27FC236}">
                <a16:creationId xmlns:a16="http://schemas.microsoft.com/office/drawing/2014/main" id="{28C8B19A-6FC1-2B71-0BFB-9274CBF396B9}"/>
              </a:ext>
            </a:extLst>
          </p:cNvPr>
          <p:cNvSpPr>
            <a:spLocks noGrp="1"/>
          </p:cNvSpPr>
          <p:nvPr>
            <p:ph sz="quarter" idx="13"/>
          </p:nvPr>
        </p:nvSpPr>
        <p:spPr>
          <a:xfrm>
            <a:off x="5636980" y="3029338"/>
            <a:ext cx="3314701" cy="1701270"/>
          </a:xfrm>
        </p:spPr>
        <p:txBody>
          <a:bodyPr vert="horz" lIns="91440" tIns="45720" rIns="91440" bIns="45720" rtlCol="0">
            <a:normAutofit/>
          </a:bodyPr>
          <a:lstStyle>
            <a:lvl1pPr marL="257175" indent="-257175">
              <a:buFont typeface="+mj-lt"/>
              <a:buAutoNum type="arabicPeriod"/>
              <a:defRPr lang="en-US" sz="1050" dirty="0"/>
            </a:lvl1pPr>
            <a:lvl2pPr marL="428625" indent="-257175">
              <a:buFont typeface="+mj-lt"/>
              <a:buAutoNum type="arabicPeriod"/>
              <a:defRPr lang="en-US" sz="1050" dirty="0"/>
            </a:lvl2pPr>
            <a:lvl3pPr marL="600075" indent="-257175">
              <a:buFont typeface="+mj-lt"/>
              <a:buAutoNum type="arabicPeriod"/>
              <a:defRPr lang="en-US" sz="1050" dirty="0"/>
            </a:lvl3pPr>
            <a:lvl4pPr>
              <a:buFont typeface="+mj-lt"/>
              <a:buAutoNum type="arabicPeriod"/>
              <a:defRPr lang="en-US" sz="1050" dirty="0"/>
            </a:lvl4pPr>
            <a:lvl5pPr>
              <a:buFont typeface="+mj-lt"/>
              <a:buAutoNum type="arabicPeriod"/>
              <a:defRPr lang="en-US" sz="1050" dirty="0"/>
            </a:lvl5pPr>
          </a:lstStyle>
          <a:p>
            <a:pPr marL="171450" lvl="0" indent="-171450"/>
            <a:r>
              <a:rPr lang="en-US"/>
              <a:t>Click to edit Master text styles</a:t>
            </a:r>
          </a:p>
          <a:p>
            <a:pPr marL="171450" lvl="1" indent="-171450"/>
            <a:r>
              <a:rPr lang="en-US"/>
              <a:t>Second level</a:t>
            </a:r>
          </a:p>
          <a:p>
            <a:pPr marL="171450" lvl="2" indent="-171450"/>
            <a:r>
              <a:rPr lang="en-US"/>
              <a:t>Third level</a:t>
            </a:r>
          </a:p>
          <a:p>
            <a:pPr marL="171450" lvl="3" indent="-171450"/>
            <a:r>
              <a:rPr lang="en-US"/>
              <a:t>Fourth level</a:t>
            </a:r>
          </a:p>
          <a:p>
            <a:pPr marL="171450" lvl="4" indent="-171450"/>
            <a:r>
              <a:rPr lang="en-US"/>
              <a:t>Fifth level</a:t>
            </a:r>
            <a:endParaRPr lang="en-US" dirty="0"/>
          </a:p>
        </p:txBody>
      </p:sp>
      <p:sp>
        <p:nvSpPr>
          <p:cNvPr id="4" name="Footer Placeholder 3">
            <a:extLst>
              <a:ext uri="{FF2B5EF4-FFF2-40B4-BE49-F238E27FC236}">
                <a16:creationId xmlns:a16="http://schemas.microsoft.com/office/drawing/2014/main" id="{0B12CFE6-D05E-5478-B3A4-81DC4DCD7410}"/>
              </a:ext>
            </a:extLst>
          </p:cNvPr>
          <p:cNvSpPr>
            <a:spLocks noGrp="1"/>
          </p:cNvSpPr>
          <p:nvPr>
            <p:ph type="ftr" sz="quarter" idx="11"/>
          </p:nvPr>
        </p:nvSpPr>
        <p:spPr>
          <a:xfrm>
            <a:off x="137160" y="4790803"/>
            <a:ext cx="2027833" cy="253746"/>
          </a:xfrm>
        </p:spPr>
        <p:txBody>
          <a:bodyPr/>
          <a:lstStyle/>
          <a:p>
            <a:r>
              <a:rPr lang="en-US"/>
              <a:t>Sample Footer Text</a:t>
            </a:r>
          </a:p>
        </p:txBody>
      </p:sp>
      <p:sp>
        <p:nvSpPr>
          <p:cNvPr id="3" name="Date Placeholder 2">
            <a:extLst>
              <a:ext uri="{FF2B5EF4-FFF2-40B4-BE49-F238E27FC236}">
                <a16:creationId xmlns:a16="http://schemas.microsoft.com/office/drawing/2014/main" id="{6CC77F2D-39D2-22F7-CF0B-39D63EBF00B7}"/>
              </a:ext>
            </a:extLst>
          </p:cNvPr>
          <p:cNvSpPr>
            <a:spLocks noGrp="1"/>
          </p:cNvSpPr>
          <p:nvPr>
            <p:ph type="dt" sz="half" idx="10"/>
          </p:nvPr>
        </p:nvSpPr>
        <p:spPr/>
        <p:txBody>
          <a:bodyPr/>
          <a:lstStyle/>
          <a:p>
            <a:fld id="{7FA43F5B-065E-43CE-B3FD-98C48A6F94D7}" type="datetime1">
              <a:rPr lang="en-US" smtClean="0"/>
              <a:pPr/>
              <a:t>8/19/26</a:t>
            </a:fld>
            <a:endParaRPr lang="en-US"/>
          </a:p>
        </p:txBody>
      </p:sp>
      <p:sp>
        <p:nvSpPr>
          <p:cNvPr id="5" name="Slide Number Placeholder 4">
            <a:extLst>
              <a:ext uri="{FF2B5EF4-FFF2-40B4-BE49-F238E27FC236}">
                <a16:creationId xmlns:a16="http://schemas.microsoft.com/office/drawing/2014/main" id="{626B86D3-24E1-029E-BA22-9F17F9517D65}"/>
              </a:ext>
            </a:extLst>
          </p:cNvPr>
          <p:cNvSpPr>
            <a:spLocks noGrp="1"/>
          </p:cNvSpPr>
          <p:nvPr>
            <p:ph type="sldNum" sz="quarter" idx="12"/>
          </p:nvPr>
        </p:nvSpPr>
        <p:spPr/>
        <p:txBody>
          <a:bodyPr/>
          <a:lstStyle/>
          <a:p>
            <a:fld id="{2DE90F28-AFBB-4AB2-AA79-6D3F72ED131B}" type="slidenum">
              <a:rPr lang="en-US" smtClean="0"/>
              <a:pPr/>
              <a:t>‹#›</a:t>
            </a:fld>
            <a:endParaRPr lang="en-US"/>
          </a:p>
        </p:txBody>
      </p:sp>
    </p:spTree>
    <p:extLst>
      <p:ext uri="{BB962C8B-B14F-4D97-AF65-F5344CB8AC3E}">
        <p14:creationId xmlns:p14="http://schemas.microsoft.com/office/powerpoint/2010/main" val="1603474715"/>
      </p:ext>
    </p:extLst>
  </p:cSld>
  <p:clrMapOvr>
    <a:overrideClrMapping bg1="lt1" tx1="dk1" bg2="lt2" tx2="dk2" accent1="accent1" accent2="accent2" accent3="accent3" accent4="accent4" accent5="accent5" accent6="accent6" hlink="hlink" folHlink="folHlink"/>
  </p:clrMapOvr>
  <p:hf sldNum="0"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Content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918848" y="1228724"/>
            <a:ext cx="2486025" cy="2904951"/>
          </a:xfrm>
        </p:spPr>
        <p:txBody>
          <a:bodyPr anchor="t">
            <a:normAutofit/>
          </a:bodyPr>
          <a:lstStyle>
            <a:lvl1pPr>
              <a:defRPr sz="2250"/>
            </a:lvl1pPr>
          </a:lstStyle>
          <a:p>
            <a:r>
              <a:rPr lang="en-US"/>
              <a:t>Click to edit Master title style</a:t>
            </a:r>
            <a:endParaRPr lang="en-US" dirty="0"/>
          </a:p>
        </p:txBody>
      </p:sp>
      <p:sp>
        <p:nvSpPr>
          <p:cNvPr id="8" name="Content Placeholder 7">
            <a:extLst>
              <a:ext uri="{FF2B5EF4-FFF2-40B4-BE49-F238E27FC236}">
                <a16:creationId xmlns:a16="http://schemas.microsoft.com/office/drawing/2014/main" id="{FFB4667A-FE47-8556-FD3A-55FDBA801D76}"/>
              </a:ext>
            </a:extLst>
          </p:cNvPr>
          <p:cNvSpPr>
            <a:spLocks noGrp="1"/>
          </p:cNvSpPr>
          <p:nvPr>
            <p:ph sz="quarter" idx="13"/>
          </p:nvPr>
        </p:nvSpPr>
        <p:spPr>
          <a:xfrm>
            <a:off x="3675764" y="1228725"/>
            <a:ext cx="4560570" cy="2904950"/>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a:t>Sample Footer Text</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258B73AF-3955-4569-8B4F-B329360A9CBD}" type="datetime1">
              <a:rPr lang="en-US" smtClean="0"/>
              <a:pPr/>
              <a:t>8/19/26</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C057153-B650-4DEB-B370-79DDCFDCE934}" type="slidenum">
              <a:rPr lang="en-US" smtClean="0"/>
              <a:pPr/>
              <a:t>‹#›</a:t>
            </a:fld>
            <a:endParaRPr lang="en-US"/>
          </a:p>
        </p:txBody>
      </p:sp>
    </p:spTree>
    <p:extLst>
      <p:ext uri="{BB962C8B-B14F-4D97-AF65-F5344CB8AC3E}">
        <p14:creationId xmlns:p14="http://schemas.microsoft.com/office/powerpoint/2010/main" val="3082329946"/>
      </p:ext>
    </p:extLst>
  </p:cSld>
  <p:clrMapOvr>
    <a:masterClrMapping/>
  </p:clrMapOvr>
  <p:hf sldNum="0"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Content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137160" y="164593"/>
            <a:ext cx="2482796" cy="3043595"/>
          </a:xfrm>
        </p:spPr>
        <p:txBody>
          <a:bodyPr anchor="t">
            <a:normAutofit/>
          </a:bodyPr>
          <a:lstStyle>
            <a:lvl1pPr>
              <a:defRPr sz="2250"/>
            </a:lvl1pPr>
          </a:lstStyle>
          <a:p>
            <a:r>
              <a:rPr lang="en-US"/>
              <a:t>Click to edit Master title style</a:t>
            </a:r>
            <a:endParaRPr lang="en-US" dirty="0"/>
          </a:p>
        </p:txBody>
      </p:sp>
      <p:sp>
        <p:nvSpPr>
          <p:cNvPr id="8" name="Content Placeholder 7">
            <a:extLst>
              <a:ext uri="{FF2B5EF4-FFF2-40B4-BE49-F238E27FC236}">
                <a16:creationId xmlns:a16="http://schemas.microsoft.com/office/drawing/2014/main" id="{C6F072A2-EBC7-B7EA-DA98-BAC0AA46E7A4}"/>
              </a:ext>
            </a:extLst>
          </p:cNvPr>
          <p:cNvSpPr>
            <a:spLocks noGrp="1"/>
          </p:cNvSpPr>
          <p:nvPr>
            <p:ph sz="quarter" idx="13"/>
          </p:nvPr>
        </p:nvSpPr>
        <p:spPr>
          <a:xfrm>
            <a:off x="2979506" y="200025"/>
            <a:ext cx="5766371" cy="4535877"/>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a:t>Sample Footer Text</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B0ADC593-EA98-4C39-A75F-3F3A9C691019}" type="datetime1">
              <a:rPr lang="en-US" smtClean="0"/>
              <a:pPr/>
              <a:t>8/19/26</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C057153-B650-4DEB-B370-79DDCFDCE934}" type="slidenum">
              <a:rPr lang="en-US" smtClean="0"/>
              <a:pPr/>
              <a:t>‹#›</a:t>
            </a:fld>
            <a:endParaRPr lang="en-US"/>
          </a:p>
        </p:txBody>
      </p:sp>
    </p:spTree>
    <p:extLst>
      <p:ext uri="{BB962C8B-B14F-4D97-AF65-F5344CB8AC3E}">
        <p14:creationId xmlns:p14="http://schemas.microsoft.com/office/powerpoint/2010/main" val="1227588677"/>
      </p:ext>
    </p:extLst>
  </p:cSld>
  <p:clrMapOvr>
    <a:masterClrMapping/>
  </p:clrMapOvr>
  <p:hf sldNum="0"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Content with Pictur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3689644" y="164592"/>
            <a:ext cx="4782410" cy="799505"/>
          </a:xfrm>
        </p:spPr>
        <p:txBody>
          <a:bodyPr anchor="t"/>
          <a:lstStyle/>
          <a:p>
            <a:r>
              <a:rPr lang="en-US"/>
              <a:t>Click to edit Master title style</a:t>
            </a:r>
            <a:endParaRPr lang="en-US" dirty="0"/>
          </a:p>
        </p:txBody>
      </p:sp>
      <p:sp>
        <p:nvSpPr>
          <p:cNvPr id="10" name="Picture Placeholder 9">
            <a:extLst>
              <a:ext uri="{FF2B5EF4-FFF2-40B4-BE49-F238E27FC236}">
                <a16:creationId xmlns:a16="http://schemas.microsoft.com/office/drawing/2014/main" id="{AC455FC9-9346-2F53-C58C-5C64036CD926}"/>
              </a:ext>
            </a:extLst>
          </p:cNvPr>
          <p:cNvSpPr>
            <a:spLocks noGrp="1"/>
          </p:cNvSpPr>
          <p:nvPr>
            <p:ph type="pic" sz="quarter" idx="13" hasCustomPrompt="1"/>
          </p:nvPr>
        </p:nvSpPr>
        <p:spPr>
          <a:xfrm>
            <a:off x="205740" y="201430"/>
            <a:ext cx="3314700" cy="4744477"/>
          </a:xfrm>
          <a:custGeom>
            <a:avLst/>
            <a:gdLst>
              <a:gd name="connsiteX0" fmla="*/ 300746 w 4381500"/>
              <a:gd name="connsiteY0" fmla="*/ 0 h 6290961"/>
              <a:gd name="connsiteX1" fmla="*/ 4080754 w 4381500"/>
              <a:gd name="connsiteY1" fmla="*/ 0 h 6290961"/>
              <a:gd name="connsiteX2" fmla="*/ 4381500 w 4381500"/>
              <a:gd name="connsiteY2" fmla="*/ 300746 h 6290961"/>
              <a:gd name="connsiteX3" fmla="*/ 4381500 w 4381500"/>
              <a:gd name="connsiteY3" fmla="*/ 5990215 h 6290961"/>
              <a:gd name="connsiteX4" fmla="*/ 4080754 w 4381500"/>
              <a:gd name="connsiteY4" fmla="*/ 6290961 h 6290961"/>
              <a:gd name="connsiteX5" fmla="*/ 300746 w 4381500"/>
              <a:gd name="connsiteY5" fmla="*/ 6290961 h 6290961"/>
              <a:gd name="connsiteX6" fmla="*/ 0 w 4381500"/>
              <a:gd name="connsiteY6" fmla="*/ 5990215 h 6290961"/>
              <a:gd name="connsiteX7" fmla="*/ 0 w 4381500"/>
              <a:gd name="connsiteY7" fmla="*/ 300746 h 6290961"/>
              <a:gd name="connsiteX8" fmla="*/ 300746 w 4381500"/>
              <a:gd name="connsiteY8" fmla="*/ 0 h 62909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381500" h="6290961">
                <a:moveTo>
                  <a:pt x="300746" y="0"/>
                </a:moveTo>
                <a:lnTo>
                  <a:pt x="4080754" y="0"/>
                </a:lnTo>
                <a:cubicBezTo>
                  <a:pt x="4246851" y="0"/>
                  <a:pt x="4381500" y="134649"/>
                  <a:pt x="4381500" y="300746"/>
                </a:cubicBezTo>
                <a:lnTo>
                  <a:pt x="4381500" y="5990215"/>
                </a:lnTo>
                <a:cubicBezTo>
                  <a:pt x="4381500" y="6156312"/>
                  <a:pt x="4246851" y="6290961"/>
                  <a:pt x="4080754" y="6290961"/>
                </a:cubicBezTo>
                <a:lnTo>
                  <a:pt x="300746" y="6290961"/>
                </a:lnTo>
                <a:cubicBezTo>
                  <a:pt x="134649" y="6290961"/>
                  <a:pt x="0" y="6156312"/>
                  <a:pt x="0" y="5990215"/>
                </a:cubicBezTo>
                <a:lnTo>
                  <a:pt x="0" y="300746"/>
                </a:lnTo>
                <a:cubicBezTo>
                  <a:pt x="0" y="134649"/>
                  <a:pt x="134649" y="0"/>
                  <a:pt x="300746" y="0"/>
                </a:cubicBezTo>
                <a:close/>
              </a:path>
            </a:pathLst>
          </a:custGeom>
          <a:blipFill dpi="0" rotWithShape="1">
            <a:blip r:embed="rId2">
              <a:alphaModFix amt="60000"/>
            </a:blip>
            <a:srcRect/>
            <a:stretch>
              <a:fillRect/>
            </a:stretch>
          </a:blipFill>
        </p:spPr>
        <p:txBody>
          <a:bodyPr wrap="square">
            <a:noAutofit/>
          </a:bodyPr>
          <a:lstStyle>
            <a:lvl1pPr marL="0" indent="0">
              <a:buNone/>
              <a:defRPr/>
            </a:lvl1pPr>
          </a:lstStyle>
          <a:p>
            <a:r>
              <a:rPr lang="en-US" dirty="0"/>
              <a:t> </a:t>
            </a:r>
          </a:p>
        </p:txBody>
      </p:sp>
      <p:sp>
        <p:nvSpPr>
          <p:cNvPr id="8" name="Content Placeholder 7">
            <a:extLst>
              <a:ext uri="{FF2B5EF4-FFF2-40B4-BE49-F238E27FC236}">
                <a16:creationId xmlns:a16="http://schemas.microsoft.com/office/drawing/2014/main" id="{818B74D6-CD72-B859-C229-60DB988B25E3}"/>
              </a:ext>
            </a:extLst>
          </p:cNvPr>
          <p:cNvSpPr>
            <a:spLocks noGrp="1"/>
          </p:cNvSpPr>
          <p:nvPr>
            <p:ph sz="quarter" idx="14"/>
          </p:nvPr>
        </p:nvSpPr>
        <p:spPr>
          <a:xfrm>
            <a:off x="3689644" y="964097"/>
            <a:ext cx="4782410" cy="3739766"/>
          </a:xfrm>
        </p:spPr>
        <p:txBody>
          <a:bodyPr anchor="b"/>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3689645" y="4790803"/>
            <a:ext cx="2027833" cy="253746"/>
          </a:xfrm>
        </p:spPr>
        <p:txBody>
          <a:bodyPr/>
          <a:lstStyle/>
          <a:p>
            <a:r>
              <a:rPr lang="en-US"/>
              <a:t>Sample Footer Text</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lvl1pPr>
              <a:defRPr>
                <a:solidFill>
                  <a:schemeClr val="tx1"/>
                </a:solidFill>
                <a:effectLst/>
              </a:defRPr>
            </a:lvl1pPr>
          </a:lstStyle>
          <a:p>
            <a:fld id="{7FA43F5B-065E-43CE-B3FD-98C48A6F94D7}" type="datetime1">
              <a:rPr lang="en-US" smtClean="0"/>
              <a:pPr/>
              <a:t>8/19/26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2DE90F28-AFBB-4AB2-AA79-6D3F72ED131B}" type="slidenum">
              <a:rPr lang="en-US" smtClean="0"/>
              <a:pPr/>
              <a:t>‹#›</a:t>
            </a:fld>
            <a:endParaRPr lang="en-US"/>
          </a:p>
        </p:txBody>
      </p:sp>
    </p:spTree>
    <p:extLst>
      <p:ext uri="{BB962C8B-B14F-4D97-AF65-F5344CB8AC3E}">
        <p14:creationId xmlns:p14="http://schemas.microsoft.com/office/powerpoint/2010/main" val="1237949420"/>
      </p:ext>
    </p:extLst>
  </p:cSld>
  <p:clrMapOvr>
    <a:masterClrMapping/>
  </p:clrMapOvr>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Content with Picture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3141527" y="164592"/>
            <a:ext cx="5430973" cy="692658"/>
          </a:xfrm>
        </p:spPr>
        <p:txBody>
          <a:bodyPr anchor="t"/>
          <a:lstStyle>
            <a:lvl1pPr>
              <a:defRPr/>
            </a:lvl1pPr>
          </a:lstStyle>
          <a:p>
            <a:r>
              <a:rPr lang="en-US"/>
              <a:t>Click to edit Master title style</a:t>
            </a:r>
            <a:endParaRPr lang="en-US" dirty="0"/>
          </a:p>
        </p:txBody>
      </p:sp>
      <p:sp>
        <p:nvSpPr>
          <p:cNvPr id="20" name="Picture Placeholder 9">
            <a:extLst>
              <a:ext uri="{FF2B5EF4-FFF2-40B4-BE49-F238E27FC236}">
                <a16:creationId xmlns:a16="http://schemas.microsoft.com/office/drawing/2014/main" id="{FC55F3DB-E75F-ADDF-8222-D3F62F2CCE82}"/>
              </a:ext>
            </a:extLst>
          </p:cNvPr>
          <p:cNvSpPr>
            <a:spLocks noGrp="1"/>
          </p:cNvSpPr>
          <p:nvPr>
            <p:ph type="pic" sz="quarter" idx="13" hasCustomPrompt="1"/>
          </p:nvPr>
        </p:nvSpPr>
        <p:spPr>
          <a:xfrm>
            <a:off x="205740" y="201430"/>
            <a:ext cx="2756916" cy="4745736"/>
          </a:xfrm>
          <a:custGeom>
            <a:avLst/>
            <a:gdLst>
              <a:gd name="connsiteX0" fmla="*/ 301545 w 3675888"/>
              <a:gd name="connsiteY0" fmla="*/ 0 h 6320854"/>
              <a:gd name="connsiteX1" fmla="*/ 3375347 w 3675888"/>
              <a:gd name="connsiteY1" fmla="*/ 0 h 6320854"/>
              <a:gd name="connsiteX2" fmla="*/ 3675888 w 3675888"/>
              <a:gd name="connsiteY2" fmla="*/ 300541 h 6320854"/>
              <a:gd name="connsiteX3" fmla="*/ 3675888 w 3675888"/>
              <a:gd name="connsiteY3" fmla="*/ 6025428 h 6320854"/>
              <a:gd name="connsiteX4" fmla="*/ 3492331 w 3675888"/>
              <a:gd name="connsiteY4" fmla="*/ 6302351 h 6320854"/>
              <a:gd name="connsiteX5" fmla="*/ 3400682 w 3675888"/>
              <a:gd name="connsiteY5" fmla="*/ 6320854 h 6320854"/>
              <a:gd name="connsiteX6" fmla="*/ 275206 w 3675888"/>
              <a:gd name="connsiteY6" fmla="*/ 6320854 h 6320854"/>
              <a:gd name="connsiteX7" fmla="*/ 186647 w 3675888"/>
              <a:gd name="connsiteY7" fmla="*/ 6302975 h 6320854"/>
              <a:gd name="connsiteX8" fmla="*/ 184171 w 3675888"/>
              <a:gd name="connsiteY8" fmla="*/ 6302204 h 6320854"/>
              <a:gd name="connsiteX9" fmla="*/ 114619 w 3675888"/>
              <a:gd name="connsiteY9" fmla="*/ 6259884 h 6320854"/>
              <a:gd name="connsiteX10" fmla="*/ 105939 w 3675888"/>
              <a:gd name="connsiteY10" fmla="*/ 6252721 h 6320854"/>
              <a:gd name="connsiteX11" fmla="*/ 51500 w 3675888"/>
              <a:gd name="connsiteY11" fmla="*/ 6192635 h 6320854"/>
              <a:gd name="connsiteX12" fmla="*/ 16622 w 3675888"/>
              <a:gd name="connsiteY12" fmla="*/ 6119873 h 6320854"/>
              <a:gd name="connsiteX13" fmla="*/ 12537 w 3675888"/>
              <a:gd name="connsiteY13" fmla="*/ 6106716 h 6320854"/>
              <a:gd name="connsiteX14" fmla="*/ 0 w 3675888"/>
              <a:gd name="connsiteY14" fmla="*/ 6023550 h 6320854"/>
              <a:gd name="connsiteX15" fmla="*/ 0 w 3675888"/>
              <a:gd name="connsiteY15" fmla="*/ 302420 h 6320854"/>
              <a:gd name="connsiteX16" fmla="*/ 301545 w 3675888"/>
              <a:gd name="connsiteY16" fmla="*/ 0 h 63208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3675888" h="6320854">
                <a:moveTo>
                  <a:pt x="301545" y="0"/>
                </a:moveTo>
                <a:lnTo>
                  <a:pt x="3375347" y="0"/>
                </a:lnTo>
                <a:cubicBezTo>
                  <a:pt x="3541331" y="0"/>
                  <a:pt x="3675888" y="134557"/>
                  <a:pt x="3675888" y="300541"/>
                </a:cubicBezTo>
                <a:lnTo>
                  <a:pt x="3675888" y="6025428"/>
                </a:lnTo>
                <a:cubicBezTo>
                  <a:pt x="3675888" y="6149916"/>
                  <a:pt x="3600200" y="6256727"/>
                  <a:pt x="3492331" y="6302351"/>
                </a:cubicBezTo>
                <a:lnTo>
                  <a:pt x="3400682" y="6320854"/>
                </a:lnTo>
                <a:lnTo>
                  <a:pt x="275206" y="6320854"/>
                </a:lnTo>
                <a:lnTo>
                  <a:pt x="186647" y="6302975"/>
                </a:lnTo>
                <a:lnTo>
                  <a:pt x="184171" y="6302204"/>
                </a:lnTo>
                <a:lnTo>
                  <a:pt x="114619" y="6259884"/>
                </a:lnTo>
                <a:lnTo>
                  <a:pt x="105939" y="6252721"/>
                </a:lnTo>
                <a:lnTo>
                  <a:pt x="51500" y="6192635"/>
                </a:lnTo>
                <a:lnTo>
                  <a:pt x="16622" y="6119873"/>
                </a:lnTo>
                <a:lnTo>
                  <a:pt x="12537" y="6106716"/>
                </a:lnTo>
                <a:lnTo>
                  <a:pt x="0" y="6023550"/>
                </a:lnTo>
                <a:lnTo>
                  <a:pt x="0" y="302420"/>
                </a:lnTo>
                <a:cubicBezTo>
                  <a:pt x="0" y="135398"/>
                  <a:pt x="135007" y="0"/>
                  <a:pt x="301545" y="0"/>
                </a:cubicBezTo>
                <a:close/>
              </a:path>
            </a:pathLst>
          </a:custGeom>
          <a:blipFill dpi="0" rotWithShape="1">
            <a:blip r:embed="rId2">
              <a:alphaModFix amt="60000"/>
            </a:blip>
            <a:srcRect/>
            <a:stretch>
              <a:fillRect/>
            </a:stretch>
          </a:blipFill>
        </p:spPr>
        <p:txBody>
          <a:bodyPr wrap="square">
            <a:noAutofit/>
          </a:bodyPr>
          <a:lstStyle>
            <a:lvl1pPr marL="0" indent="0">
              <a:buNone/>
              <a:defRPr/>
            </a:lvl1pPr>
          </a:lstStyle>
          <a:p>
            <a:r>
              <a:rPr lang="en-US" dirty="0"/>
              <a:t> </a:t>
            </a:r>
          </a:p>
        </p:txBody>
      </p:sp>
      <p:sp>
        <p:nvSpPr>
          <p:cNvPr id="8" name="Content Placeholder 7">
            <a:extLst>
              <a:ext uri="{FF2B5EF4-FFF2-40B4-BE49-F238E27FC236}">
                <a16:creationId xmlns:a16="http://schemas.microsoft.com/office/drawing/2014/main" id="{818B74D6-CD72-B859-C229-60DB988B25E3}"/>
              </a:ext>
            </a:extLst>
          </p:cNvPr>
          <p:cNvSpPr>
            <a:spLocks noGrp="1"/>
          </p:cNvSpPr>
          <p:nvPr>
            <p:ph sz="quarter" idx="14"/>
          </p:nvPr>
        </p:nvSpPr>
        <p:spPr>
          <a:xfrm>
            <a:off x="3141526" y="857250"/>
            <a:ext cx="5430974" cy="3929634"/>
          </a:xfrm>
        </p:spPr>
        <p:txBody>
          <a:bodyPr anchor="b"/>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3141527" y="4787236"/>
            <a:ext cx="2027833" cy="253746"/>
          </a:xfrm>
        </p:spPr>
        <p:txBody>
          <a:bodyPr/>
          <a:lstStyle/>
          <a:p>
            <a:r>
              <a:rPr lang="en-US"/>
              <a:t>Sample Footer Text</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lvl1pPr>
              <a:defRPr>
                <a:solidFill>
                  <a:schemeClr val="tx1"/>
                </a:solidFill>
                <a:effectLst/>
              </a:defRPr>
            </a:lvl1pPr>
          </a:lstStyle>
          <a:p>
            <a:fld id="{7FA43F5B-065E-43CE-B3FD-98C48A6F94D7}" type="datetime1">
              <a:rPr lang="en-US" smtClean="0"/>
              <a:pPr/>
              <a:t>8/19/26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2DE90F28-AFBB-4AB2-AA79-6D3F72ED131B}" type="slidenum">
              <a:rPr lang="en-US" smtClean="0"/>
              <a:pPr/>
              <a:t>‹#›</a:t>
            </a:fld>
            <a:endParaRPr lang="en-US"/>
          </a:p>
        </p:txBody>
      </p:sp>
    </p:spTree>
    <p:extLst>
      <p:ext uri="{BB962C8B-B14F-4D97-AF65-F5344CB8AC3E}">
        <p14:creationId xmlns:p14="http://schemas.microsoft.com/office/powerpoint/2010/main" val="3047018781"/>
      </p:ext>
    </p:extLst>
  </p:cSld>
  <p:clrMapOvr>
    <a:masterClrMapping/>
  </p:clrMapOvr>
  <p:hf sldNum="0"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Content with Picture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137160" y="164592"/>
            <a:ext cx="5430973" cy="692658"/>
          </a:xfrm>
        </p:spPr>
        <p:txBody>
          <a:bodyPr anchor="t"/>
          <a:lstStyle>
            <a:lvl1pPr>
              <a:defRPr/>
            </a:lvl1pPr>
          </a:lstStyle>
          <a:p>
            <a:r>
              <a:rPr lang="en-US"/>
              <a:t>Click to edit Master title style</a:t>
            </a:r>
            <a:endParaRPr lang="en-US" dirty="0"/>
          </a:p>
        </p:txBody>
      </p:sp>
      <p:sp>
        <p:nvSpPr>
          <p:cNvPr id="8" name="Content Placeholder 7">
            <a:extLst>
              <a:ext uri="{FF2B5EF4-FFF2-40B4-BE49-F238E27FC236}">
                <a16:creationId xmlns:a16="http://schemas.microsoft.com/office/drawing/2014/main" id="{818B74D6-CD72-B859-C229-60DB988B25E3}"/>
              </a:ext>
            </a:extLst>
          </p:cNvPr>
          <p:cNvSpPr>
            <a:spLocks noGrp="1"/>
          </p:cNvSpPr>
          <p:nvPr>
            <p:ph sz="quarter" idx="14"/>
          </p:nvPr>
        </p:nvSpPr>
        <p:spPr>
          <a:xfrm>
            <a:off x="137160" y="857250"/>
            <a:ext cx="5430974" cy="3929634"/>
          </a:xfrm>
        </p:spPr>
        <p:txBody>
          <a:bodyPr anchor="b"/>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137160" y="4787236"/>
            <a:ext cx="2027833" cy="253746"/>
          </a:xfrm>
        </p:spPr>
        <p:txBody>
          <a:bodyPr/>
          <a:lstStyle/>
          <a:p>
            <a:r>
              <a:rPr lang="en-US"/>
              <a:t>Sample Footer Text</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4794070" y="4790346"/>
            <a:ext cx="774063" cy="253746"/>
          </a:xfrm>
        </p:spPr>
        <p:txBody>
          <a:bodyPr/>
          <a:lstStyle>
            <a:lvl1pPr>
              <a:defRPr>
                <a:solidFill>
                  <a:schemeClr val="tx1"/>
                </a:solidFill>
                <a:effectLst/>
              </a:defRPr>
            </a:lvl1pPr>
          </a:lstStyle>
          <a:p>
            <a:fld id="{7FA43F5B-065E-43CE-B3FD-98C48A6F94D7}" type="datetime1">
              <a:rPr lang="en-US" smtClean="0"/>
              <a:pPr/>
              <a:t>8/19/26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5568133" y="4790346"/>
            <a:ext cx="342900" cy="253746"/>
          </a:xfrm>
        </p:spPr>
        <p:txBody>
          <a:bodyPr/>
          <a:lstStyle/>
          <a:p>
            <a:fld id="{2DE90F28-AFBB-4AB2-AA79-6D3F72ED131B}" type="slidenum">
              <a:rPr lang="en-US" smtClean="0"/>
              <a:pPr/>
              <a:t>‹#›</a:t>
            </a:fld>
            <a:endParaRPr lang="en-US"/>
          </a:p>
        </p:txBody>
      </p:sp>
      <p:sp>
        <p:nvSpPr>
          <p:cNvPr id="4" name="Picture Placeholder 9">
            <a:extLst>
              <a:ext uri="{FF2B5EF4-FFF2-40B4-BE49-F238E27FC236}">
                <a16:creationId xmlns:a16="http://schemas.microsoft.com/office/drawing/2014/main" id="{F47C8A4F-E753-8148-3650-49C421EB5479}"/>
              </a:ext>
            </a:extLst>
          </p:cNvPr>
          <p:cNvSpPr>
            <a:spLocks noGrp="1"/>
          </p:cNvSpPr>
          <p:nvPr>
            <p:ph type="pic" sz="quarter" idx="13" hasCustomPrompt="1"/>
          </p:nvPr>
        </p:nvSpPr>
        <p:spPr>
          <a:xfrm>
            <a:off x="6187059" y="201430"/>
            <a:ext cx="2756916" cy="4745736"/>
          </a:xfrm>
          <a:custGeom>
            <a:avLst/>
            <a:gdLst>
              <a:gd name="connsiteX0" fmla="*/ 301545 w 3675888"/>
              <a:gd name="connsiteY0" fmla="*/ 0 h 6320854"/>
              <a:gd name="connsiteX1" fmla="*/ 3375347 w 3675888"/>
              <a:gd name="connsiteY1" fmla="*/ 0 h 6320854"/>
              <a:gd name="connsiteX2" fmla="*/ 3675888 w 3675888"/>
              <a:gd name="connsiteY2" fmla="*/ 300541 h 6320854"/>
              <a:gd name="connsiteX3" fmla="*/ 3675888 w 3675888"/>
              <a:gd name="connsiteY3" fmla="*/ 6025428 h 6320854"/>
              <a:gd name="connsiteX4" fmla="*/ 3492331 w 3675888"/>
              <a:gd name="connsiteY4" fmla="*/ 6302351 h 6320854"/>
              <a:gd name="connsiteX5" fmla="*/ 3400682 w 3675888"/>
              <a:gd name="connsiteY5" fmla="*/ 6320854 h 6320854"/>
              <a:gd name="connsiteX6" fmla="*/ 275206 w 3675888"/>
              <a:gd name="connsiteY6" fmla="*/ 6320854 h 6320854"/>
              <a:gd name="connsiteX7" fmla="*/ 186647 w 3675888"/>
              <a:gd name="connsiteY7" fmla="*/ 6302975 h 6320854"/>
              <a:gd name="connsiteX8" fmla="*/ 184171 w 3675888"/>
              <a:gd name="connsiteY8" fmla="*/ 6302204 h 6320854"/>
              <a:gd name="connsiteX9" fmla="*/ 114619 w 3675888"/>
              <a:gd name="connsiteY9" fmla="*/ 6259883 h 6320854"/>
              <a:gd name="connsiteX10" fmla="*/ 105939 w 3675888"/>
              <a:gd name="connsiteY10" fmla="*/ 6252722 h 6320854"/>
              <a:gd name="connsiteX11" fmla="*/ 51500 w 3675888"/>
              <a:gd name="connsiteY11" fmla="*/ 6192635 h 6320854"/>
              <a:gd name="connsiteX12" fmla="*/ 16622 w 3675888"/>
              <a:gd name="connsiteY12" fmla="*/ 6119873 h 6320854"/>
              <a:gd name="connsiteX13" fmla="*/ 12538 w 3675888"/>
              <a:gd name="connsiteY13" fmla="*/ 6106716 h 6320854"/>
              <a:gd name="connsiteX14" fmla="*/ 0 w 3675888"/>
              <a:gd name="connsiteY14" fmla="*/ 6023550 h 6320854"/>
              <a:gd name="connsiteX15" fmla="*/ 0 w 3675888"/>
              <a:gd name="connsiteY15" fmla="*/ 302420 h 6320854"/>
              <a:gd name="connsiteX16" fmla="*/ 301545 w 3675888"/>
              <a:gd name="connsiteY16" fmla="*/ 0 h 63208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3675888" h="6320854">
                <a:moveTo>
                  <a:pt x="301545" y="0"/>
                </a:moveTo>
                <a:lnTo>
                  <a:pt x="3375347" y="0"/>
                </a:lnTo>
                <a:cubicBezTo>
                  <a:pt x="3541331" y="0"/>
                  <a:pt x="3675888" y="134557"/>
                  <a:pt x="3675888" y="300541"/>
                </a:cubicBezTo>
                <a:lnTo>
                  <a:pt x="3675888" y="6025428"/>
                </a:lnTo>
                <a:cubicBezTo>
                  <a:pt x="3675888" y="6149916"/>
                  <a:pt x="3600200" y="6256727"/>
                  <a:pt x="3492331" y="6302351"/>
                </a:cubicBezTo>
                <a:lnTo>
                  <a:pt x="3400682" y="6320854"/>
                </a:lnTo>
                <a:lnTo>
                  <a:pt x="275206" y="6320854"/>
                </a:lnTo>
                <a:lnTo>
                  <a:pt x="186647" y="6302975"/>
                </a:lnTo>
                <a:lnTo>
                  <a:pt x="184171" y="6302204"/>
                </a:lnTo>
                <a:lnTo>
                  <a:pt x="114619" y="6259883"/>
                </a:lnTo>
                <a:lnTo>
                  <a:pt x="105939" y="6252722"/>
                </a:lnTo>
                <a:lnTo>
                  <a:pt x="51500" y="6192635"/>
                </a:lnTo>
                <a:lnTo>
                  <a:pt x="16622" y="6119873"/>
                </a:lnTo>
                <a:lnTo>
                  <a:pt x="12538" y="6106716"/>
                </a:lnTo>
                <a:lnTo>
                  <a:pt x="0" y="6023550"/>
                </a:lnTo>
                <a:lnTo>
                  <a:pt x="0" y="302420"/>
                </a:lnTo>
                <a:cubicBezTo>
                  <a:pt x="0" y="135398"/>
                  <a:pt x="135007" y="0"/>
                  <a:pt x="301545" y="0"/>
                </a:cubicBezTo>
                <a:close/>
              </a:path>
            </a:pathLst>
          </a:custGeom>
          <a:blipFill dpi="0" rotWithShape="1">
            <a:blip r:embed="rId2">
              <a:alphaModFix amt="60000"/>
            </a:blip>
            <a:srcRect/>
            <a:stretch>
              <a:fillRect/>
            </a:stretch>
          </a:blipFill>
        </p:spPr>
        <p:txBody>
          <a:bodyPr wrap="square">
            <a:noAutofit/>
          </a:bodyPr>
          <a:lstStyle>
            <a:lvl1pPr marL="0" indent="0">
              <a:buNone/>
              <a:defRPr/>
            </a:lvl1pPr>
          </a:lstStyle>
          <a:p>
            <a:r>
              <a:rPr lang="en-US" dirty="0"/>
              <a:t> </a:t>
            </a:r>
          </a:p>
        </p:txBody>
      </p:sp>
    </p:spTree>
    <p:extLst>
      <p:ext uri="{BB962C8B-B14F-4D97-AF65-F5344CB8AC3E}">
        <p14:creationId xmlns:p14="http://schemas.microsoft.com/office/powerpoint/2010/main" val="2500096460"/>
      </p:ext>
    </p:extLst>
  </p:cSld>
  <p:clrMapOvr>
    <a:masterClrMapping/>
  </p:clrMapOvr>
  <p:hf sldNum="0"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Content with Picture 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139392" y="164592"/>
            <a:ext cx="3538072" cy="885666"/>
          </a:xfrm>
        </p:spPr>
        <p:txBody>
          <a:bodyPr anchor="t"/>
          <a:lstStyle/>
          <a:p>
            <a:r>
              <a:rPr lang="en-US"/>
              <a:t>Click to edit Master title style</a:t>
            </a:r>
            <a:endParaRPr lang="en-US" dirty="0"/>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139392" y="1050258"/>
            <a:ext cx="3546784" cy="3653605"/>
          </a:xfrm>
        </p:spPr>
        <p:txBody>
          <a:bodyPr anchor="b"/>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lvl1pPr>
              <a:defRPr>
                <a:solidFill>
                  <a:schemeClr val="tx1"/>
                </a:solidFill>
                <a:effectLst/>
              </a:defRPr>
            </a:lvl1pPr>
          </a:lstStyle>
          <a:p>
            <a:r>
              <a:rPr lang="en-US"/>
              <a:t>Sample Footer Text</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2691129" y="4793096"/>
            <a:ext cx="974088" cy="253746"/>
          </a:xfrm>
        </p:spPr>
        <p:txBody>
          <a:bodyPr/>
          <a:lstStyle/>
          <a:p>
            <a:fld id="{7FA43F5B-065E-43CE-B3FD-98C48A6F94D7}" type="datetime1">
              <a:rPr lang="en-US" smtClean="0"/>
              <a:pPr/>
              <a:t>8/19/26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3665217" y="4793096"/>
            <a:ext cx="342900" cy="253746"/>
          </a:xfrm>
        </p:spPr>
        <p:txBody>
          <a:bodyPr/>
          <a:lstStyle>
            <a:lvl1pPr>
              <a:defRPr>
                <a:solidFill>
                  <a:schemeClr val="tx1"/>
                </a:solidFill>
                <a:effectLst/>
              </a:defRPr>
            </a:lvl1pPr>
          </a:lstStyle>
          <a:p>
            <a:fld id="{2DE90F28-AFBB-4AB2-AA79-6D3F72ED131B}" type="slidenum">
              <a:rPr lang="en-US" smtClean="0"/>
              <a:pPr/>
              <a:t>‹#›</a:t>
            </a:fld>
            <a:endParaRPr lang="en-US"/>
          </a:p>
        </p:txBody>
      </p:sp>
      <p:sp>
        <p:nvSpPr>
          <p:cNvPr id="4" name="Picture Placeholder 3">
            <a:extLst>
              <a:ext uri="{FF2B5EF4-FFF2-40B4-BE49-F238E27FC236}">
                <a16:creationId xmlns:a16="http://schemas.microsoft.com/office/drawing/2014/main" id="{00846273-A5CB-BDCB-C625-903F863EC307}"/>
              </a:ext>
            </a:extLst>
          </p:cNvPr>
          <p:cNvSpPr>
            <a:spLocks noGrp="1"/>
          </p:cNvSpPr>
          <p:nvPr>
            <p:ph type="pic" sz="quarter" idx="13" hasCustomPrompt="1"/>
          </p:nvPr>
        </p:nvSpPr>
        <p:spPr>
          <a:xfrm>
            <a:off x="4200528" y="200025"/>
            <a:ext cx="4743352" cy="4743450"/>
          </a:xfrm>
          <a:custGeom>
            <a:avLst/>
            <a:gdLst>
              <a:gd name="connsiteX0" fmla="*/ 269395 w 6111507"/>
              <a:gd name="connsiteY0" fmla="*/ 0 h 6172338"/>
              <a:gd name="connsiteX1" fmla="*/ 5842112 w 6111507"/>
              <a:gd name="connsiteY1" fmla="*/ 0 h 6172338"/>
              <a:gd name="connsiteX2" fmla="*/ 6111507 w 6111507"/>
              <a:gd name="connsiteY2" fmla="*/ 268145 h 6172338"/>
              <a:gd name="connsiteX3" fmla="*/ 6111507 w 6111507"/>
              <a:gd name="connsiteY3" fmla="*/ 5904194 h 6172338"/>
              <a:gd name="connsiteX4" fmla="*/ 5842112 w 6111507"/>
              <a:gd name="connsiteY4" fmla="*/ 6172338 h 6172338"/>
              <a:gd name="connsiteX5" fmla="*/ 269395 w 6111507"/>
              <a:gd name="connsiteY5" fmla="*/ 6172338 h 6172338"/>
              <a:gd name="connsiteX6" fmla="*/ 0 w 6111507"/>
              <a:gd name="connsiteY6" fmla="*/ 5904194 h 6172338"/>
              <a:gd name="connsiteX7" fmla="*/ 0 w 6111507"/>
              <a:gd name="connsiteY7" fmla="*/ 268145 h 6172338"/>
              <a:gd name="connsiteX8" fmla="*/ 269395 w 6111507"/>
              <a:gd name="connsiteY8" fmla="*/ 0 h 61723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111507" h="6172338">
                <a:moveTo>
                  <a:pt x="269395" y="0"/>
                </a:moveTo>
                <a:lnTo>
                  <a:pt x="5842112" y="0"/>
                </a:lnTo>
                <a:cubicBezTo>
                  <a:pt x="5990895" y="0"/>
                  <a:pt x="6111507" y="120052"/>
                  <a:pt x="6111507" y="268145"/>
                </a:cubicBezTo>
                <a:lnTo>
                  <a:pt x="6111507" y="5904194"/>
                </a:lnTo>
                <a:cubicBezTo>
                  <a:pt x="6111507" y="6052286"/>
                  <a:pt x="5990895" y="6172338"/>
                  <a:pt x="5842112" y="6172338"/>
                </a:cubicBezTo>
                <a:lnTo>
                  <a:pt x="269395" y="6172338"/>
                </a:lnTo>
                <a:cubicBezTo>
                  <a:pt x="120612" y="6172338"/>
                  <a:pt x="0" y="6052286"/>
                  <a:pt x="0" y="5904194"/>
                </a:cubicBezTo>
                <a:lnTo>
                  <a:pt x="0" y="268145"/>
                </a:lnTo>
                <a:cubicBezTo>
                  <a:pt x="0" y="120052"/>
                  <a:pt x="120612" y="0"/>
                  <a:pt x="269395" y="0"/>
                </a:cubicBezTo>
                <a:close/>
              </a:path>
            </a:pathLst>
          </a:custGeom>
          <a:blipFill dpi="0" rotWithShape="1">
            <a:blip r:embed="rId2">
              <a:alphaModFix amt="60000"/>
            </a:blip>
            <a:srcRect/>
            <a:stretch>
              <a:fillRect/>
            </a:stretch>
          </a:blipFill>
        </p:spPr>
        <p:txBody>
          <a:bodyPr wrap="square">
            <a:noAutofit/>
          </a:bodyPr>
          <a:lstStyle>
            <a:lvl1pPr marL="0" indent="0">
              <a:buNone/>
              <a:defRPr/>
            </a:lvl1pPr>
          </a:lstStyle>
          <a:p>
            <a:r>
              <a:rPr lang="en-US" dirty="0"/>
              <a:t> </a:t>
            </a:r>
          </a:p>
        </p:txBody>
      </p:sp>
    </p:spTree>
    <p:extLst>
      <p:ext uri="{BB962C8B-B14F-4D97-AF65-F5344CB8AC3E}">
        <p14:creationId xmlns:p14="http://schemas.microsoft.com/office/powerpoint/2010/main" val="2570175240"/>
      </p:ext>
    </p:extLst>
  </p:cSld>
  <p:clrMapOvr>
    <a:masterClrMapping/>
  </p:clrMapOvr>
  <p:hf sldNum="0"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Content with Picture 5">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137161" y="165652"/>
            <a:ext cx="2406015" cy="2316476"/>
          </a:xfrm>
        </p:spPr>
        <p:txBody>
          <a:bodyPr anchor="t"/>
          <a:lstStyle/>
          <a:p>
            <a:r>
              <a:rPr lang="en-US"/>
              <a:t>Click to edit Master title style</a:t>
            </a:r>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lvl1pPr>
              <a:defRPr>
                <a:solidFill>
                  <a:schemeClr val="tx1"/>
                </a:solidFill>
                <a:effectLst/>
              </a:defRPr>
            </a:lvl1pPr>
          </a:lstStyle>
          <a:p>
            <a:r>
              <a:rPr lang="en-US"/>
              <a:t>Sample Footer Text</a:t>
            </a:r>
          </a:p>
        </p:txBody>
      </p:sp>
      <p:sp>
        <p:nvSpPr>
          <p:cNvPr id="4" name="Picture Placeholder 3">
            <a:extLst>
              <a:ext uri="{FF2B5EF4-FFF2-40B4-BE49-F238E27FC236}">
                <a16:creationId xmlns:a16="http://schemas.microsoft.com/office/drawing/2014/main" id="{26FEEE5C-15B3-8386-23D3-B6B236C668F2}"/>
              </a:ext>
            </a:extLst>
          </p:cNvPr>
          <p:cNvSpPr>
            <a:spLocks noGrp="1"/>
          </p:cNvSpPr>
          <p:nvPr>
            <p:ph type="pic" sz="quarter" idx="13" hasCustomPrompt="1"/>
          </p:nvPr>
        </p:nvSpPr>
        <p:spPr>
          <a:xfrm>
            <a:off x="3514725" y="200025"/>
            <a:ext cx="2625404" cy="4743450"/>
          </a:xfrm>
          <a:custGeom>
            <a:avLst/>
            <a:gdLst>
              <a:gd name="connsiteX0" fmla="*/ 292116 w 3808553"/>
              <a:gd name="connsiteY0" fmla="*/ 0 h 6172200"/>
              <a:gd name="connsiteX1" fmla="*/ 3516437 w 3808553"/>
              <a:gd name="connsiteY1" fmla="*/ 0 h 6172200"/>
              <a:gd name="connsiteX2" fmla="*/ 3808553 w 3808553"/>
              <a:gd name="connsiteY2" fmla="*/ 292116 h 6172200"/>
              <a:gd name="connsiteX3" fmla="*/ 3808553 w 3808553"/>
              <a:gd name="connsiteY3" fmla="*/ 5880084 h 6172200"/>
              <a:gd name="connsiteX4" fmla="*/ 3516437 w 3808553"/>
              <a:gd name="connsiteY4" fmla="*/ 6172200 h 6172200"/>
              <a:gd name="connsiteX5" fmla="*/ 292116 w 3808553"/>
              <a:gd name="connsiteY5" fmla="*/ 6172200 h 6172200"/>
              <a:gd name="connsiteX6" fmla="*/ 0 w 3808553"/>
              <a:gd name="connsiteY6" fmla="*/ 5880084 h 6172200"/>
              <a:gd name="connsiteX7" fmla="*/ 0 w 3808553"/>
              <a:gd name="connsiteY7" fmla="*/ 292116 h 6172200"/>
              <a:gd name="connsiteX8" fmla="*/ 292116 w 3808553"/>
              <a:gd name="connsiteY8" fmla="*/ 0 h 6172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808553" h="6172200">
                <a:moveTo>
                  <a:pt x="292116" y="0"/>
                </a:moveTo>
                <a:lnTo>
                  <a:pt x="3516437" y="0"/>
                </a:lnTo>
                <a:cubicBezTo>
                  <a:pt x="3677768" y="0"/>
                  <a:pt x="3808553" y="130785"/>
                  <a:pt x="3808553" y="292116"/>
                </a:cubicBezTo>
                <a:lnTo>
                  <a:pt x="3808553" y="5880084"/>
                </a:lnTo>
                <a:cubicBezTo>
                  <a:pt x="3808553" y="6041415"/>
                  <a:pt x="3677768" y="6172200"/>
                  <a:pt x="3516437" y="6172200"/>
                </a:cubicBezTo>
                <a:lnTo>
                  <a:pt x="292116" y="6172200"/>
                </a:lnTo>
                <a:cubicBezTo>
                  <a:pt x="130785" y="6172200"/>
                  <a:pt x="0" y="6041415"/>
                  <a:pt x="0" y="5880084"/>
                </a:cubicBezTo>
                <a:lnTo>
                  <a:pt x="0" y="292116"/>
                </a:lnTo>
                <a:cubicBezTo>
                  <a:pt x="0" y="130785"/>
                  <a:pt x="130785" y="0"/>
                  <a:pt x="292116" y="0"/>
                </a:cubicBezTo>
                <a:close/>
              </a:path>
            </a:pathLst>
          </a:custGeom>
          <a:blipFill dpi="0" rotWithShape="1">
            <a:blip r:embed="rId2">
              <a:alphaModFix amt="60000"/>
            </a:blip>
            <a:srcRect/>
            <a:stretch>
              <a:fillRect/>
            </a:stretch>
          </a:blipFill>
        </p:spPr>
        <p:txBody>
          <a:bodyPr wrap="square">
            <a:noAutofit/>
          </a:bodyPr>
          <a:lstStyle>
            <a:lvl1pPr marL="0" indent="0">
              <a:buNone/>
              <a:defRPr/>
            </a:lvl1pPr>
          </a:lstStyle>
          <a:p>
            <a:r>
              <a:rPr lang="en-US" dirty="0"/>
              <a:t> </a:t>
            </a:r>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6345815" y="165652"/>
            <a:ext cx="2400300" cy="4541666"/>
          </a:xfrm>
        </p:spPr>
        <p:txBody>
          <a:bodyPr anchor="b"/>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7FA43F5B-065E-43CE-B3FD-98C48A6F94D7}" type="datetime1">
              <a:rPr lang="en-US" smtClean="0"/>
              <a:pPr/>
              <a:t>8/19/26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lvl1pPr>
              <a:defRPr>
                <a:solidFill>
                  <a:schemeClr val="tx1"/>
                </a:solidFill>
                <a:effectLst/>
              </a:defRPr>
            </a:lvl1pPr>
          </a:lstStyle>
          <a:p>
            <a:fld id="{2DE90F28-AFBB-4AB2-AA79-6D3F72ED131B}" type="slidenum">
              <a:rPr lang="en-US" smtClean="0"/>
              <a:pPr/>
              <a:t>‹#›</a:t>
            </a:fld>
            <a:endParaRPr lang="en-US"/>
          </a:p>
        </p:txBody>
      </p:sp>
    </p:spTree>
    <p:extLst>
      <p:ext uri="{BB962C8B-B14F-4D97-AF65-F5344CB8AC3E}">
        <p14:creationId xmlns:p14="http://schemas.microsoft.com/office/powerpoint/2010/main" val="2448377630"/>
      </p:ext>
    </p:extLst>
  </p:cSld>
  <p:clrMapOvr>
    <a:masterClrMapping/>
  </p:clrMapOvr>
  <p:hf sldNum="0"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Content with Picture 6">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5635317" y="164593"/>
            <a:ext cx="2918576" cy="919004"/>
          </a:xfrm>
        </p:spPr>
        <p:txBody>
          <a:bodyPr anchor="t"/>
          <a:lstStyle/>
          <a:p>
            <a:r>
              <a:rPr lang="en-US"/>
              <a:t>Click to edit Master title style</a:t>
            </a:r>
            <a:endParaRPr lang="en-US" dirty="0"/>
          </a:p>
        </p:txBody>
      </p:sp>
      <p:sp>
        <p:nvSpPr>
          <p:cNvPr id="14" name="Picture Placeholder 13">
            <a:extLst>
              <a:ext uri="{FF2B5EF4-FFF2-40B4-BE49-F238E27FC236}">
                <a16:creationId xmlns:a16="http://schemas.microsoft.com/office/drawing/2014/main" id="{B3BE62AC-2855-BB28-0282-25CA658273E5}"/>
              </a:ext>
            </a:extLst>
          </p:cNvPr>
          <p:cNvSpPr>
            <a:spLocks noGrp="1"/>
          </p:cNvSpPr>
          <p:nvPr>
            <p:ph type="pic" sz="quarter" idx="13" hasCustomPrompt="1"/>
          </p:nvPr>
        </p:nvSpPr>
        <p:spPr>
          <a:xfrm>
            <a:off x="202855" y="198882"/>
            <a:ext cx="5238477" cy="4745736"/>
          </a:xfrm>
          <a:custGeom>
            <a:avLst/>
            <a:gdLst>
              <a:gd name="connsiteX0" fmla="*/ 302565 w 7228936"/>
              <a:gd name="connsiteY0" fmla="*/ 0 h 6316602"/>
              <a:gd name="connsiteX1" fmla="*/ 6926371 w 7228936"/>
              <a:gd name="connsiteY1" fmla="*/ 0 h 6316602"/>
              <a:gd name="connsiteX2" fmla="*/ 7228936 w 7228936"/>
              <a:gd name="connsiteY2" fmla="*/ 302565 h 6316602"/>
              <a:gd name="connsiteX3" fmla="*/ 7228936 w 7228936"/>
              <a:gd name="connsiteY3" fmla="*/ 6014037 h 6316602"/>
              <a:gd name="connsiteX4" fmla="*/ 6926371 w 7228936"/>
              <a:gd name="connsiteY4" fmla="*/ 6316602 h 6316602"/>
              <a:gd name="connsiteX5" fmla="*/ 302565 w 7228936"/>
              <a:gd name="connsiteY5" fmla="*/ 6316602 h 6316602"/>
              <a:gd name="connsiteX6" fmla="*/ 0 w 7228936"/>
              <a:gd name="connsiteY6" fmla="*/ 6014037 h 6316602"/>
              <a:gd name="connsiteX7" fmla="*/ 0 w 7228936"/>
              <a:gd name="connsiteY7" fmla="*/ 302565 h 6316602"/>
              <a:gd name="connsiteX8" fmla="*/ 302565 w 7228936"/>
              <a:gd name="connsiteY8" fmla="*/ 0 h 63166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228936" h="6316602">
                <a:moveTo>
                  <a:pt x="302565" y="0"/>
                </a:moveTo>
                <a:lnTo>
                  <a:pt x="6926371" y="0"/>
                </a:lnTo>
                <a:cubicBezTo>
                  <a:pt x="7093473" y="0"/>
                  <a:pt x="7228936" y="135463"/>
                  <a:pt x="7228936" y="302565"/>
                </a:cubicBezTo>
                <a:lnTo>
                  <a:pt x="7228936" y="6014037"/>
                </a:lnTo>
                <a:cubicBezTo>
                  <a:pt x="7228936" y="6181139"/>
                  <a:pt x="7093473" y="6316602"/>
                  <a:pt x="6926371" y="6316602"/>
                </a:cubicBezTo>
                <a:lnTo>
                  <a:pt x="302565" y="6316602"/>
                </a:lnTo>
                <a:cubicBezTo>
                  <a:pt x="135463" y="6316602"/>
                  <a:pt x="0" y="6181139"/>
                  <a:pt x="0" y="6014037"/>
                </a:cubicBezTo>
                <a:lnTo>
                  <a:pt x="0" y="302565"/>
                </a:lnTo>
                <a:cubicBezTo>
                  <a:pt x="0" y="135463"/>
                  <a:pt x="135463" y="0"/>
                  <a:pt x="302565" y="0"/>
                </a:cubicBezTo>
                <a:close/>
              </a:path>
            </a:pathLst>
          </a:custGeom>
          <a:blipFill dpi="0" rotWithShape="1">
            <a:blip r:embed="rId2">
              <a:alphaModFix amt="60000"/>
            </a:blip>
            <a:srcRect/>
            <a:stretch>
              <a:fillRect/>
            </a:stretch>
          </a:blipFill>
        </p:spPr>
        <p:txBody>
          <a:bodyPr wrap="square">
            <a:noAutofit/>
          </a:bodyPr>
          <a:lstStyle>
            <a:lvl1pPr marL="0" indent="0">
              <a:buNone/>
              <a:defRPr/>
            </a:lvl1pPr>
          </a:lstStyle>
          <a:p>
            <a:r>
              <a:rPr lang="en-US" dirty="0"/>
              <a:t> </a:t>
            </a:r>
          </a:p>
        </p:txBody>
      </p:sp>
      <p:sp>
        <p:nvSpPr>
          <p:cNvPr id="8" name="Content Placeholder 7">
            <a:extLst>
              <a:ext uri="{FF2B5EF4-FFF2-40B4-BE49-F238E27FC236}">
                <a16:creationId xmlns:a16="http://schemas.microsoft.com/office/drawing/2014/main" id="{7FF0220E-48F8-B4D9-19DE-7B457C3C221C}"/>
              </a:ext>
            </a:extLst>
          </p:cNvPr>
          <p:cNvSpPr>
            <a:spLocks noGrp="1"/>
          </p:cNvSpPr>
          <p:nvPr>
            <p:ph sz="quarter" idx="14"/>
          </p:nvPr>
        </p:nvSpPr>
        <p:spPr>
          <a:xfrm>
            <a:off x="5635315" y="1076739"/>
            <a:ext cx="2918576" cy="3625397"/>
          </a:xfrm>
        </p:spPr>
        <p:txBody>
          <a:bodyPr anchor="b"/>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5636310" y="4790346"/>
            <a:ext cx="2027833" cy="253746"/>
          </a:xfrm>
        </p:spPr>
        <p:txBody>
          <a:bodyPr/>
          <a:lstStyle/>
          <a:p>
            <a:r>
              <a:rPr lang="en-US"/>
              <a:t>Sample Footer Text</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lvl1pPr>
              <a:defRPr>
                <a:solidFill>
                  <a:schemeClr val="tx1"/>
                </a:solidFill>
                <a:effectLst/>
              </a:defRPr>
            </a:lvl1pPr>
          </a:lstStyle>
          <a:p>
            <a:fld id="{7FA43F5B-065E-43CE-B3FD-98C48A6F94D7}" type="datetime1">
              <a:rPr lang="en-US" smtClean="0"/>
              <a:pPr/>
              <a:t>8/19/26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2DE90F28-AFBB-4AB2-AA79-6D3F72ED131B}" type="slidenum">
              <a:rPr lang="en-US" smtClean="0"/>
              <a:pPr/>
              <a:t>‹#›</a:t>
            </a:fld>
            <a:endParaRPr lang="en-US"/>
          </a:p>
        </p:txBody>
      </p:sp>
    </p:spTree>
    <p:extLst>
      <p:ext uri="{BB962C8B-B14F-4D97-AF65-F5344CB8AC3E}">
        <p14:creationId xmlns:p14="http://schemas.microsoft.com/office/powerpoint/2010/main" val="605537360"/>
      </p:ext>
    </p:extLst>
  </p:cSld>
  <p:clrMapOvr>
    <a:masterClrMapping/>
  </p:clrMapOvr>
  <p:hf sldNum="0"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Content with Picture 7">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139390" y="164592"/>
            <a:ext cx="2426237" cy="1182914"/>
          </a:xfrm>
        </p:spPr>
        <p:txBody>
          <a:bodyPr anchor="t"/>
          <a:lstStyle/>
          <a:p>
            <a:r>
              <a:rPr lang="en-US"/>
              <a:t>Click to edit Master title style</a:t>
            </a:r>
            <a:endParaRPr lang="en-US" dirty="0"/>
          </a:p>
        </p:txBody>
      </p:sp>
      <p:sp>
        <p:nvSpPr>
          <p:cNvPr id="8" name="Content Placeholder 7">
            <a:extLst>
              <a:ext uri="{FF2B5EF4-FFF2-40B4-BE49-F238E27FC236}">
                <a16:creationId xmlns:a16="http://schemas.microsoft.com/office/drawing/2014/main" id="{6E0D00CE-C191-6DE5-9D82-7EFB59BC3739}"/>
              </a:ext>
            </a:extLst>
          </p:cNvPr>
          <p:cNvSpPr>
            <a:spLocks noGrp="1"/>
          </p:cNvSpPr>
          <p:nvPr>
            <p:ph sz="quarter" idx="14"/>
          </p:nvPr>
        </p:nvSpPr>
        <p:spPr>
          <a:xfrm>
            <a:off x="139390" y="1347506"/>
            <a:ext cx="2426237" cy="3353607"/>
          </a:xfrm>
        </p:spPr>
        <p:txBody>
          <a:bodyPr vert="horz" lIns="91440" tIns="45720" rIns="91440" bIns="45720" rtlCol="0" anchor="b">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134028" y="4790346"/>
            <a:ext cx="1571828" cy="253746"/>
          </a:xfrm>
        </p:spPr>
        <p:txBody>
          <a:bodyPr/>
          <a:lstStyle/>
          <a:p>
            <a:r>
              <a:rPr lang="en-US"/>
              <a:t>Sample Footer Text</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1654812" y="4793096"/>
            <a:ext cx="774063" cy="253746"/>
          </a:xfrm>
        </p:spPr>
        <p:txBody>
          <a:bodyPr/>
          <a:lstStyle>
            <a:lvl1pPr>
              <a:defRPr>
                <a:solidFill>
                  <a:schemeClr val="tx1"/>
                </a:solidFill>
                <a:effectLst/>
              </a:defRPr>
            </a:lvl1pPr>
          </a:lstStyle>
          <a:p>
            <a:fld id="{ADC8C146-0A20-4029-98D5-9A42EEDF8B24}" type="datetime1">
              <a:rPr lang="en-US" smtClean="0"/>
              <a:pPr/>
              <a:t>8/19/26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2428875" y="4793096"/>
            <a:ext cx="342900" cy="253746"/>
          </a:xfrm>
        </p:spPr>
        <p:txBody>
          <a:bodyPr/>
          <a:lstStyle/>
          <a:p>
            <a:fld id="{CC057153-B650-4DEB-B370-79DDCFDCE934}" type="slidenum">
              <a:rPr lang="en-US" smtClean="0"/>
              <a:pPr/>
              <a:t>‹#›</a:t>
            </a:fld>
            <a:endParaRPr lang="en-US"/>
          </a:p>
        </p:txBody>
      </p:sp>
      <p:sp>
        <p:nvSpPr>
          <p:cNvPr id="4" name="Picture Placeholder 3">
            <a:extLst>
              <a:ext uri="{FF2B5EF4-FFF2-40B4-BE49-F238E27FC236}">
                <a16:creationId xmlns:a16="http://schemas.microsoft.com/office/drawing/2014/main" id="{65B0EC94-28E6-D665-7491-10A308B0B426}"/>
              </a:ext>
            </a:extLst>
          </p:cNvPr>
          <p:cNvSpPr>
            <a:spLocks noGrp="1"/>
          </p:cNvSpPr>
          <p:nvPr>
            <p:ph type="pic" sz="quarter" idx="13" hasCustomPrompt="1"/>
          </p:nvPr>
        </p:nvSpPr>
        <p:spPr>
          <a:xfrm>
            <a:off x="2974338" y="198882"/>
            <a:ext cx="5969638" cy="4745736"/>
          </a:xfrm>
          <a:custGeom>
            <a:avLst/>
            <a:gdLst>
              <a:gd name="connsiteX0" fmla="*/ 267246 w 7391400"/>
              <a:gd name="connsiteY0" fmla="*/ 0 h 6172200"/>
              <a:gd name="connsiteX1" fmla="*/ 7124155 w 7391400"/>
              <a:gd name="connsiteY1" fmla="*/ 0 h 6172200"/>
              <a:gd name="connsiteX2" fmla="*/ 7391400 w 7391400"/>
              <a:gd name="connsiteY2" fmla="*/ 266886 h 6172200"/>
              <a:gd name="connsiteX3" fmla="*/ 7391400 w 7391400"/>
              <a:gd name="connsiteY3" fmla="*/ 5905314 h 6172200"/>
              <a:gd name="connsiteX4" fmla="*/ 7124155 w 7391400"/>
              <a:gd name="connsiteY4" fmla="*/ 6172200 h 6172200"/>
              <a:gd name="connsiteX5" fmla="*/ 267246 w 7391400"/>
              <a:gd name="connsiteY5" fmla="*/ 6172200 h 6172200"/>
              <a:gd name="connsiteX6" fmla="*/ 0 w 7391400"/>
              <a:gd name="connsiteY6" fmla="*/ 5905314 h 6172200"/>
              <a:gd name="connsiteX7" fmla="*/ 0 w 7391400"/>
              <a:gd name="connsiteY7" fmla="*/ 266886 h 6172200"/>
              <a:gd name="connsiteX8" fmla="*/ 267246 w 7391400"/>
              <a:gd name="connsiteY8" fmla="*/ 0 h 6172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391400" h="6172200">
                <a:moveTo>
                  <a:pt x="267246" y="0"/>
                </a:moveTo>
                <a:lnTo>
                  <a:pt x="7124155" y="0"/>
                </a:lnTo>
                <a:cubicBezTo>
                  <a:pt x="7271750" y="0"/>
                  <a:pt x="7391400" y="119489"/>
                  <a:pt x="7391400" y="266886"/>
                </a:cubicBezTo>
                <a:lnTo>
                  <a:pt x="7391400" y="5905314"/>
                </a:lnTo>
                <a:cubicBezTo>
                  <a:pt x="7391400" y="6052711"/>
                  <a:pt x="7271750" y="6172200"/>
                  <a:pt x="7124155" y="6172200"/>
                </a:cubicBezTo>
                <a:lnTo>
                  <a:pt x="267246" y="6172200"/>
                </a:lnTo>
                <a:cubicBezTo>
                  <a:pt x="119650" y="6172200"/>
                  <a:pt x="0" y="6052711"/>
                  <a:pt x="0" y="5905314"/>
                </a:cubicBezTo>
                <a:lnTo>
                  <a:pt x="0" y="266886"/>
                </a:lnTo>
                <a:cubicBezTo>
                  <a:pt x="0" y="119489"/>
                  <a:pt x="119650" y="0"/>
                  <a:pt x="267246" y="0"/>
                </a:cubicBezTo>
                <a:close/>
              </a:path>
            </a:pathLst>
          </a:custGeom>
          <a:blipFill dpi="0" rotWithShape="1">
            <a:blip r:embed="rId2">
              <a:alphaModFix amt="60000"/>
            </a:blip>
            <a:srcRect/>
            <a:stretch>
              <a:fillRect/>
            </a:stretch>
          </a:blipFill>
        </p:spPr>
        <p:txBody>
          <a:bodyPr wrap="square">
            <a:noAutofit/>
          </a:bodyPr>
          <a:lstStyle>
            <a:lvl1pPr marL="0" indent="0">
              <a:buNone/>
              <a:defRPr/>
            </a:lvl1pPr>
          </a:lstStyle>
          <a:p>
            <a:r>
              <a:rPr lang="en-US" dirty="0"/>
              <a:t> </a:t>
            </a:r>
          </a:p>
        </p:txBody>
      </p:sp>
    </p:spTree>
    <p:extLst>
      <p:ext uri="{BB962C8B-B14F-4D97-AF65-F5344CB8AC3E}">
        <p14:creationId xmlns:p14="http://schemas.microsoft.com/office/powerpoint/2010/main" val="1309484838"/>
      </p:ext>
    </p:extLst>
  </p:cSld>
  <p:clrMapOvr>
    <a:masterClrMapping/>
  </p:clrMapOvr>
  <p:hf sldNum="0" hdr="0" ftr="0" dt="0"/>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Content with Picture 8">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139409" y="162339"/>
            <a:ext cx="2536190" cy="1660143"/>
          </a:xfrm>
        </p:spPr>
        <p:txBody>
          <a:bodyPr anchor="t">
            <a:normAutofit/>
          </a:bodyPr>
          <a:lstStyle>
            <a:lvl1pPr>
              <a:defRPr sz="2250"/>
            </a:lvl1pPr>
          </a:lstStyle>
          <a:p>
            <a:r>
              <a:rPr lang="en-US"/>
              <a:t>Click to edit Master title style</a:t>
            </a:r>
            <a:endParaRPr lang="en-US" dirty="0"/>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2971800" y="133119"/>
            <a:ext cx="5972175" cy="1714500"/>
          </a:xfrm>
        </p:spPr>
        <p:txBody>
          <a:bodyPr>
            <a:normAutofit/>
          </a:bodyPr>
          <a:lstStyle>
            <a:lvl1pPr marL="214313" indent="-214313">
              <a:buFont typeface="Arial" panose="020B0604020202020204" pitchFamily="34" charset="0"/>
              <a:buChar char="•"/>
              <a:defRPr sz="1050"/>
            </a:lvl1pPr>
            <a:lvl2pPr marL="385763" indent="-214313">
              <a:buFont typeface="Arial" panose="020B0604020202020204" pitchFamily="34" charset="0"/>
              <a:buChar char="•"/>
              <a:defRPr sz="1050"/>
            </a:lvl2pPr>
            <a:lvl3pPr marL="557213" indent="-214313">
              <a:buFont typeface="Arial" panose="020B0604020202020204" pitchFamily="34" charset="0"/>
              <a:buChar char="•"/>
              <a:defRPr sz="1050"/>
            </a:lvl3pPr>
            <a:lvl4pPr marL="642938" indent="-128588">
              <a:buFont typeface="Arial" panose="020B0604020202020204" pitchFamily="34" charset="0"/>
              <a:buChar char="•"/>
              <a:defRPr sz="1050"/>
            </a:lvl4pPr>
            <a:lvl5pPr marL="814388" indent="-128588">
              <a:buFont typeface="Arial" panose="020B0604020202020204" pitchFamily="34" charset="0"/>
              <a:buChar char="•"/>
              <a:defRPr sz="105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139409" y="1885098"/>
            <a:ext cx="2104054" cy="253746"/>
          </a:xfrm>
        </p:spPr>
        <p:txBody>
          <a:bodyPr/>
          <a:lstStyle/>
          <a:p>
            <a:r>
              <a:rPr lang="en-US"/>
              <a:t>Sample Footer Text</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7672754" y="1887183"/>
            <a:ext cx="963008" cy="253746"/>
          </a:xfrm>
        </p:spPr>
        <p:txBody>
          <a:bodyPr/>
          <a:lstStyle/>
          <a:p>
            <a:fld id="{7FA43F5B-065E-43CE-B3FD-98C48A6F94D7}" type="datetime1">
              <a:rPr lang="en-US" smtClean="0"/>
              <a:pPr/>
              <a:t>8/19/26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8632189" y="1885098"/>
            <a:ext cx="336980" cy="253746"/>
          </a:xfrm>
        </p:spPr>
        <p:txBody>
          <a:bodyPr/>
          <a:lstStyle/>
          <a:p>
            <a:fld id="{2DE90F28-AFBB-4AB2-AA79-6D3F72ED131B}" type="slidenum">
              <a:rPr lang="en-US" smtClean="0"/>
              <a:pPr/>
              <a:t>‹#›</a:t>
            </a:fld>
            <a:endParaRPr lang="en-US"/>
          </a:p>
        </p:txBody>
      </p:sp>
      <p:sp>
        <p:nvSpPr>
          <p:cNvPr id="10" name="Picture Placeholder 9">
            <a:extLst>
              <a:ext uri="{FF2B5EF4-FFF2-40B4-BE49-F238E27FC236}">
                <a16:creationId xmlns:a16="http://schemas.microsoft.com/office/drawing/2014/main" id="{EE56056E-3484-D9D0-95D5-818FF4C3C8D6}"/>
              </a:ext>
            </a:extLst>
          </p:cNvPr>
          <p:cNvSpPr>
            <a:spLocks noGrp="1"/>
          </p:cNvSpPr>
          <p:nvPr>
            <p:ph type="pic" sz="quarter" idx="13" hasCustomPrompt="1"/>
          </p:nvPr>
        </p:nvSpPr>
        <p:spPr>
          <a:xfrm>
            <a:off x="205665" y="2201460"/>
            <a:ext cx="8738310" cy="2742015"/>
          </a:xfrm>
          <a:custGeom>
            <a:avLst/>
            <a:gdLst>
              <a:gd name="connsiteX0" fmla="*/ 298989 w 11651080"/>
              <a:gd name="connsiteY0" fmla="*/ 0 h 3656020"/>
              <a:gd name="connsiteX1" fmla="*/ 11352091 w 11651080"/>
              <a:gd name="connsiteY1" fmla="*/ 0 h 3656020"/>
              <a:gd name="connsiteX2" fmla="*/ 11651080 w 11651080"/>
              <a:gd name="connsiteY2" fmla="*/ 298989 h 3656020"/>
              <a:gd name="connsiteX3" fmla="*/ 11651080 w 11651080"/>
              <a:gd name="connsiteY3" fmla="*/ 3357031 h 3656020"/>
              <a:gd name="connsiteX4" fmla="*/ 11352091 w 11651080"/>
              <a:gd name="connsiteY4" fmla="*/ 3656020 h 3656020"/>
              <a:gd name="connsiteX5" fmla="*/ 298989 w 11651080"/>
              <a:gd name="connsiteY5" fmla="*/ 3656020 h 3656020"/>
              <a:gd name="connsiteX6" fmla="*/ 0 w 11651080"/>
              <a:gd name="connsiteY6" fmla="*/ 3357031 h 3656020"/>
              <a:gd name="connsiteX7" fmla="*/ 0 w 11651080"/>
              <a:gd name="connsiteY7" fmla="*/ 298989 h 3656020"/>
              <a:gd name="connsiteX8" fmla="*/ 298989 w 11651080"/>
              <a:gd name="connsiteY8" fmla="*/ 0 h 36560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1651080" h="3656020">
                <a:moveTo>
                  <a:pt x="298989" y="0"/>
                </a:moveTo>
                <a:lnTo>
                  <a:pt x="11352091" y="0"/>
                </a:lnTo>
                <a:cubicBezTo>
                  <a:pt x="11517218" y="0"/>
                  <a:pt x="11651080" y="133862"/>
                  <a:pt x="11651080" y="298989"/>
                </a:cubicBezTo>
                <a:lnTo>
                  <a:pt x="11651080" y="3357031"/>
                </a:lnTo>
                <a:cubicBezTo>
                  <a:pt x="11651080" y="3522158"/>
                  <a:pt x="11517218" y="3656020"/>
                  <a:pt x="11352091" y="3656020"/>
                </a:cubicBezTo>
                <a:lnTo>
                  <a:pt x="298989" y="3656020"/>
                </a:lnTo>
                <a:cubicBezTo>
                  <a:pt x="133862" y="3656020"/>
                  <a:pt x="0" y="3522158"/>
                  <a:pt x="0" y="3357031"/>
                </a:cubicBezTo>
                <a:lnTo>
                  <a:pt x="0" y="298989"/>
                </a:lnTo>
                <a:cubicBezTo>
                  <a:pt x="0" y="133862"/>
                  <a:pt x="133862" y="0"/>
                  <a:pt x="298989" y="0"/>
                </a:cubicBezTo>
                <a:close/>
              </a:path>
            </a:pathLst>
          </a:custGeom>
          <a:blipFill dpi="0" rotWithShape="1">
            <a:blip r:embed="rId2">
              <a:alphaModFix amt="60000"/>
            </a:blip>
            <a:srcRect/>
            <a:stretch>
              <a:fillRect/>
            </a:stretch>
          </a:blipFill>
        </p:spPr>
        <p:txBody>
          <a:bodyPr wrap="square">
            <a:noAutofit/>
          </a:bodyPr>
          <a:lstStyle>
            <a:lvl1pPr marL="0" indent="0">
              <a:buNone/>
              <a:defRPr/>
            </a:lvl1pPr>
          </a:lstStyle>
          <a:p>
            <a:r>
              <a:rPr lang="en-US" dirty="0"/>
              <a:t> </a:t>
            </a:r>
          </a:p>
        </p:txBody>
      </p:sp>
    </p:spTree>
    <p:extLst>
      <p:ext uri="{BB962C8B-B14F-4D97-AF65-F5344CB8AC3E}">
        <p14:creationId xmlns:p14="http://schemas.microsoft.com/office/powerpoint/2010/main" val="3269324234"/>
      </p:ext>
    </p:extLst>
  </p:cSld>
  <p:clrMapOvr>
    <a:masterClrMapping/>
  </p:clrMapOvr>
  <p:hf sldNum="0" hdr="0" ftr="0" dt="0"/>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Content with Picture 9">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137160" y="164593"/>
            <a:ext cx="2379481" cy="2358764"/>
          </a:xfrm>
        </p:spPr>
        <p:txBody>
          <a:bodyPr anchor="t">
            <a:normAutofit/>
          </a:bodyPr>
          <a:lstStyle>
            <a:lvl1pPr>
              <a:defRPr sz="2250"/>
            </a:lvl1pPr>
          </a:lstStyle>
          <a:p>
            <a:r>
              <a:rPr lang="en-US"/>
              <a:t>Click to edit Master title style</a:t>
            </a:r>
            <a:endParaRPr lang="en-US" dirty="0"/>
          </a:p>
        </p:txBody>
      </p:sp>
      <p:sp>
        <p:nvSpPr>
          <p:cNvPr id="10" name="Picture Placeholder 9">
            <a:extLst>
              <a:ext uri="{FF2B5EF4-FFF2-40B4-BE49-F238E27FC236}">
                <a16:creationId xmlns:a16="http://schemas.microsoft.com/office/drawing/2014/main" id="{A95997E6-BE07-E83F-D207-0CADA004E02A}"/>
              </a:ext>
            </a:extLst>
          </p:cNvPr>
          <p:cNvSpPr>
            <a:spLocks noGrp="1"/>
          </p:cNvSpPr>
          <p:nvPr>
            <p:ph type="pic" sz="quarter" idx="15" hasCustomPrompt="1"/>
          </p:nvPr>
        </p:nvSpPr>
        <p:spPr>
          <a:xfrm>
            <a:off x="3000375" y="198999"/>
            <a:ext cx="5943600" cy="2321878"/>
          </a:xfrm>
          <a:custGeom>
            <a:avLst/>
            <a:gdLst>
              <a:gd name="connsiteX0" fmla="*/ 282309 w 8229600"/>
              <a:gd name="connsiteY0" fmla="*/ 0 h 3095837"/>
              <a:gd name="connsiteX1" fmla="*/ 7947291 w 8229600"/>
              <a:gd name="connsiteY1" fmla="*/ 0 h 3095837"/>
              <a:gd name="connsiteX2" fmla="*/ 8229600 w 8229600"/>
              <a:gd name="connsiteY2" fmla="*/ 282309 h 3095837"/>
              <a:gd name="connsiteX3" fmla="*/ 8229600 w 8229600"/>
              <a:gd name="connsiteY3" fmla="*/ 2813528 h 3095837"/>
              <a:gd name="connsiteX4" fmla="*/ 7947291 w 8229600"/>
              <a:gd name="connsiteY4" fmla="*/ 3095837 h 3095837"/>
              <a:gd name="connsiteX5" fmla="*/ 282309 w 8229600"/>
              <a:gd name="connsiteY5" fmla="*/ 3095837 h 3095837"/>
              <a:gd name="connsiteX6" fmla="*/ 0 w 8229600"/>
              <a:gd name="connsiteY6" fmla="*/ 2813528 h 3095837"/>
              <a:gd name="connsiteX7" fmla="*/ 0 w 8229600"/>
              <a:gd name="connsiteY7" fmla="*/ 282309 h 3095837"/>
              <a:gd name="connsiteX8" fmla="*/ 282309 w 8229600"/>
              <a:gd name="connsiteY8" fmla="*/ 0 h 30958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8229600" h="3095837">
                <a:moveTo>
                  <a:pt x="282309" y="0"/>
                </a:moveTo>
                <a:lnTo>
                  <a:pt x="7947291" y="0"/>
                </a:lnTo>
                <a:cubicBezTo>
                  <a:pt x="8103206" y="0"/>
                  <a:pt x="8229600" y="126394"/>
                  <a:pt x="8229600" y="282309"/>
                </a:cubicBezTo>
                <a:lnTo>
                  <a:pt x="8229600" y="2813528"/>
                </a:lnTo>
                <a:cubicBezTo>
                  <a:pt x="8229600" y="2969443"/>
                  <a:pt x="8103206" y="3095837"/>
                  <a:pt x="7947291" y="3095837"/>
                </a:cubicBezTo>
                <a:lnTo>
                  <a:pt x="282309" y="3095837"/>
                </a:lnTo>
                <a:cubicBezTo>
                  <a:pt x="126394" y="3095837"/>
                  <a:pt x="0" y="2969443"/>
                  <a:pt x="0" y="2813528"/>
                </a:cubicBezTo>
                <a:lnTo>
                  <a:pt x="0" y="282309"/>
                </a:lnTo>
                <a:cubicBezTo>
                  <a:pt x="0" y="126394"/>
                  <a:pt x="126394" y="0"/>
                  <a:pt x="282309" y="0"/>
                </a:cubicBezTo>
                <a:close/>
              </a:path>
            </a:pathLst>
          </a:custGeom>
          <a:blipFill dpi="0" rotWithShape="1">
            <a:blip r:embed="rId2">
              <a:alphaModFix amt="60000"/>
            </a:blip>
            <a:srcRect/>
            <a:stretch>
              <a:fillRect/>
            </a:stretch>
          </a:blipFill>
        </p:spPr>
        <p:txBody>
          <a:bodyPr wrap="square">
            <a:noAutofit/>
          </a:bodyPr>
          <a:lstStyle>
            <a:lvl1pPr marL="0" indent="0">
              <a:buNone/>
              <a:defRPr/>
            </a:lvl1pPr>
          </a:lstStyle>
          <a:p>
            <a:r>
              <a:rPr lang="en-US" dirty="0"/>
              <a:t> </a:t>
            </a:r>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2935924" y="2657698"/>
            <a:ext cx="6008051" cy="2132648"/>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a:t>Sample Footer Text</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7FA43F5B-065E-43CE-B3FD-98C48A6F94D7}" type="datetime1">
              <a:rPr lang="en-US" smtClean="0"/>
              <a:pPr/>
              <a:t>8/19/26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2DE90F28-AFBB-4AB2-AA79-6D3F72ED131B}" type="slidenum">
              <a:rPr lang="en-US" smtClean="0"/>
              <a:pPr/>
              <a:t>‹#›</a:t>
            </a:fld>
            <a:endParaRPr lang="en-US"/>
          </a:p>
        </p:txBody>
      </p:sp>
    </p:spTree>
    <p:extLst>
      <p:ext uri="{BB962C8B-B14F-4D97-AF65-F5344CB8AC3E}">
        <p14:creationId xmlns:p14="http://schemas.microsoft.com/office/powerpoint/2010/main" val="998915713"/>
      </p:ext>
    </p:extLst>
  </p:cSld>
  <p:clrMapOvr>
    <a:masterClrMapping/>
  </p:clrMapOvr>
  <p:hf sldNum="0" hdr="0" ftr="0" dt="0"/>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Number Large">
    <p:spTree>
      <p:nvGrpSpPr>
        <p:cNvPr id="1" name=""/>
        <p:cNvGrpSpPr/>
        <p:nvPr/>
      </p:nvGrpSpPr>
      <p:grpSpPr>
        <a:xfrm>
          <a:off x="0" y="0"/>
          <a:ext cx="0" cy="0"/>
          <a:chOff x="0" y="0"/>
          <a:chExt cx="0" cy="0"/>
        </a:xfrm>
      </p:grpSpPr>
      <p:sp>
        <p:nvSpPr>
          <p:cNvPr id="6" name="Rectangle: Rounded Corners 5">
            <a:extLst>
              <a:ext uri="{FF2B5EF4-FFF2-40B4-BE49-F238E27FC236}">
                <a16:creationId xmlns:a16="http://schemas.microsoft.com/office/drawing/2014/main" id="{0E5778B4-3E3F-C3EF-5322-2ECFF646D003}"/>
              </a:ext>
              <a:ext uri="{C183D7F6-B498-43B3-948B-1728B52AA6E4}">
                <adec:decorative xmlns:adec="http://schemas.microsoft.com/office/drawing/2017/decorative" val="1"/>
              </a:ext>
            </a:extLst>
          </p:cNvPr>
          <p:cNvSpPr/>
          <p:nvPr/>
        </p:nvSpPr>
        <p:spPr>
          <a:xfrm>
            <a:off x="923866" y="570114"/>
            <a:ext cx="7296269" cy="3175255"/>
          </a:xfrm>
          <a:prstGeom prst="roundRect">
            <a:avLst>
              <a:gd name="adj" fmla="val 7502"/>
            </a:avLst>
          </a:prstGeom>
          <a:solidFill>
            <a:schemeClr val="bg2"/>
          </a:solidFill>
          <a:ln w="254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a:ln>
                <a:noFill/>
              </a:ln>
              <a:solidFill>
                <a:srgbClr val="F0EDE6"/>
              </a:solidFill>
              <a:effectLst/>
              <a:uLnTx/>
              <a:uFillTx/>
              <a:latin typeface="Neue Haas Grotesk Text Pro"/>
              <a:ea typeface="+mn-ea"/>
              <a:cs typeface="+mn-cs"/>
            </a:endParaRPr>
          </a:p>
        </p:txBody>
      </p:sp>
      <p:sp>
        <p:nvSpPr>
          <p:cNvPr id="2" name="Title 1">
            <a:extLst>
              <a:ext uri="{FF2B5EF4-FFF2-40B4-BE49-F238E27FC236}">
                <a16:creationId xmlns:a16="http://schemas.microsoft.com/office/drawing/2014/main" id="{B32242A1-A384-8CB1-904B-45EEDF23C323}"/>
              </a:ext>
            </a:extLst>
          </p:cNvPr>
          <p:cNvSpPr>
            <a:spLocks noGrp="1"/>
          </p:cNvSpPr>
          <p:nvPr>
            <p:ph type="title"/>
          </p:nvPr>
        </p:nvSpPr>
        <p:spPr>
          <a:xfrm>
            <a:off x="1084707" y="3941369"/>
            <a:ext cx="6974586" cy="768995"/>
          </a:xfrm>
        </p:spPr>
        <p:txBody>
          <a:bodyPr anchor="ctr">
            <a:normAutofit/>
          </a:bodyPr>
          <a:lstStyle>
            <a:lvl1pPr algn="ctr">
              <a:lnSpc>
                <a:spcPct val="90000"/>
              </a:lnSpc>
              <a:defRPr sz="1800" spc="-38" baseline="0">
                <a:solidFill>
                  <a:schemeClr val="tx1"/>
                </a:solidFill>
              </a:defRPr>
            </a:lvl1pPr>
          </a:lstStyle>
          <a:p>
            <a:r>
              <a:rPr lang="en-US"/>
              <a:t>Click to edit Master title style</a:t>
            </a:r>
            <a:endParaRPr lang="en-US" dirty="0"/>
          </a:p>
        </p:txBody>
      </p:sp>
      <p:sp>
        <p:nvSpPr>
          <p:cNvPr id="7" name="Content Placeholder 6">
            <a:extLst>
              <a:ext uri="{FF2B5EF4-FFF2-40B4-BE49-F238E27FC236}">
                <a16:creationId xmlns:a16="http://schemas.microsoft.com/office/drawing/2014/main" id="{76F59BDE-94E7-56D6-3D7F-6145311BA2D8}"/>
              </a:ext>
            </a:extLst>
          </p:cNvPr>
          <p:cNvSpPr>
            <a:spLocks noGrp="1"/>
          </p:cNvSpPr>
          <p:nvPr>
            <p:ph sz="quarter" idx="13" hasCustomPrompt="1"/>
          </p:nvPr>
        </p:nvSpPr>
        <p:spPr>
          <a:xfrm>
            <a:off x="1084707" y="969818"/>
            <a:ext cx="6974586" cy="2957941"/>
          </a:xfrm>
        </p:spPr>
        <p:txBody>
          <a:bodyPr anchor="ctr">
            <a:normAutofit/>
          </a:bodyPr>
          <a:lstStyle>
            <a:lvl1pPr marL="0" indent="0" algn="ctr">
              <a:lnSpc>
                <a:spcPct val="80000"/>
              </a:lnSpc>
              <a:buNone/>
              <a:defRPr sz="19500" spc="-75" baseline="0">
                <a:solidFill>
                  <a:schemeClr val="tx1"/>
                </a:solidFill>
              </a:defRPr>
            </a:lvl1pPr>
          </a:lstStyle>
          <a:p>
            <a:pPr lvl="0"/>
            <a:r>
              <a:rPr lang="en-US" dirty="0"/>
              <a:t>XX%</a:t>
            </a:r>
          </a:p>
        </p:txBody>
      </p:sp>
      <p:sp>
        <p:nvSpPr>
          <p:cNvPr id="4" name="Footer Placeholder 3">
            <a:extLst>
              <a:ext uri="{FF2B5EF4-FFF2-40B4-BE49-F238E27FC236}">
                <a16:creationId xmlns:a16="http://schemas.microsoft.com/office/drawing/2014/main" id="{6D6D72DC-8ED1-FAB8-CD4C-7BDCAEA2C329}"/>
              </a:ext>
            </a:extLst>
          </p:cNvPr>
          <p:cNvSpPr>
            <a:spLocks noGrp="1"/>
          </p:cNvSpPr>
          <p:nvPr>
            <p:ph type="ftr" sz="quarter" idx="11"/>
          </p:nvPr>
        </p:nvSpPr>
        <p:spPr/>
        <p:txBody>
          <a:bodyPr/>
          <a:lstStyle/>
          <a:p>
            <a:r>
              <a:rPr lang="en-US"/>
              <a:t>Sample Footer Text</a:t>
            </a:r>
          </a:p>
        </p:txBody>
      </p:sp>
      <p:sp>
        <p:nvSpPr>
          <p:cNvPr id="3" name="Date Placeholder 2">
            <a:extLst>
              <a:ext uri="{FF2B5EF4-FFF2-40B4-BE49-F238E27FC236}">
                <a16:creationId xmlns:a16="http://schemas.microsoft.com/office/drawing/2014/main" id="{14C6FDB9-A3B3-A4DB-D081-D27ECC7043C1}"/>
              </a:ext>
            </a:extLst>
          </p:cNvPr>
          <p:cNvSpPr>
            <a:spLocks noGrp="1"/>
          </p:cNvSpPr>
          <p:nvPr>
            <p:ph type="dt" sz="half" idx="10"/>
          </p:nvPr>
        </p:nvSpPr>
        <p:spPr/>
        <p:txBody>
          <a:bodyPr/>
          <a:lstStyle/>
          <a:p>
            <a:fld id="{E5AD3D17-73C9-402C-91E7-BA73E6829C50}" type="datetime1">
              <a:rPr lang="en-US" smtClean="0"/>
              <a:pPr/>
              <a:t>8/19/26</a:t>
            </a:fld>
            <a:endParaRPr lang="en-US"/>
          </a:p>
        </p:txBody>
      </p:sp>
      <p:sp>
        <p:nvSpPr>
          <p:cNvPr id="5" name="Slide Number Placeholder 4">
            <a:extLst>
              <a:ext uri="{FF2B5EF4-FFF2-40B4-BE49-F238E27FC236}">
                <a16:creationId xmlns:a16="http://schemas.microsoft.com/office/drawing/2014/main" id="{CFBFCFB0-1D5D-C25F-A74C-5CFB9C1950CF}"/>
              </a:ext>
            </a:extLst>
          </p:cNvPr>
          <p:cNvSpPr>
            <a:spLocks noGrp="1"/>
          </p:cNvSpPr>
          <p:nvPr>
            <p:ph type="sldNum" sz="quarter" idx="12"/>
          </p:nvPr>
        </p:nvSpPr>
        <p:spPr/>
        <p:txBody>
          <a:bodyPr/>
          <a:lstStyle/>
          <a:p>
            <a:fld id="{CC057153-B650-4DEB-B370-79DDCFDCE934}" type="slidenum">
              <a:rPr lang="en-US" smtClean="0"/>
              <a:pPr/>
              <a:t>‹#›</a:t>
            </a:fld>
            <a:endParaRPr lang="en-US"/>
          </a:p>
        </p:txBody>
      </p:sp>
    </p:spTree>
    <p:extLst>
      <p:ext uri="{BB962C8B-B14F-4D97-AF65-F5344CB8AC3E}">
        <p14:creationId xmlns:p14="http://schemas.microsoft.com/office/powerpoint/2010/main" val="2355489133"/>
      </p:ext>
    </p:extLst>
  </p:cSld>
  <p:clrMapOvr>
    <a:masterClrMapping/>
  </p:clrMapOvr>
  <p:hf sldNum="0" hdr="0" ftr="0" dt="0"/>
  <p:extLst>
    <p:ext uri="{DCECCB84-F9BA-43D5-87BE-67443E8EF086}">
      <p15:sldGuideLst xmlns:p15="http://schemas.microsoft.com/office/powerpoint/2012/main"/>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cSld name="Statem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459486" y="-850392"/>
            <a:ext cx="7989570" cy="685800"/>
          </a:xfrm>
        </p:spPr>
        <p:txBody>
          <a:bodyPr/>
          <a:lstStyle/>
          <a:p>
            <a:r>
              <a:rPr lang="en-US"/>
              <a:t>Click to edit Master title style</a:t>
            </a:r>
            <a:endParaRPr lang="en-US" dirty="0"/>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137160" y="130303"/>
            <a:ext cx="7856624" cy="3637988"/>
          </a:xfrm>
        </p:spPr>
        <p:txBody>
          <a:bodyPr anchor="t">
            <a:noAutofit/>
          </a:bodyPr>
          <a:lstStyle>
            <a:lvl1pPr marL="0" indent="0">
              <a:lnSpc>
                <a:spcPct val="90000"/>
              </a:lnSpc>
              <a:buNone/>
              <a:defRPr sz="5700" b="0" cap="none" spc="-38" baseline="0"/>
            </a:lvl1pPr>
            <a:lvl2pPr marL="171450" indent="0">
              <a:lnSpc>
                <a:spcPct val="90000"/>
              </a:lnSpc>
              <a:buNone/>
              <a:defRPr sz="4950" b="0" cap="none" spc="-38" baseline="0"/>
            </a:lvl2pPr>
            <a:lvl3pPr marL="342900" indent="0">
              <a:lnSpc>
                <a:spcPct val="90000"/>
              </a:lnSpc>
              <a:buNone/>
              <a:defRPr sz="4500" b="0" cap="none" spc="-38" baseline="0"/>
            </a:lvl3pPr>
            <a:lvl4pPr marL="514350" indent="0">
              <a:lnSpc>
                <a:spcPct val="90000"/>
              </a:lnSpc>
              <a:buNone/>
              <a:defRPr sz="4050" b="0" cap="none" spc="-38" baseline="0"/>
            </a:lvl4pPr>
            <a:lvl5pPr marL="685800" indent="0">
              <a:lnSpc>
                <a:spcPct val="90000"/>
              </a:lnSpc>
              <a:buNone/>
              <a:defRPr sz="3600" b="0" cap="none" spc="-38" baseline="0"/>
            </a:lvl5pPr>
          </a:lstStyle>
          <a:p>
            <a:pPr lvl="0"/>
            <a:r>
              <a:rPr lang="en-US" dirty="0"/>
              <a:t>Click to edit Statement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Footer Placeholder 3">
            <a:extLst>
              <a:ext uri="{FF2B5EF4-FFF2-40B4-BE49-F238E27FC236}">
                <a16:creationId xmlns:a16="http://schemas.microsoft.com/office/drawing/2014/main" id="{3D56E87B-2252-4382-E6E7-15A81BCC8029}"/>
              </a:ext>
            </a:extLst>
          </p:cNvPr>
          <p:cNvSpPr>
            <a:spLocks noGrp="1"/>
          </p:cNvSpPr>
          <p:nvPr>
            <p:ph type="ftr" sz="quarter" idx="11"/>
          </p:nvPr>
        </p:nvSpPr>
        <p:spPr/>
        <p:txBody>
          <a:bodyPr/>
          <a:lstStyle/>
          <a:p>
            <a:r>
              <a:rPr lang="en-US"/>
              <a:t>Sample Footer Text</a:t>
            </a:r>
          </a:p>
        </p:txBody>
      </p:sp>
      <p:sp>
        <p:nvSpPr>
          <p:cNvPr id="3" name="Date Placeholder 2">
            <a:extLst>
              <a:ext uri="{FF2B5EF4-FFF2-40B4-BE49-F238E27FC236}">
                <a16:creationId xmlns:a16="http://schemas.microsoft.com/office/drawing/2014/main" id="{67F688C7-1128-9027-65E4-A17BBE7DDDF0}"/>
              </a:ext>
            </a:extLst>
          </p:cNvPr>
          <p:cNvSpPr>
            <a:spLocks noGrp="1"/>
          </p:cNvSpPr>
          <p:nvPr>
            <p:ph type="dt" sz="half" idx="10"/>
          </p:nvPr>
        </p:nvSpPr>
        <p:spPr/>
        <p:txBody>
          <a:bodyPr/>
          <a:lstStyle/>
          <a:p>
            <a:fld id="{F140A1F3-DA5D-4F2E-B759-748FF8D0ACA9}" type="datetime1">
              <a:rPr lang="en-US" smtClean="0"/>
              <a:pPr/>
              <a:t>8/19/26</a:t>
            </a:fld>
            <a:endParaRPr lang="en-US"/>
          </a:p>
        </p:txBody>
      </p:sp>
      <p:sp>
        <p:nvSpPr>
          <p:cNvPr id="5" name="Slide Number Placeholder 4">
            <a:extLst>
              <a:ext uri="{FF2B5EF4-FFF2-40B4-BE49-F238E27FC236}">
                <a16:creationId xmlns:a16="http://schemas.microsoft.com/office/drawing/2014/main" id="{8C1C6A68-1AC4-7B10-CD66-D67327434E62}"/>
              </a:ext>
            </a:extLst>
          </p:cNvPr>
          <p:cNvSpPr>
            <a:spLocks noGrp="1"/>
          </p:cNvSpPr>
          <p:nvPr>
            <p:ph type="sldNum" sz="quarter" idx="12"/>
          </p:nvPr>
        </p:nvSpPr>
        <p:spPr/>
        <p:txBody>
          <a:bodyPr/>
          <a:lstStyle/>
          <a:p>
            <a:fld id="{CC057153-B650-4DEB-B370-79DDCFDCE934}" type="slidenum">
              <a:rPr lang="en-US" smtClean="0"/>
              <a:pPr/>
              <a:t>‹#›</a:t>
            </a:fld>
            <a:endParaRPr lang="en-US"/>
          </a:p>
        </p:txBody>
      </p:sp>
    </p:spTree>
    <p:extLst>
      <p:ext uri="{BB962C8B-B14F-4D97-AF65-F5344CB8AC3E}">
        <p14:creationId xmlns:p14="http://schemas.microsoft.com/office/powerpoint/2010/main" val="552276318"/>
      </p:ext>
    </p:extLst>
  </p:cSld>
  <p:clrMapOvr>
    <a:masterClrMapping/>
  </p:clrMapOvr>
  <p:hf sldNum="0" hdr="0" ftr="0" dt="0"/>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Quot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31542D-3EA5-35E3-406E-8496EA7D4045}"/>
              </a:ext>
            </a:extLst>
          </p:cNvPr>
          <p:cNvSpPr>
            <a:spLocks noGrp="1"/>
          </p:cNvSpPr>
          <p:nvPr>
            <p:ph type="title" hasCustomPrompt="1"/>
          </p:nvPr>
        </p:nvSpPr>
        <p:spPr>
          <a:xfrm>
            <a:off x="1041588" y="3771900"/>
            <a:ext cx="6899148" cy="534924"/>
          </a:xfrm>
        </p:spPr>
        <p:txBody>
          <a:bodyPr anchor="t">
            <a:normAutofit/>
          </a:bodyPr>
          <a:lstStyle>
            <a:lvl1pPr>
              <a:lnSpc>
                <a:spcPct val="90000"/>
              </a:lnSpc>
              <a:defRPr sz="1500" b="1" spc="-38" baseline="0">
                <a:solidFill>
                  <a:schemeClr val="accent1"/>
                </a:solidFill>
              </a:defRPr>
            </a:lvl1pPr>
          </a:lstStyle>
          <a:p>
            <a:r>
              <a:rPr lang="en-US" dirty="0"/>
              <a:t>Quote Author</a:t>
            </a:r>
          </a:p>
        </p:txBody>
      </p:sp>
      <p:sp>
        <p:nvSpPr>
          <p:cNvPr id="7" name="Content Placeholder 6">
            <a:extLst>
              <a:ext uri="{FF2B5EF4-FFF2-40B4-BE49-F238E27FC236}">
                <a16:creationId xmlns:a16="http://schemas.microsoft.com/office/drawing/2014/main" id="{1BBD3F2A-2B85-D7B7-24A2-D01A281CD792}"/>
              </a:ext>
            </a:extLst>
          </p:cNvPr>
          <p:cNvSpPr>
            <a:spLocks noGrp="1"/>
          </p:cNvSpPr>
          <p:nvPr>
            <p:ph sz="quarter" idx="13" hasCustomPrompt="1"/>
          </p:nvPr>
        </p:nvSpPr>
        <p:spPr>
          <a:xfrm>
            <a:off x="1041588" y="836676"/>
            <a:ext cx="6899148" cy="2688336"/>
          </a:xfrm>
        </p:spPr>
        <p:txBody>
          <a:bodyPr anchor="ctr">
            <a:normAutofit/>
          </a:bodyPr>
          <a:lstStyle>
            <a:lvl1pPr marL="102870" indent="-102870">
              <a:lnSpc>
                <a:spcPct val="90000"/>
              </a:lnSpc>
              <a:spcBef>
                <a:spcPts val="0"/>
              </a:spcBef>
              <a:buFont typeface="Arial" panose="020B0604020202020204" pitchFamily="34" charset="0"/>
              <a:buNone/>
              <a:defRPr sz="3750" spc="-38" baseline="0"/>
            </a:lvl1pPr>
          </a:lstStyle>
          <a:p>
            <a:pPr lvl="0"/>
            <a:r>
              <a:rPr lang="en-US" dirty="0"/>
              <a:t>Click to edit Quote</a:t>
            </a:r>
          </a:p>
        </p:txBody>
      </p:sp>
      <p:sp>
        <p:nvSpPr>
          <p:cNvPr id="4" name="Footer Placeholder 3">
            <a:extLst>
              <a:ext uri="{FF2B5EF4-FFF2-40B4-BE49-F238E27FC236}">
                <a16:creationId xmlns:a16="http://schemas.microsoft.com/office/drawing/2014/main" id="{A4AFB98B-06E5-997A-53DA-CC0E6A618ED8}"/>
              </a:ext>
            </a:extLst>
          </p:cNvPr>
          <p:cNvSpPr>
            <a:spLocks noGrp="1"/>
          </p:cNvSpPr>
          <p:nvPr>
            <p:ph type="ftr" sz="quarter" idx="11"/>
          </p:nvPr>
        </p:nvSpPr>
        <p:spPr/>
        <p:txBody>
          <a:bodyPr/>
          <a:lstStyle/>
          <a:p>
            <a:r>
              <a:rPr lang="en-US"/>
              <a:t>Sample Footer Text</a:t>
            </a:r>
          </a:p>
        </p:txBody>
      </p:sp>
      <p:sp>
        <p:nvSpPr>
          <p:cNvPr id="3" name="Date Placeholder 2">
            <a:extLst>
              <a:ext uri="{FF2B5EF4-FFF2-40B4-BE49-F238E27FC236}">
                <a16:creationId xmlns:a16="http://schemas.microsoft.com/office/drawing/2014/main" id="{5E4CA6F2-8C52-8488-999E-FEF7877BAFC3}"/>
              </a:ext>
            </a:extLst>
          </p:cNvPr>
          <p:cNvSpPr>
            <a:spLocks noGrp="1"/>
          </p:cNvSpPr>
          <p:nvPr>
            <p:ph type="dt" sz="half" idx="10"/>
          </p:nvPr>
        </p:nvSpPr>
        <p:spPr/>
        <p:txBody>
          <a:bodyPr/>
          <a:lstStyle/>
          <a:p>
            <a:fld id="{4D63035D-22A0-4334-A9AE-2457016C8B47}" type="datetime1">
              <a:rPr lang="en-US" smtClean="0"/>
              <a:pPr/>
              <a:t>8/19/26</a:t>
            </a:fld>
            <a:endParaRPr lang="en-US"/>
          </a:p>
        </p:txBody>
      </p:sp>
      <p:sp>
        <p:nvSpPr>
          <p:cNvPr id="5" name="Slide Number Placeholder 4">
            <a:extLst>
              <a:ext uri="{FF2B5EF4-FFF2-40B4-BE49-F238E27FC236}">
                <a16:creationId xmlns:a16="http://schemas.microsoft.com/office/drawing/2014/main" id="{1159DD64-9865-92B3-BED2-F770E9763D7C}"/>
              </a:ext>
            </a:extLst>
          </p:cNvPr>
          <p:cNvSpPr>
            <a:spLocks noGrp="1"/>
          </p:cNvSpPr>
          <p:nvPr>
            <p:ph type="sldNum" sz="quarter" idx="12"/>
          </p:nvPr>
        </p:nvSpPr>
        <p:spPr/>
        <p:txBody>
          <a:bodyPr/>
          <a:lstStyle/>
          <a:p>
            <a:fld id="{CC057153-B650-4DEB-B370-79DDCFDCE934}" type="slidenum">
              <a:rPr lang="en-US" smtClean="0"/>
              <a:pPr/>
              <a:t>‹#›</a:t>
            </a:fld>
            <a:endParaRPr lang="en-US"/>
          </a:p>
        </p:txBody>
      </p:sp>
    </p:spTree>
    <p:extLst>
      <p:ext uri="{BB962C8B-B14F-4D97-AF65-F5344CB8AC3E}">
        <p14:creationId xmlns:p14="http://schemas.microsoft.com/office/powerpoint/2010/main" val="2478114774"/>
      </p:ext>
    </p:extLst>
  </p:cSld>
  <p:clrMapOvr>
    <a:masterClrMapping/>
  </p:clrMapOvr>
  <p:hf sldNum="0" hdr="0" ftr="0" dt="0"/>
  <p:extLst>
    <p:ext uri="{DCECCB84-F9BA-43D5-87BE-67443E8EF086}">
      <p15:sldGuideLst xmlns:p15="http://schemas.microsoft.com/office/powerpoint/2012/main"/>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137160" y="164592"/>
            <a:ext cx="8495028" cy="781173"/>
          </a:xfrm>
        </p:spPr>
        <p:txBody>
          <a:bodyPr/>
          <a:lstStyle/>
          <a:p>
            <a:r>
              <a:rPr lang="en-US"/>
              <a:t>Click to edit Master title style</a:t>
            </a:r>
            <a:endParaRPr lang="en-US" dirty="0"/>
          </a:p>
        </p:txBody>
      </p:sp>
      <p:sp>
        <p:nvSpPr>
          <p:cNvPr id="8" name="Content Placeholder 3">
            <a:extLst>
              <a:ext uri="{FF2B5EF4-FFF2-40B4-BE49-F238E27FC236}">
                <a16:creationId xmlns:a16="http://schemas.microsoft.com/office/drawing/2014/main" id="{12E940BF-81C2-1FFB-391F-670B2E738E5C}"/>
              </a:ext>
            </a:extLst>
          </p:cNvPr>
          <p:cNvSpPr>
            <a:spLocks noGrp="1"/>
          </p:cNvSpPr>
          <p:nvPr>
            <p:ph sz="quarter" idx="15"/>
          </p:nvPr>
        </p:nvSpPr>
        <p:spPr>
          <a:xfrm>
            <a:off x="137160" y="1234440"/>
            <a:ext cx="4065307" cy="355619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Content Placeholder 3">
            <a:extLst>
              <a:ext uri="{FF2B5EF4-FFF2-40B4-BE49-F238E27FC236}">
                <a16:creationId xmlns:a16="http://schemas.microsoft.com/office/drawing/2014/main" id="{FB763AB3-1DFB-9F9F-2339-33F3C49C8C10}"/>
              </a:ext>
            </a:extLst>
          </p:cNvPr>
          <p:cNvSpPr>
            <a:spLocks noGrp="1"/>
          </p:cNvSpPr>
          <p:nvPr>
            <p:ph sz="quarter" idx="16"/>
          </p:nvPr>
        </p:nvSpPr>
        <p:spPr>
          <a:xfrm>
            <a:off x="4686300" y="1234440"/>
            <a:ext cx="3945888" cy="355619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a:t>Sample Footer Text</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9E765B10-D26A-480A-9509-A9831C5E60D8}" type="datetime1">
              <a:rPr lang="en-US" smtClean="0"/>
              <a:pPr/>
              <a:t>8/19/26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pPr/>
              <a:t>‹#›</a:t>
            </a:fld>
            <a:endParaRPr lang="en-US"/>
          </a:p>
        </p:txBody>
      </p:sp>
    </p:spTree>
    <p:extLst>
      <p:ext uri="{BB962C8B-B14F-4D97-AF65-F5344CB8AC3E}">
        <p14:creationId xmlns:p14="http://schemas.microsoft.com/office/powerpoint/2010/main" val="1943671878"/>
      </p:ext>
    </p:extLst>
  </p:cSld>
  <p:clrMapOvr>
    <a:masterClrMapping/>
  </p:clrMapOvr>
  <p:hf sldNum="0" hdr="0" ftr="0" dt="0"/>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FEE969-634D-6E32-D227-18E9282C6F9E}"/>
              </a:ext>
            </a:extLst>
          </p:cNvPr>
          <p:cNvSpPr>
            <a:spLocks noGrp="1"/>
          </p:cNvSpPr>
          <p:nvPr>
            <p:ph type="title"/>
          </p:nvPr>
        </p:nvSpPr>
        <p:spPr>
          <a:xfrm>
            <a:off x="135890" y="164593"/>
            <a:ext cx="8455914" cy="592388"/>
          </a:xfrm>
        </p:spPr>
        <p:txBody>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61CD26D4-290A-F0ED-7D62-41EDA6FEC2B9}"/>
              </a:ext>
            </a:extLst>
          </p:cNvPr>
          <p:cNvSpPr>
            <a:spLocks noGrp="1"/>
          </p:cNvSpPr>
          <p:nvPr>
            <p:ph type="body" idx="1"/>
          </p:nvPr>
        </p:nvSpPr>
        <p:spPr>
          <a:xfrm>
            <a:off x="135889" y="756980"/>
            <a:ext cx="3909060" cy="419876"/>
          </a:xfrm>
        </p:spPr>
        <p:txBody>
          <a:bodyPr anchor="b">
            <a:normAutofit/>
          </a:bodyPr>
          <a:lstStyle>
            <a:lvl1pPr marL="0" indent="0">
              <a:lnSpc>
                <a:spcPct val="90000"/>
              </a:lnSpc>
              <a:buNone/>
              <a:defRPr sz="1200" b="1" cap="all" baseline="0"/>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10" name="Content Placeholder 3">
            <a:extLst>
              <a:ext uri="{FF2B5EF4-FFF2-40B4-BE49-F238E27FC236}">
                <a16:creationId xmlns:a16="http://schemas.microsoft.com/office/drawing/2014/main" id="{D6A39E64-722E-F001-F641-974F5225314A}"/>
              </a:ext>
            </a:extLst>
          </p:cNvPr>
          <p:cNvSpPr>
            <a:spLocks noGrp="1"/>
          </p:cNvSpPr>
          <p:nvPr>
            <p:ph sz="quarter" idx="15"/>
          </p:nvPr>
        </p:nvSpPr>
        <p:spPr>
          <a:xfrm>
            <a:off x="136223" y="1237088"/>
            <a:ext cx="3909060" cy="325755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06536620-C4F3-EEC3-DBF1-05196B1CBB55}"/>
              </a:ext>
            </a:extLst>
          </p:cNvPr>
          <p:cNvSpPr>
            <a:spLocks noGrp="1"/>
          </p:cNvSpPr>
          <p:nvPr>
            <p:ph type="body" sz="quarter" idx="3"/>
          </p:nvPr>
        </p:nvSpPr>
        <p:spPr>
          <a:xfrm>
            <a:off x="4684014" y="756980"/>
            <a:ext cx="3909060" cy="419876"/>
          </a:xfrm>
        </p:spPr>
        <p:txBody>
          <a:bodyPr anchor="b">
            <a:normAutofit/>
          </a:bodyPr>
          <a:lstStyle>
            <a:lvl1pPr marL="0" indent="0">
              <a:lnSpc>
                <a:spcPct val="90000"/>
              </a:lnSpc>
              <a:buNone/>
              <a:defRPr sz="1200" b="1" cap="all" baseline="0"/>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3">
            <a:extLst>
              <a:ext uri="{FF2B5EF4-FFF2-40B4-BE49-F238E27FC236}">
                <a16:creationId xmlns:a16="http://schemas.microsoft.com/office/drawing/2014/main" id="{4B9C0BFD-5C7B-FA0D-DCE8-95D24728FEB0}"/>
              </a:ext>
            </a:extLst>
          </p:cNvPr>
          <p:cNvSpPr>
            <a:spLocks noGrp="1"/>
          </p:cNvSpPr>
          <p:nvPr>
            <p:ph sz="quarter" idx="16"/>
          </p:nvPr>
        </p:nvSpPr>
        <p:spPr>
          <a:xfrm>
            <a:off x="4684014" y="1237088"/>
            <a:ext cx="3909060" cy="325755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Footer Placeholder 7">
            <a:extLst>
              <a:ext uri="{FF2B5EF4-FFF2-40B4-BE49-F238E27FC236}">
                <a16:creationId xmlns:a16="http://schemas.microsoft.com/office/drawing/2014/main" id="{949D76D8-9033-26CF-BF4C-AECCC685C177}"/>
              </a:ext>
            </a:extLst>
          </p:cNvPr>
          <p:cNvSpPr>
            <a:spLocks noGrp="1"/>
          </p:cNvSpPr>
          <p:nvPr>
            <p:ph type="ftr" sz="quarter" idx="11"/>
          </p:nvPr>
        </p:nvSpPr>
        <p:spPr/>
        <p:txBody>
          <a:bodyPr/>
          <a:lstStyle/>
          <a:p>
            <a:r>
              <a:rPr lang="en-US"/>
              <a:t>Sample Footer Text</a:t>
            </a:r>
          </a:p>
        </p:txBody>
      </p:sp>
      <p:sp>
        <p:nvSpPr>
          <p:cNvPr id="7" name="Date Placeholder 6">
            <a:extLst>
              <a:ext uri="{FF2B5EF4-FFF2-40B4-BE49-F238E27FC236}">
                <a16:creationId xmlns:a16="http://schemas.microsoft.com/office/drawing/2014/main" id="{4E3B3581-658A-8487-F9CB-E79F2BFF27E4}"/>
              </a:ext>
            </a:extLst>
          </p:cNvPr>
          <p:cNvSpPr>
            <a:spLocks noGrp="1"/>
          </p:cNvSpPr>
          <p:nvPr>
            <p:ph type="dt" sz="half" idx="10"/>
          </p:nvPr>
        </p:nvSpPr>
        <p:spPr/>
        <p:txBody>
          <a:bodyPr/>
          <a:lstStyle/>
          <a:p>
            <a:fld id="{5BCCB42A-67CE-499B-A4FA-7D4E4469B142}" type="datetime1">
              <a:rPr lang="en-US" smtClean="0"/>
              <a:pPr/>
              <a:t>8/19/26</a:t>
            </a:fld>
            <a:endParaRPr lang="en-US"/>
          </a:p>
        </p:txBody>
      </p:sp>
      <p:sp>
        <p:nvSpPr>
          <p:cNvPr id="9" name="Slide Number Placeholder 8">
            <a:extLst>
              <a:ext uri="{FF2B5EF4-FFF2-40B4-BE49-F238E27FC236}">
                <a16:creationId xmlns:a16="http://schemas.microsoft.com/office/drawing/2014/main" id="{E02A06B8-CC1D-542F-D8EB-7625046B91D2}"/>
              </a:ext>
            </a:extLst>
          </p:cNvPr>
          <p:cNvSpPr>
            <a:spLocks noGrp="1"/>
          </p:cNvSpPr>
          <p:nvPr>
            <p:ph type="sldNum" sz="quarter" idx="12"/>
          </p:nvPr>
        </p:nvSpPr>
        <p:spPr/>
        <p:txBody>
          <a:bodyPr/>
          <a:lstStyle/>
          <a:p>
            <a:fld id="{CC057153-B650-4DEB-B370-79DDCFDCE934}" type="slidenum">
              <a:rPr lang="en-US" smtClean="0"/>
              <a:pPr/>
              <a:t>‹#›</a:t>
            </a:fld>
            <a:endParaRPr lang="en-US"/>
          </a:p>
        </p:txBody>
      </p:sp>
    </p:spTree>
    <p:extLst>
      <p:ext uri="{BB962C8B-B14F-4D97-AF65-F5344CB8AC3E}">
        <p14:creationId xmlns:p14="http://schemas.microsoft.com/office/powerpoint/2010/main" val="2731613830"/>
      </p:ext>
    </p:extLst>
  </p:cSld>
  <p:clrMapOvr>
    <a:masterClrMapping/>
  </p:clrMapOvr>
  <p:hf sldNum="0" hdr="0" ftr="0" dt="0"/>
</p:sldLayout>
</file>

<file path=ppt/slideLayouts/slideLayout24.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6A9F42-7FF7-F803-C075-BC4968D35E34}"/>
              </a:ext>
            </a:extLst>
          </p:cNvPr>
          <p:cNvSpPr>
            <a:spLocks noGrp="1"/>
          </p:cNvSpPr>
          <p:nvPr>
            <p:ph type="title"/>
          </p:nvPr>
        </p:nvSpPr>
        <p:spPr/>
        <p:txBody>
          <a:bodyPr/>
          <a:lstStyle/>
          <a:p>
            <a:r>
              <a:rPr lang="en-US"/>
              <a:t>Click to edit Master title style</a:t>
            </a:r>
            <a:endParaRPr lang="en-US" dirty="0"/>
          </a:p>
        </p:txBody>
      </p:sp>
      <p:sp>
        <p:nvSpPr>
          <p:cNvPr id="4" name="Footer Placeholder 3">
            <a:extLst>
              <a:ext uri="{FF2B5EF4-FFF2-40B4-BE49-F238E27FC236}">
                <a16:creationId xmlns:a16="http://schemas.microsoft.com/office/drawing/2014/main" id="{6B968DDD-323F-89A1-84E3-DDBA626D9386}"/>
              </a:ext>
            </a:extLst>
          </p:cNvPr>
          <p:cNvSpPr>
            <a:spLocks noGrp="1"/>
          </p:cNvSpPr>
          <p:nvPr>
            <p:ph type="ftr" sz="quarter" idx="11"/>
          </p:nvPr>
        </p:nvSpPr>
        <p:spPr/>
        <p:txBody>
          <a:bodyPr/>
          <a:lstStyle/>
          <a:p>
            <a:r>
              <a:rPr lang="en-US"/>
              <a:t>Sample Footer Text</a:t>
            </a:r>
          </a:p>
        </p:txBody>
      </p:sp>
      <p:sp>
        <p:nvSpPr>
          <p:cNvPr id="3" name="Date Placeholder 2">
            <a:extLst>
              <a:ext uri="{FF2B5EF4-FFF2-40B4-BE49-F238E27FC236}">
                <a16:creationId xmlns:a16="http://schemas.microsoft.com/office/drawing/2014/main" id="{E89E8268-7232-2944-F1BD-399F9419B563}"/>
              </a:ext>
            </a:extLst>
          </p:cNvPr>
          <p:cNvSpPr>
            <a:spLocks noGrp="1"/>
          </p:cNvSpPr>
          <p:nvPr>
            <p:ph type="dt" sz="half" idx="10"/>
          </p:nvPr>
        </p:nvSpPr>
        <p:spPr/>
        <p:txBody>
          <a:bodyPr/>
          <a:lstStyle/>
          <a:p>
            <a:fld id="{7FA43F5B-065E-43CE-B3FD-98C48A6F94D7}" type="datetime1">
              <a:rPr lang="en-US" smtClean="0"/>
              <a:pPr/>
              <a:t>8/19/26</a:t>
            </a:fld>
            <a:endParaRPr lang="en-US"/>
          </a:p>
        </p:txBody>
      </p:sp>
      <p:sp>
        <p:nvSpPr>
          <p:cNvPr id="5" name="Slide Number Placeholder 4">
            <a:extLst>
              <a:ext uri="{FF2B5EF4-FFF2-40B4-BE49-F238E27FC236}">
                <a16:creationId xmlns:a16="http://schemas.microsoft.com/office/drawing/2014/main" id="{98FBDC76-671D-1671-DCE2-D5658BD40E29}"/>
              </a:ext>
            </a:extLst>
          </p:cNvPr>
          <p:cNvSpPr>
            <a:spLocks noGrp="1"/>
          </p:cNvSpPr>
          <p:nvPr>
            <p:ph type="sldNum" sz="quarter" idx="12"/>
          </p:nvPr>
        </p:nvSpPr>
        <p:spPr/>
        <p:txBody>
          <a:bodyPr/>
          <a:lstStyle/>
          <a:p>
            <a:fld id="{2DE90F28-AFBB-4AB2-AA79-6D3F72ED131B}" type="slidenum">
              <a:rPr lang="en-US" smtClean="0"/>
              <a:pPr/>
              <a:t>‹#›</a:t>
            </a:fld>
            <a:endParaRPr lang="en-US"/>
          </a:p>
        </p:txBody>
      </p:sp>
    </p:spTree>
    <p:extLst>
      <p:ext uri="{BB962C8B-B14F-4D97-AF65-F5344CB8AC3E}">
        <p14:creationId xmlns:p14="http://schemas.microsoft.com/office/powerpoint/2010/main" val="1119518840"/>
      </p:ext>
    </p:extLst>
  </p:cSld>
  <p:clrMapOvr>
    <a:masterClrMapping/>
  </p:clrMapOvr>
  <p:hf sldNum="0" hdr="0" ftr="0" dt="0"/>
</p:sldLayout>
</file>

<file path=ppt/slideLayouts/slideLayout25.xml><?xml version="1.0" encoding="utf-8"?>
<p:sldLayout xmlns:a="http://schemas.openxmlformats.org/drawingml/2006/main" xmlns:r="http://schemas.openxmlformats.org/officeDocument/2006/relationships" xmlns:p="http://schemas.openxmlformats.org/presentationml/2006/main" type="blank" preserve="1">
  <p:cSld name="Empty">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9BC4D82-0182-501C-9231-46767680476E}"/>
              </a:ext>
            </a:extLst>
          </p:cNvPr>
          <p:cNvSpPr>
            <a:spLocks noGrp="1"/>
          </p:cNvSpPr>
          <p:nvPr>
            <p:ph type="dt" sz="half" idx="10"/>
          </p:nvPr>
        </p:nvSpPr>
        <p:spPr/>
        <p:txBody>
          <a:bodyPr/>
          <a:lstStyle/>
          <a:p>
            <a:fld id="{87CFF128-BAC7-4E0D-8F77-28A571D93B6F}" type="datetime1">
              <a:rPr lang="en-US" smtClean="0"/>
              <a:pPr/>
              <a:t>8/19/26</a:t>
            </a:fld>
            <a:endParaRPr lang="en-US"/>
          </a:p>
        </p:txBody>
      </p:sp>
      <p:sp>
        <p:nvSpPr>
          <p:cNvPr id="3" name="Footer Placeholder 2">
            <a:extLst>
              <a:ext uri="{FF2B5EF4-FFF2-40B4-BE49-F238E27FC236}">
                <a16:creationId xmlns:a16="http://schemas.microsoft.com/office/drawing/2014/main" id="{10EAA6C9-A7F3-19F1-D17C-A1D83FAF553F}"/>
              </a:ext>
            </a:extLst>
          </p:cNvPr>
          <p:cNvSpPr>
            <a:spLocks noGrp="1"/>
          </p:cNvSpPr>
          <p:nvPr>
            <p:ph type="ftr" sz="quarter" idx="11"/>
          </p:nvPr>
        </p:nvSpPr>
        <p:spPr/>
        <p:txBody>
          <a:bodyPr/>
          <a:lstStyle/>
          <a:p>
            <a:r>
              <a:rPr lang="en-US"/>
              <a:t>Sample Footer Text</a:t>
            </a:r>
          </a:p>
        </p:txBody>
      </p:sp>
      <p:sp>
        <p:nvSpPr>
          <p:cNvPr id="4" name="Slide Number Placeholder 3">
            <a:extLst>
              <a:ext uri="{FF2B5EF4-FFF2-40B4-BE49-F238E27FC236}">
                <a16:creationId xmlns:a16="http://schemas.microsoft.com/office/drawing/2014/main" id="{34EBB816-1B94-116F-92D4-6043AE9E0C6B}"/>
              </a:ext>
            </a:extLst>
          </p:cNvPr>
          <p:cNvSpPr>
            <a:spLocks noGrp="1"/>
          </p:cNvSpPr>
          <p:nvPr>
            <p:ph type="sldNum" sz="quarter" idx="12"/>
          </p:nvPr>
        </p:nvSpPr>
        <p:spPr/>
        <p:txBody>
          <a:bodyPr/>
          <a:lstStyle/>
          <a:p>
            <a:fld id="{CC057153-B650-4DEB-B370-79DDCFDCE934}" type="slidenum">
              <a:rPr lang="en-US" smtClean="0"/>
              <a:pPr/>
              <a:t>‹#›</a:t>
            </a:fld>
            <a:endParaRPr lang="en-US"/>
          </a:p>
        </p:txBody>
      </p:sp>
    </p:spTree>
    <p:extLst>
      <p:ext uri="{BB962C8B-B14F-4D97-AF65-F5344CB8AC3E}">
        <p14:creationId xmlns:p14="http://schemas.microsoft.com/office/powerpoint/2010/main" val="1740763981"/>
      </p:ext>
    </p:extLst>
  </p:cSld>
  <p:clrMapOvr>
    <a:masterClrMapping/>
  </p:clrMapOvr>
  <p:hf sldNum="0" hdr="0" ftr="0" dt="0"/>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Conclusion">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125896" y="155421"/>
            <a:ext cx="8251457" cy="1343025"/>
          </a:xfrm>
        </p:spPr>
        <p:txBody>
          <a:bodyPr anchor="t">
            <a:noAutofit/>
          </a:bodyPr>
          <a:lstStyle>
            <a:lvl1pPr>
              <a:defRPr sz="5400"/>
            </a:lvl1pPr>
          </a:lstStyle>
          <a:p>
            <a:r>
              <a:rPr lang="en-US"/>
              <a:t>Click to edit Master title style</a:t>
            </a:r>
            <a:endParaRPr lang="en-US" dirty="0"/>
          </a:p>
        </p:txBody>
      </p:sp>
      <p:sp>
        <p:nvSpPr>
          <p:cNvPr id="8" name="Content Placeholder 7">
            <a:extLst>
              <a:ext uri="{FF2B5EF4-FFF2-40B4-BE49-F238E27FC236}">
                <a16:creationId xmlns:a16="http://schemas.microsoft.com/office/drawing/2014/main" id="{C7E1FCC9-2D1D-9C6B-8C9A-E3D0A77DBEF0}"/>
              </a:ext>
            </a:extLst>
          </p:cNvPr>
          <p:cNvSpPr>
            <a:spLocks noGrp="1"/>
          </p:cNvSpPr>
          <p:nvPr>
            <p:ph sz="quarter" idx="13"/>
          </p:nvPr>
        </p:nvSpPr>
        <p:spPr>
          <a:xfrm>
            <a:off x="766646" y="2448306"/>
            <a:ext cx="7610708" cy="2125980"/>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a:t>Sample Footer Text</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157987AA-E4E6-4FC1-BAD8-09A952212C58}" type="datetime1">
              <a:rPr lang="en-US" smtClean="0"/>
              <a:pPr/>
              <a:t>8/19/26</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C057153-B650-4DEB-B370-79DDCFDCE934}" type="slidenum">
              <a:rPr lang="en-US" smtClean="0"/>
              <a:pPr/>
              <a:t>‹#›</a:t>
            </a:fld>
            <a:endParaRPr lang="en-US"/>
          </a:p>
        </p:txBody>
      </p:sp>
    </p:spTree>
    <p:extLst>
      <p:ext uri="{BB962C8B-B14F-4D97-AF65-F5344CB8AC3E}">
        <p14:creationId xmlns:p14="http://schemas.microsoft.com/office/powerpoint/2010/main" val="1380657538"/>
      </p:ext>
    </p:extLst>
  </p:cSld>
  <p:clrMapOvr>
    <a:overrideClrMapping bg1="lt1" tx1="dk1" bg2="lt2" tx2="dk2" accent1="accent1" accent2="accent2" accent3="accent3" accent4="accent4" accent5="accent5" accent6="accent6" hlink="hlink" folHlink="folHlink"/>
  </p:clrMapOvr>
  <p:hf sldNum="0" hdr="0" ftr="0" dt="0"/>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Conclusion 2">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2186685" y="816935"/>
            <a:ext cx="4770630" cy="1628787"/>
          </a:xfrm>
        </p:spPr>
        <p:txBody>
          <a:bodyPr anchor="b">
            <a:noAutofit/>
          </a:bodyPr>
          <a:lstStyle>
            <a:lvl1pPr algn="ctr">
              <a:defRPr sz="5400"/>
            </a:lvl1pPr>
          </a:lstStyle>
          <a:p>
            <a:r>
              <a:rPr lang="en-US"/>
              <a:t>Click to edit Master title style</a:t>
            </a:r>
            <a:endParaRPr lang="en-US" dirty="0"/>
          </a:p>
        </p:txBody>
      </p:sp>
      <p:sp>
        <p:nvSpPr>
          <p:cNvPr id="7" name="Content Placeholder 6">
            <a:extLst>
              <a:ext uri="{FF2B5EF4-FFF2-40B4-BE49-F238E27FC236}">
                <a16:creationId xmlns:a16="http://schemas.microsoft.com/office/drawing/2014/main" id="{053FFEDA-E57B-DF13-2394-A1514E15F85A}"/>
              </a:ext>
            </a:extLst>
          </p:cNvPr>
          <p:cNvSpPr>
            <a:spLocks noGrp="1"/>
          </p:cNvSpPr>
          <p:nvPr>
            <p:ph sz="quarter" idx="14"/>
          </p:nvPr>
        </p:nvSpPr>
        <p:spPr>
          <a:xfrm>
            <a:off x="2492148" y="2624910"/>
            <a:ext cx="4157663" cy="1328738"/>
          </a:xfrm>
        </p:spPr>
        <p:txBody>
          <a:bodyPr vert="horz" lIns="91440" tIns="45720" rIns="91440" bIns="45720" rtlCol="0">
            <a:normAutofit/>
          </a:bodyPr>
          <a:lstStyle>
            <a:lvl1pPr marL="0" indent="0" algn="ctr">
              <a:buNone/>
              <a:defRPr lang="en-US" sz="1200" dirty="0"/>
            </a:lvl1pPr>
            <a:lvl2pPr marL="171450" indent="0" algn="ctr">
              <a:buNone/>
              <a:defRPr lang="en-US" sz="1200" dirty="0"/>
            </a:lvl2pPr>
            <a:lvl3pPr marL="342900" indent="0" algn="ctr">
              <a:buNone/>
              <a:defRPr lang="en-US" sz="1200" dirty="0"/>
            </a:lvl3pPr>
            <a:lvl4pPr marL="514350" indent="0" algn="ctr">
              <a:buNone/>
              <a:defRPr lang="en-US" sz="1200" dirty="0"/>
            </a:lvl4pPr>
            <a:lvl5pPr marL="685800" indent="0" algn="ctr">
              <a:buNone/>
              <a:defRPr lang="en-US" sz="1200"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a:t>Sample Footer Text</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7FA43F5B-065E-43CE-B3FD-98C48A6F94D7}" type="datetime1">
              <a:rPr lang="en-US" smtClean="0"/>
              <a:pPr/>
              <a:t>8/19/26</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2DE90F28-AFBB-4AB2-AA79-6D3F72ED131B}" type="slidenum">
              <a:rPr lang="en-US" smtClean="0"/>
              <a:pPr/>
              <a:t>‹#›</a:t>
            </a:fld>
            <a:endParaRPr lang="en-US"/>
          </a:p>
        </p:txBody>
      </p:sp>
    </p:spTree>
    <p:extLst>
      <p:ext uri="{BB962C8B-B14F-4D97-AF65-F5344CB8AC3E}">
        <p14:creationId xmlns:p14="http://schemas.microsoft.com/office/powerpoint/2010/main" val="1562852329"/>
      </p:ext>
    </p:extLst>
  </p:cSld>
  <p:clrMapOvr>
    <a:overrideClrMapping bg1="lt1" tx1="dk1" bg2="lt2" tx2="dk2" accent1="accent1" accent2="accent2" accent3="accent3" accent4="accent4" accent5="accent5" accent6="accent6" hlink="hlink" folHlink="folHlink"/>
  </p:clrMapOvr>
  <p:hf sldNum="0" hdr="0" ftr="0" dt="0"/>
</p:sldLayout>
</file>

<file path=ppt/slideLayouts/slideLayout28.xml><?xml version="1.0" encoding="utf-8"?>
<p:sldLayout xmlns:a="http://schemas.openxmlformats.org/drawingml/2006/main" xmlns:r="http://schemas.openxmlformats.org/officeDocument/2006/relationships" xmlns:p="http://schemas.openxmlformats.org/presentationml/2006/main">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072868624"/>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slideLayout" Target="../slideLayouts/slideLayout18.xml"/><Relationship Id="rId19" Type="http://schemas.openxmlformats.org/officeDocument/2006/relationships/slideLayout" Target="../slideLayouts/slideLayout19.xml"/><Relationship Id="rId20" Type="http://schemas.openxmlformats.org/officeDocument/2006/relationships/slideLayout" Target="../slideLayouts/slideLayout20.xml"/><Relationship Id="rId21" Type="http://schemas.openxmlformats.org/officeDocument/2006/relationships/slideLayout" Target="../slideLayouts/slideLayout21.xml"/><Relationship Id="rId22" Type="http://schemas.openxmlformats.org/officeDocument/2006/relationships/slideLayout" Target="../slideLayouts/slideLayout22.xml"/><Relationship Id="rId23" Type="http://schemas.openxmlformats.org/officeDocument/2006/relationships/slideLayout" Target="../slideLayouts/slideLayout23.xml"/><Relationship Id="rId24" Type="http://schemas.openxmlformats.org/officeDocument/2006/relationships/slideLayout" Target="../slideLayouts/slideLayout24.xml"/><Relationship Id="rId25" Type="http://schemas.openxmlformats.org/officeDocument/2006/relationships/slideLayout" Target="../slideLayouts/slideLayout25.xml"/><Relationship Id="rId26" Type="http://schemas.openxmlformats.org/officeDocument/2006/relationships/slideLayout" Target="../slideLayouts/slideLayout26.xml"/><Relationship Id="rId27" Type="http://schemas.openxmlformats.org/officeDocument/2006/relationships/slideLayout" Target="../slideLayouts/slideLayout27.xml"/><Relationship Id="rId28" Type="http://schemas.openxmlformats.org/officeDocument/2006/relationships/slideLayout" Target="../slideLayouts/slideLayout28.xml"/><Relationship Id="rId29"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75BFB69-9245-EC58-F1DE-FEB625BD336A}"/>
              </a:ext>
            </a:extLst>
          </p:cNvPr>
          <p:cNvSpPr>
            <a:spLocks noGrp="1"/>
          </p:cNvSpPr>
          <p:nvPr>
            <p:ph type="title"/>
          </p:nvPr>
        </p:nvSpPr>
        <p:spPr>
          <a:xfrm>
            <a:off x="137160" y="164592"/>
            <a:ext cx="8126730" cy="726948"/>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5516AFD5-5144-C460-0CA4-644BC4A93C02}"/>
              </a:ext>
            </a:extLst>
          </p:cNvPr>
          <p:cNvSpPr>
            <a:spLocks noGrp="1"/>
          </p:cNvSpPr>
          <p:nvPr>
            <p:ph type="body" idx="1"/>
          </p:nvPr>
        </p:nvSpPr>
        <p:spPr>
          <a:xfrm>
            <a:off x="137160" y="887404"/>
            <a:ext cx="8126730" cy="3816504"/>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D4E1B7C8-DA74-800B-EE14-A39E9DB32DE4}"/>
              </a:ext>
            </a:extLst>
          </p:cNvPr>
          <p:cNvSpPr>
            <a:spLocks noGrp="1"/>
          </p:cNvSpPr>
          <p:nvPr>
            <p:ph type="ftr" sz="quarter" idx="3"/>
          </p:nvPr>
        </p:nvSpPr>
        <p:spPr>
          <a:xfrm>
            <a:off x="134028" y="4790346"/>
            <a:ext cx="2027833" cy="253746"/>
          </a:xfrm>
          <a:prstGeom prst="rect">
            <a:avLst/>
          </a:prstGeom>
        </p:spPr>
        <p:txBody>
          <a:bodyPr vert="horz" lIns="91440" tIns="45720" rIns="91440" bIns="45720" rtlCol="0" anchor="ctr"/>
          <a:lstStyle>
            <a:lvl1pPr algn="l">
              <a:defRPr sz="563">
                <a:solidFill>
                  <a:schemeClr val="tx1"/>
                </a:solidFill>
              </a:defRPr>
            </a:lvl1pPr>
          </a:lstStyle>
          <a:p>
            <a:r>
              <a:rPr lang="en-US"/>
              <a:t>Sample Footer Text</a:t>
            </a:r>
          </a:p>
        </p:txBody>
      </p:sp>
      <p:sp>
        <p:nvSpPr>
          <p:cNvPr id="4" name="Date Placeholder 3">
            <a:extLst>
              <a:ext uri="{FF2B5EF4-FFF2-40B4-BE49-F238E27FC236}">
                <a16:creationId xmlns:a16="http://schemas.microsoft.com/office/drawing/2014/main" id="{3995753E-AF8A-7E04-8A1A-205B755A0215}"/>
              </a:ext>
            </a:extLst>
          </p:cNvPr>
          <p:cNvSpPr>
            <a:spLocks noGrp="1"/>
          </p:cNvSpPr>
          <p:nvPr>
            <p:ph type="dt" sz="half" idx="2"/>
          </p:nvPr>
        </p:nvSpPr>
        <p:spPr>
          <a:xfrm>
            <a:off x="7858125" y="4790346"/>
            <a:ext cx="774063" cy="253746"/>
          </a:xfrm>
          <a:prstGeom prst="rect">
            <a:avLst/>
          </a:prstGeom>
        </p:spPr>
        <p:txBody>
          <a:bodyPr vert="horz" lIns="91440" tIns="45720" rIns="91440" bIns="45720" rtlCol="0" anchor="ctr"/>
          <a:lstStyle>
            <a:lvl1pPr algn="r">
              <a:defRPr sz="563">
                <a:solidFill>
                  <a:schemeClr val="tx1"/>
                </a:solidFill>
              </a:defRPr>
            </a:lvl1pPr>
          </a:lstStyle>
          <a:p>
            <a:fld id="{7FA43F5B-065E-43CE-B3FD-98C48A6F94D7}" type="datetime1">
              <a:rPr lang="en-US" smtClean="0"/>
              <a:pPr/>
              <a:t>8/19/26</a:t>
            </a:fld>
            <a:endParaRPr lang="en-US"/>
          </a:p>
        </p:txBody>
      </p:sp>
      <p:sp>
        <p:nvSpPr>
          <p:cNvPr id="6" name="Slide Number Placeholder 5">
            <a:extLst>
              <a:ext uri="{FF2B5EF4-FFF2-40B4-BE49-F238E27FC236}">
                <a16:creationId xmlns:a16="http://schemas.microsoft.com/office/drawing/2014/main" id="{7AC1647D-0DF0-CA1B-F723-EF7B8F508DB7}"/>
              </a:ext>
            </a:extLst>
          </p:cNvPr>
          <p:cNvSpPr>
            <a:spLocks noGrp="1"/>
          </p:cNvSpPr>
          <p:nvPr>
            <p:ph type="sldNum" sz="quarter" idx="4"/>
          </p:nvPr>
        </p:nvSpPr>
        <p:spPr>
          <a:xfrm>
            <a:off x="8632188" y="4790346"/>
            <a:ext cx="342900" cy="253746"/>
          </a:xfrm>
          <a:prstGeom prst="rect">
            <a:avLst/>
          </a:prstGeom>
        </p:spPr>
        <p:txBody>
          <a:bodyPr vert="horz" lIns="91440" tIns="45720" rIns="91440" bIns="45720" rtlCol="0" anchor="ctr"/>
          <a:lstStyle>
            <a:lvl1pPr algn="r">
              <a:defRPr sz="563">
                <a:solidFill>
                  <a:schemeClr val="tx1"/>
                </a:solidFill>
              </a:defRPr>
            </a:lvl1pPr>
          </a:lstStyle>
          <a:p>
            <a:fld id="{2DE90F28-AFBB-4AB2-AA79-6D3F72ED131B}" type="slidenum">
              <a:rPr lang="en-US" smtClean="0"/>
              <a:pPr/>
              <a:t>‹#›</a:t>
            </a:fld>
            <a:endParaRPr lang="en-US"/>
          </a:p>
        </p:txBody>
      </p:sp>
    </p:spTree>
    <p:extLst>
      <p:ext uri="{BB962C8B-B14F-4D97-AF65-F5344CB8AC3E}">
        <p14:creationId xmlns:p14="http://schemas.microsoft.com/office/powerpoint/2010/main" val="2614291671"/>
      </p:ext>
    </p:extLst>
  </p:cSld>
  <p:clrMap bg1="lt1" tx1="dk1" bg2="lt2" tx2="dk2" accent1="accent1" accent2="accent2" accent3="accent3" accent4="accent4" accent5="accent5" accent6="accent6" hlink="hlink" folHlink="folHlink"/>
  <p:sldLayoutIdLst>
    <p:sldLayoutId id="2147483767" r:id="rId1"/>
    <p:sldLayoutId id="2147483768" r:id="rId2"/>
    <p:sldLayoutId id="2147483769" r:id="rId3"/>
    <p:sldLayoutId id="2147483770" r:id="rId4"/>
    <p:sldLayoutId id="2147483771" r:id="rId5"/>
    <p:sldLayoutId id="2147483772" r:id="rId6"/>
    <p:sldLayoutId id="2147483773" r:id="rId7"/>
    <p:sldLayoutId id="2147483774" r:id="rId8"/>
    <p:sldLayoutId id="2147483775" r:id="rId9"/>
    <p:sldLayoutId id="2147483776" r:id="rId10"/>
    <p:sldLayoutId id="2147483777" r:id="rId11"/>
    <p:sldLayoutId id="2147483778" r:id="rId12"/>
    <p:sldLayoutId id="2147483779" r:id="rId13"/>
    <p:sldLayoutId id="2147483780" r:id="rId14"/>
    <p:sldLayoutId id="2147483781" r:id="rId15"/>
    <p:sldLayoutId id="2147483782" r:id="rId16"/>
    <p:sldLayoutId id="2147483783" r:id="rId17"/>
    <p:sldLayoutId id="2147483784" r:id="rId18"/>
    <p:sldLayoutId id="2147483785" r:id="rId19"/>
    <p:sldLayoutId id="2147483786" r:id="rId20"/>
    <p:sldLayoutId id="2147483787" r:id="rId21"/>
    <p:sldLayoutId id="2147483788" r:id="rId22"/>
    <p:sldLayoutId id="2147483789" r:id="rId23"/>
    <p:sldLayoutId id="2147483790" r:id="rId24"/>
    <p:sldLayoutId id="2147483791" r:id="rId25"/>
    <p:sldLayoutId id="2147483792" r:id="rId26"/>
    <p:sldLayoutId id="2147483793" r:id="rId27"/>
    <p:sldLayoutId id="2147483794" r:id="rId28"/>
  </p:sldLayoutIdLst>
  <p:hf sldNum="0" hdr="0" ftr="0" dt="0"/>
  <p:txStyles>
    <p:titleStyle>
      <a:lvl1pPr algn="l" defTabSz="685800" rtl="0" eaLnBrk="1" latinLnBrk="0" hangingPunct="1">
        <a:lnSpc>
          <a:spcPct val="85000"/>
        </a:lnSpc>
        <a:spcBef>
          <a:spcPct val="0"/>
        </a:spcBef>
        <a:buNone/>
        <a:defRPr sz="2250" b="0" kern="1200" spc="-75" baseline="0">
          <a:solidFill>
            <a:schemeClr val="tx1"/>
          </a:solidFill>
          <a:latin typeface="+mj-lt"/>
          <a:ea typeface="+mj-ea"/>
          <a:cs typeface="+mj-cs"/>
        </a:defRPr>
      </a:lvl1pPr>
    </p:titleStyle>
    <p:bodyStyle>
      <a:lvl1pPr marL="214313" indent="-214313" algn="l" defTabSz="685800" rtl="0" eaLnBrk="1" latinLnBrk="0" hangingPunct="1">
        <a:lnSpc>
          <a:spcPct val="120000"/>
        </a:lnSpc>
        <a:spcBef>
          <a:spcPts val="750"/>
        </a:spcBef>
        <a:buFont typeface="Arial" panose="020B0604020202020204" pitchFamily="34" charset="0"/>
        <a:buChar char="•"/>
        <a:defRPr sz="1050" kern="1200">
          <a:solidFill>
            <a:schemeClr val="tx1"/>
          </a:solidFill>
          <a:latin typeface="+mn-lt"/>
          <a:ea typeface="+mn-ea"/>
          <a:cs typeface="+mn-cs"/>
        </a:defRPr>
      </a:lvl1pPr>
      <a:lvl2pPr marL="385763" indent="-214313" algn="l" defTabSz="685800" rtl="0" eaLnBrk="1" latinLnBrk="0" hangingPunct="1">
        <a:lnSpc>
          <a:spcPct val="120000"/>
        </a:lnSpc>
        <a:spcBef>
          <a:spcPts val="375"/>
        </a:spcBef>
        <a:buFont typeface="Arial" panose="020B0604020202020204" pitchFamily="34" charset="0"/>
        <a:buChar char="•"/>
        <a:defRPr sz="1050" kern="1200">
          <a:solidFill>
            <a:schemeClr val="tx1"/>
          </a:solidFill>
          <a:latin typeface="+mn-lt"/>
          <a:ea typeface="+mn-ea"/>
          <a:cs typeface="+mn-cs"/>
        </a:defRPr>
      </a:lvl2pPr>
      <a:lvl3pPr marL="557213" indent="-214313" algn="l" defTabSz="685800" rtl="0" eaLnBrk="1" latinLnBrk="0" hangingPunct="1">
        <a:lnSpc>
          <a:spcPct val="120000"/>
        </a:lnSpc>
        <a:spcBef>
          <a:spcPts val="375"/>
        </a:spcBef>
        <a:buFont typeface="Arial" panose="020B0604020202020204" pitchFamily="34" charset="0"/>
        <a:buChar char="•"/>
        <a:defRPr sz="1050" kern="1200">
          <a:solidFill>
            <a:schemeClr val="tx1"/>
          </a:solidFill>
          <a:latin typeface="+mn-lt"/>
          <a:ea typeface="+mn-ea"/>
          <a:cs typeface="+mn-cs"/>
        </a:defRPr>
      </a:lvl3pPr>
      <a:lvl4pPr marL="728663" indent="-214313" algn="l" defTabSz="685800" rtl="0" eaLnBrk="1" latinLnBrk="0" hangingPunct="1">
        <a:lnSpc>
          <a:spcPct val="120000"/>
        </a:lnSpc>
        <a:spcBef>
          <a:spcPts val="375"/>
        </a:spcBef>
        <a:buFont typeface="Arial" panose="020B0604020202020204" pitchFamily="34" charset="0"/>
        <a:buChar char="•"/>
        <a:defRPr sz="1050" kern="1200">
          <a:solidFill>
            <a:schemeClr val="tx1"/>
          </a:solidFill>
          <a:latin typeface="+mn-lt"/>
          <a:ea typeface="+mn-ea"/>
          <a:cs typeface="+mn-cs"/>
        </a:defRPr>
      </a:lvl4pPr>
      <a:lvl5pPr marL="900113" indent="-214313" algn="l" defTabSz="685800" rtl="0" eaLnBrk="1" latinLnBrk="0" hangingPunct="1">
        <a:lnSpc>
          <a:spcPct val="120000"/>
        </a:lnSpc>
        <a:spcBef>
          <a:spcPts val="375"/>
        </a:spcBef>
        <a:buFont typeface="Arial" panose="020B0604020202020204" pitchFamily="34" charset="0"/>
        <a:buChar char="•"/>
        <a:defRPr sz="10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extLst>
    <p:ext uri="{27BBF7A9-308A-43DC-89C8-2F10F3537804}">
      <p15:sldGuideLst xmlns:p15="http://schemas.microsoft.com/office/powerpoint/2012/main">
        <p15:guide id="3" pos="168">
          <p15:clr>
            <a:srgbClr val="F26B43"/>
          </p15:clr>
        </p15:guide>
        <p15:guide id="4" orient="horz" pos="168">
          <p15:clr>
            <a:srgbClr val="F26B43"/>
          </p15:clr>
        </p15:guide>
        <p15:guide id="5" pos="7512">
          <p15:clr>
            <a:srgbClr val="F26B43"/>
          </p15:clr>
        </p15:guide>
        <p15:guide id="6" orient="horz" pos="4152">
          <p15:clr>
            <a:srgbClr val="F26B43"/>
          </p15:clr>
        </p15:guide>
        <p15:guide id="12" pos="4728">
          <p15:clr>
            <a:srgbClr val="F26B43"/>
          </p15:clr>
        </p15:guide>
        <p15:guide id="13" pos="5328">
          <p15:clr>
            <a:srgbClr val="F26B43"/>
          </p15:clr>
        </p15:guide>
        <p15:guide id="26" pos="2952">
          <p15:clr>
            <a:srgbClr val="F26B43"/>
          </p15:clr>
        </p15:guide>
        <p15:guide id="27" pos="3096">
          <p15:clr>
            <a:srgbClr val="F26B43"/>
          </p15:clr>
        </p15:guide>
        <p15:guide id="29" pos="4128">
          <p15:clr>
            <a:srgbClr val="F26B43"/>
          </p15:clr>
        </p15:guide>
        <p15:guide id="30" pos="1392">
          <p15:clr>
            <a:srgbClr val="F26B43"/>
          </p15:clr>
        </p15:guide>
        <p15:guide id="31" pos="864">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8.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8.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8.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8.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8.xml"/><Relationship Id="rId2" Type="http://schemas.openxmlformats.org/officeDocument/2006/relationships/notesSlide" Target="../notesSlides/notesSlide5.xml"/><Relationship Id="rId3" Type="http://schemas.openxmlformats.org/officeDocument/2006/relationships/image" Target="../media/image7.png"/><Relationship Id="rId4" Type="http://schemas.openxmlformats.org/officeDocument/2006/relationships/image" Target="../media/image8.png"/><Relationship Id="rId5" Type="http://schemas.openxmlformats.org/officeDocument/2006/relationships/image" Target="../media/image9.png"/><Relationship Id="rId6" Type="http://schemas.openxmlformats.org/officeDocument/2006/relationships/image" Target="../media/image10.png"/><Relationship Id="rId7" Type="http://schemas.openxmlformats.org/officeDocument/2006/relationships/image" Target="../media/image11.png"/><Relationship Id="rId8" Type="http://schemas.openxmlformats.org/officeDocument/2006/relationships/image" Target="../media/image1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8.xml"/><Relationship Id="rId2" Type="http://schemas.openxmlformats.org/officeDocument/2006/relationships/notesSlide" Target="../notesSlides/notesSlide6.xml"/><Relationship Id="rId3" Type="http://schemas.openxmlformats.org/officeDocument/2006/relationships/image" Target="../media/image13.png"/><Relationship Id="rId4" Type="http://schemas.openxmlformats.org/officeDocument/2006/relationships/image" Target="../media/image11.png"/><Relationship Id="rId5" Type="http://schemas.openxmlformats.org/officeDocument/2006/relationships/image" Target="../media/image14.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8.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8.xml"/><Relationship Id="rId2" Type="http://schemas.openxmlformats.org/officeDocument/2006/relationships/notesSlide" Target="../notesSlides/notesSlide8.xml"/><Relationship Id="rId3" Type="http://schemas.openxmlformats.org/officeDocument/2006/relationships/image" Target="../media/image15.png"/><Relationship Id="rId4" Type="http://schemas.openxmlformats.org/officeDocument/2006/relationships/image" Target="../media/image16.png"/><Relationship Id="rId5" Type="http://schemas.openxmlformats.org/officeDocument/2006/relationships/image" Target="../media/image14.png"/><Relationship Id="rId6" Type="http://schemas.openxmlformats.org/officeDocument/2006/relationships/image" Target="../media/image17.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8.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8.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8.xml"/><Relationship Id="rId2" Type="http://schemas.openxmlformats.org/officeDocument/2006/relationships/notesSlide" Target="../notesSlides/notesSlide1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8.xml"/><Relationship Id="rId2" Type="http://schemas.openxmlformats.org/officeDocument/2006/relationships/notesSlide" Target="../notesSlides/notesSlide18.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8.xml"/><Relationship Id="rId2" Type="http://schemas.openxmlformats.org/officeDocument/2006/relationships/notesSlide" Target="../notesSlides/notesSlide19.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8.xml"/><Relationship Id="rId2" Type="http://schemas.openxmlformats.org/officeDocument/2006/relationships/notesSlide" Target="../notesSlides/notesSlide20.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8.xml"/><Relationship Id="rId2" Type="http://schemas.openxmlformats.org/officeDocument/2006/relationships/notesSlide" Target="../notesSlides/notesSlide1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8.xml"/><Relationship Id="rId2" Type="http://schemas.openxmlformats.org/officeDocument/2006/relationships/notesSlide" Target="../notesSlides/notesSlide1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8.xml"/><Relationship Id="rId2" Type="http://schemas.openxmlformats.org/officeDocument/2006/relationships/notesSlide" Target="../notesSlides/notesSlide2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8.xml"/><Relationship Id="rId2" Type="http://schemas.openxmlformats.org/officeDocument/2006/relationships/notesSlide" Target="../notesSlides/notesSlide25.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8.xml"/><Relationship Id="rId2" Type="http://schemas.openxmlformats.org/officeDocument/2006/relationships/notesSlide" Target="../notesSlides/notesSlide13.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8.xml"/><Relationship Id="rId2" Type="http://schemas.openxmlformats.org/officeDocument/2006/relationships/notesSlide" Target="../notesSlides/notesSlide14.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8.xml"/><Relationship Id="rId2" Type="http://schemas.openxmlformats.org/officeDocument/2006/relationships/notesSlide" Target="../notesSlides/notesSlide15.xml"/><Relationship Id="rId3" Type="http://schemas.openxmlformats.org/officeDocument/2006/relationships/image" Target="../media/image8.png"/><Relationship Id="rId4" Type="http://schemas.openxmlformats.org/officeDocument/2006/relationships/image" Target="../media/image9.png"/><Relationship Id="rId5" Type="http://schemas.openxmlformats.org/officeDocument/2006/relationships/image" Target="../media/image7.png"/><Relationship Id="rId6" Type="http://schemas.openxmlformats.org/officeDocument/2006/relationships/image" Target="../media/image16.png"/><Relationship Id="rId7" Type="http://schemas.openxmlformats.org/officeDocument/2006/relationships/image" Target="../media/image18.png"/><Relationship Id="rId8" Type="http://schemas.openxmlformats.org/officeDocument/2006/relationships/image" Target="../media/image11.png"/><Relationship Id="rId9" Type="http://schemas.openxmlformats.org/officeDocument/2006/relationships/image" Target="../media/image19.png"/><Relationship Id="rId10" Type="http://schemas.openxmlformats.org/officeDocument/2006/relationships/image" Target="../media/image20.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8.xml"/><Relationship Id="rId2" Type="http://schemas.openxmlformats.org/officeDocument/2006/relationships/notesSlide" Target="../notesSlides/notesSlide16.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8.xml"/><Relationship Id="rId2" Type="http://schemas.openxmlformats.org/officeDocument/2006/relationships/notesSlide" Target="../notesSlides/notesSlide2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8.xml"/><Relationship Id="rId2" Type="http://schemas.openxmlformats.org/officeDocument/2006/relationships/image" Target="../media/image21.png"/><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8.xml"/><Relationship Id="rId2" Type="http://schemas.openxmlformats.org/officeDocument/2006/relationships/notesSlide" Target="../notesSlides/notesSlide2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chemeClr val="bg1"/>
        </a:solidFill>
        <a:effectLst/>
      </p:bgPr>
    </p:bg>
    <p:spTree>
      <p:nvGrpSpPr>
        <p:cNvPr id="1" name=""/>
        <p:cNvGrpSpPr/>
        <p:nvPr/>
      </p:nvGrpSpPr>
      <p:grpSpPr>
        <a:xfrm>
          <a:off x="0" y="0"/>
          <a:ext cx="0" cy="0"/>
          <a:chOff x="0" y="0"/>
          <a:chExt cx="0" cy="0"/>
        </a:xfrm>
      </p:grpSpPr>
      <p:sp>
        <p:nvSpPr>
          <p:cNvPr id="2" name="Text 0"/>
          <p:cNvSpPr/>
          <p:nvPr/>
        </p:nvSpPr>
        <p:spPr>
          <a:xfrm>
            <a:off x="7589520" y="137160"/>
            <a:ext cx="1371600" cy="274320"/>
          </a:xfrm>
          <a:prstGeom prst="rect">
            <a:avLst/>
          </a:prstGeom>
          <a:noFill/>
          <a:ln/>
        </p:spPr>
        <p:txBody>
          <a:bodyPr wrap="square" lIns="0" tIns="0" rIns="0" bIns="0" rtlCol="0" anchor="ctr"/>
          <a:lstStyle/>
          <a:p>
            <a:pPr marL="0" indent="0" algn="r">
              <a:buNone/>
            </a:pPr>
            <a:r>
              <a:rPr lang="en-US" sz="1200" b="1" kern="0" spc="300" dirty="0">
                <a:latin typeface="Trebuchet MS" pitchFamily="34" charset="0"/>
                <a:ea typeface="Trebuchet MS" pitchFamily="34" charset="-122"/>
                <a:cs typeface="Trebuchet MS" pitchFamily="34" charset="-120"/>
              </a:rPr>
              <a:t>SECTIGO</a:t>
            </a:r>
            <a:endParaRPr lang="en-US" sz="1200" dirty="0"/>
          </a:p>
        </p:txBody>
      </p:sp>
      <p:sp>
        <p:nvSpPr>
          <p:cNvPr id="3" name="Text 1"/>
          <p:cNvSpPr/>
          <p:nvPr/>
        </p:nvSpPr>
        <p:spPr>
          <a:xfrm>
            <a:off x="640080" y="914400"/>
            <a:ext cx="7772400" cy="1828800"/>
          </a:xfrm>
          <a:prstGeom prst="rect">
            <a:avLst/>
          </a:prstGeom>
          <a:noFill/>
          <a:ln/>
        </p:spPr>
        <p:txBody>
          <a:bodyPr wrap="square" lIns="0" tIns="0" rIns="0" bIns="0" rtlCol="0" anchor="ctr"/>
          <a:lstStyle/>
          <a:p>
            <a:pPr marL="0" indent="0" algn="l">
              <a:lnSpc>
                <a:spcPct val="110000"/>
              </a:lnSpc>
              <a:buNone/>
            </a:pPr>
            <a:r>
              <a:rPr lang="en-US" sz="4000" b="1" dirty="0">
                <a:latin typeface="Georgia" pitchFamily="34" charset="0"/>
                <a:ea typeface="Georgia" pitchFamily="34" charset="-122"/>
                <a:cs typeface="Georgia" pitchFamily="34" charset="-120"/>
              </a:rPr>
              <a:t>AI-Powered SRE</a:t>
            </a:r>
            <a:endParaRPr lang="en-US" sz="4000" dirty="0"/>
          </a:p>
          <a:p>
            <a:pPr marL="0" indent="0" algn="l">
              <a:lnSpc>
                <a:spcPct val="110000"/>
              </a:lnSpc>
              <a:buNone/>
            </a:pPr>
            <a:r>
              <a:rPr lang="en-US" sz="4000" b="1" dirty="0">
                <a:latin typeface="Georgia" pitchFamily="34" charset="0"/>
                <a:ea typeface="Georgia" pitchFamily="34" charset="-122"/>
                <a:cs typeface="Georgia" pitchFamily="34" charset="-120"/>
              </a:rPr>
              <a:t>Intelligence Layer</a:t>
            </a:r>
            <a:endParaRPr lang="en-US" sz="4000" dirty="0"/>
          </a:p>
        </p:txBody>
      </p:sp>
      <p:sp>
        <p:nvSpPr>
          <p:cNvPr id="4" name="Text 2"/>
          <p:cNvSpPr/>
          <p:nvPr/>
        </p:nvSpPr>
        <p:spPr>
          <a:xfrm>
            <a:off x="640080" y="2651760"/>
            <a:ext cx="7315200" cy="411480"/>
          </a:xfrm>
          <a:prstGeom prst="rect">
            <a:avLst/>
          </a:prstGeom>
          <a:noFill/>
          <a:ln/>
        </p:spPr>
        <p:txBody>
          <a:bodyPr wrap="square" lIns="0" tIns="0" rIns="0" bIns="0" rtlCol="0" anchor="ctr"/>
          <a:lstStyle/>
          <a:p>
            <a:pPr marL="0" indent="0" algn="l">
              <a:buNone/>
            </a:pPr>
            <a:r>
              <a:rPr lang="en-US" sz="1600" b="1" kern="0" spc="100" dirty="0">
                <a:latin typeface="Trebuchet MS" pitchFamily="34" charset="0"/>
                <a:ea typeface="Trebuchet MS" pitchFamily="34" charset="-122"/>
                <a:cs typeface="Trebuchet MS" pitchFamily="34" charset="-120"/>
              </a:rPr>
              <a:t>LangGraph  +  MCP  +  Gemini Enterprise Agent Platform</a:t>
            </a:r>
            <a:endParaRPr lang="en-US" sz="1600" dirty="0"/>
          </a:p>
        </p:txBody>
      </p:sp>
      <p:sp>
        <p:nvSpPr>
          <p:cNvPr id="5" name="Shape 3"/>
          <p:cNvSpPr/>
          <p:nvPr/>
        </p:nvSpPr>
        <p:spPr>
          <a:xfrm>
            <a:off x="640080" y="3200400"/>
            <a:ext cx="2286000" cy="0"/>
          </a:xfrm>
          <a:prstGeom prst="line">
            <a:avLst/>
          </a:prstGeom>
          <a:noFill/>
          <a:ln w="38100">
            <a:solidFill>
              <a:srgbClr val="E8751A"/>
            </a:solidFill>
            <a:prstDash val="solid"/>
          </a:ln>
        </p:spPr>
        <p:txBody>
          <a:bodyPr/>
          <a:lstStyle/>
          <a:p>
            <a:endParaRPr lang="en-US"/>
          </a:p>
        </p:txBody>
      </p:sp>
      <p:sp>
        <p:nvSpPr>
          <p:cNvPr id="6" name="Text 4"/>
          <p:cNvSpPr/>
          <p:nvPr/>
        </p:nvSpPr>
        <p:spPr>
          <a:xfrm>
            <a:off x="640080" y="3383280"/>
            <a:ext cx="7315200" cy="365760"/>
          </a:xfrm>
          <a:prstGeom prst="rect">
            <a:avLst/>
          </a:prstGeom>
          <a:noFill/>
          <a:ln/>
        </p:spPr>
        <p:txBody>
          <a:bodyPr wrap="square" lIns="0" tIns="0" rIns="0" bIns="0" rtlCol="0" anchor="ctr"/>
          <a:lstStyle/>
          <a:p>
            <a:pPr marL="0" indent="0" algn="l">
              <a:buNone/>
            </a:pPr>
            <a:r>
              <a:rPr lang="en-US" sz="1400" i="1" dirty="0">
                <a:latin typeface="Calibri" pitchFamily="34" charset="0"/>
                <a:ea typeface="Calibri" pitchFamily="34" charset="-122"/>
                <a:cs typeface="Calibri" pitchFamily="34" charset="-120"/>
              </a:rPr>
              <a:t>Human-in-the-Loop Operational AI Assistant</a:t>
            </a:r>
            <a:endParaRPr lang="en-US" sz="1400" dirty="0"/>
          </a:p>
        </p:txBody>
      </p:sp>
      <p:sp>
        <p:nvSpPr>
          <p:cNvPr id="7" name="Text 5"/>
          <p:cNvSpPr/>
          <p:nvPr/>
        </p:nvSpPr>
        <p:spPr>
          <a:xfrm>
            <a:off x="640080" y="3794760"/>
            <a:ext cx="7315200" cy="365760"/>
          </a:xfrm>
          <a:prstGeom prst="rect">
            <a:avLst/>
          </a:prstGeom>
          <a:noFill/>
          <a:ln/>
        </p:spPr>
        <p:txBody>
          <a:bodyPr wrap="square" lIns="0" tIns="0" rIns="0" bIns="0" rtlCol="0" anchor="ctr"/>
          <a:lstStyle/>
          <a:p>
            <a:pPr marL="0" indent="0" algn="l">
              <a:buNone/>
            </a:pPr>
            <a:r>
              <a:rPr lang="en-US" sz="1300" dirty="0">
                <a:latin typeface="Calibri" pitchFamily="34" charset="0"/>
                <a:ea typeface="Calibri" pitchFamily="34" charset="-122"/>
                <a:cs typeface="Calibri" pitchFamily="34" charset="-120"/>
              </a:rPr>
              <a:t>Enhancing incident investigation and operational insights for SRE teams</a:t>
            </a:r>
            <a:endParaRPr lang="en-US" sz="1300" dirty="0"/>
          </a:p>
        </p:txBody>
      </p:sp>
      <p:sp>
        <p:nvSpPr>
          <p:cNvPr id="8" name="Text 6"/>
          <p:cNvSpPr/>
          <p:nvPr/>
        </p:nvSpPr>
        <p:spPr>
          <a:xfrm>
            <a:off x="640080" y="4389120"/>
            <a:ext cx="4572000" cy="548640"/>
          </a:xfrm>
          <a:prstGeom prst="rect">
            <a:avLst/>
          </a:prstGeom>
          <a:noFill/>
          <a:ln/>
        </p:spPr>
        <p:txBody>
          <a:bodyPr wrap="square" lIns="0" tIns="0" rIns="0" bIns="0" rtlCol="0" anchor="ctr"/>
          <a:lstStyle/>
          <a:p>
            <a:pPr marL="0" indent="0" algn="l">
              <a:buNone/>
            </a:pPr>
            <a:r>
              <a:rPr lang="en-US" sz="1200" b="1" dirty="0">
                <a:latin typeface="Calibri" pitchFamily="34" charset="0"/>
                <a:ea typeface="Calibri" pitchFamily="34" charset="-122"/>
                <a:cs typeface="Calibri" pitchFamily="34" charset="-120"/>
              </a:rPr>
              <a:t>Ashwadeep Vaishnav</a:t>
            </a:r>
            <a:endParaRPr lang="en-US" sz="1200" dirty="0"/>
          </a:p>
          <a:p>
            <a:pPr marL="0" indent="0" algn="l">
              <a:buNone/>
            </a:pPr>
            <a:r>
              <a:rPr lang="en-US" sz="1100" dirty="0">
                <a:latin typeface="Calibri" pitchFamily="34" charset="0"/>
                <a:ea typeface="Calibri" pitchFamily="34" charset="-122"/>
                <a:cs typeface="Calibri" pitchFamily="34" charset="-120"/>
              </a:rPr>
              <a:t>SRE / CloudOps  ·  Sectigo</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chemeClr val="bg1"/>
        </a:solidFill>
        <a:effectLst/>
      </p:bgPr>
    </p:bg>
    <p:spTree>
      <p:nvGrpSpPr>
        <p:cNvPr id="1" name=""/>
        <p:cNvGrpSpPr/>
        <p:nvPr/>
      </p:nvGrpSpPr>
      <p:grpSpPr>
        <a:xfrm>
          <a:off x="0" y="0"/>
          <a:ext cx="0" cy="0"/>
          <a:chOff x="0" y="0"/>
          <a:chExt cx="0" cy="0"/>
        </a:xfrm>
      </p:grpSpPr>
      <p:sp>
        <p:nvSpPr>
          <p:cNvPr id="2" name="Text 0"/>
          <p:cNvSpPr/>
          <p:nvPr/>
        </p:nvSpPr>
        <p:spPr>
          <a:xfrm>
            <a:off x="7589520" y="137160"/>
            <a:ext cx="1371600" cy="274320"/>
          </a:xfrm>
          <a:prstGeom prst="rect">
            <a:avLst/>
          </a:prstGeom>
          <a:noFill/>
          <a:ln/>
        </p:spPr>
        <p:txBody>
          <a:bodyPr wrap="square" lIns="0" tIns="0" rIns="0" bIns="0" rtlCol="0" anchor="ctr"/>
          <a:lstStyle/>
          <a:p>
            <a:pPr marL="0" indent="0" algn="r">
              <a:buNone/>
            </a:pPr>
            <a:r>
              <a:rPr lang="en-US" sz="1200" b="1" kern="0" spc="300" dirty="0">
                <a:latin typeface="Trebuchet MS" pitchFamily="34" charset="0"/>
                <a:ea typeface="Trebuchet MS" pitchFamily="34" charset="-122"/>
                <a:cs typeface="Trebuchet MS" pitchFamily="34" charset="-120"/>
              </a:rPr>
              <a:t>SECTIGO</a:t>
            </a:r>
            <a:endParaRPr lang="en-US" sz="1200" dirty="0"/>
          </a:p>
        </p:txBody>
      </p:sp>
      <p:sp>
        <p:nvSpPr>
          <p:cNvPr id="3" name="Text 1"/>
          <p:cNvSpPr/>
          <p:nvPr/>
        </p:nvSpPr>
        <p:spPr>
          <a:xfrm>
            <a:off x="457200" y="548640"/>
            <a:ext cx="8229600" cy="548640"/>
          </a:xfrm>
          <a:prstGeom prst="rect">
            <a:avLst/>
          </a:prstGeom>
          <a:noFill/>
          <a:ln/>
        </p:spPr>
        <p:txBody>
          <a:bodyPr wrap="square" lIns="0" tIns="0" rIns="0" bIns="0" rtlCol="0" anchor="ctr"/>
          <a:lstStyle/>
          <a:p>
            <a:pPr marL="0" indent="0">
              <a:buNone/>
            </a:pPr>
            <a:r>
              <a:rPr lang="en-US" sz="3600" b="1" dirty="0">
                <a:latin typeface="Georgia" pitchFamily="34" charset="0"/>
                <a:ea typeface="Georgia" pitchFamily="34" charset="-122"/>
                <a:cs typeface="Georgia" pitchFamily="34" charset="-120"/>
              </a:rPr>
              <a:t>Introductions</a:t>
            </a:r>
            <a:endParaRPr lang="en-US" sz="3600" dirty="0"/>
          </a:p>
        </p:txBody>
      </p:sp>
      <p:sp>
        <p:nvSpPr>
          <p:cNvPr id="4" name="Shape 2"/>
          <p:cNvSpPr/>
          <p:nvPr/>
        </p:nvSpPr>
        <p:spPr>
          <a:xfrm>
            <a:off x="640080" y="1371600"/>
            <a:ext cx="5029200" cy="2560320"/>
          </a:xfrm>
          <a:prstGeom prst="rect">
            <a:avLst/>
          </a:prstGeom>
          <a:solidFill>
            <a:srgbClr val="1E1E1E"/>
          </a:solidFill>
          <a:ln w="12700">
            <a:solidFill>
              <a:srgbClr val="333333"/>
            </a:solidFill>
            <a:prstDash val="solid"/>
          </a:ln>
          <a:effectLst>
            <a:outerShdw blurRad="50800" dist="25400" dir="8100000" algn="bl" rotWithShape="0">
              <a:srgbClr val="000000">
                <a:alpha val="30000"/>
              </a:srgbClr>
            </a:outerShdw>
          </a:effectLst>
        </p:spPr>
        <p:txBody>
          <a:bodyPr/>
          <a:lstStyle/>
          <a:p>
            <a:endParaRPr lang="en-US"/>
          </a:p>
        </p:txBody>
      </p:sp>
      <p:sp>
        <p:nvSpPr>
          <p:cNvPr id="5" name="Text 3"/>
          <p:cNvSpPr/>
          <p:nvPr/>
        </p:nvSpPr>
        <p:spPr>
          <a:xfrm>
            <a:off x="914400" y="1554480"/>
            <a:ext cx="4572000" cy="2194560"/>
          </a:xfrm>
          <a:prstGeom prst="rect">
            <a:avLst/>
          </a:prstGeom>
          <a:noFill/>
          <a:ln/>
        </p:spPr>
        <p:txBody>
          <a:bodyPr wrap="square" lIns="0" tIns="0" rIns="0" bIns="0" rtlCol="0" anchor="ctr"/>
          <a:lstStyle/>
          <a:p>
            <a:pPr marL="0" indent="0">
              <a:buNone/>
            </a:pPr>
            <a:r>
              <a:rPr lang="en-US" sz="1400" b="1" dirty="0">
                <a:solidFill>
                  <a:srgbClr val="3CB371"/>
                </a:solidFill>
                <a:latin typeface="Consolas" pitchFamily="34" charset="0"/>
                <a:ea typeface="Consolas" pitchFamily="34" charset="-122"/>
                <a:cs typeface="Consolas" pitchFamily="34" charset="-120"/>
              </a:rPr>
              <a:t>$ whoami</a:t>
            </a:r>
            <a:endParaRPr lang="en-US" sz="1400" dirty="0"/>
          </a:p>
          <a:p>
            <a:pPr marL="0" indent="0">
              <a:buNone/>
            </a:pPr>
            <a:r>
              <a:rPr lang="en-US" sz="1400" dirty="0">
                <a:solidFill>
                  <a:srgbClr val="FFFFFF"/>
                </a:solidFill>
                <a:latin typeface="Calibri" pitchFamily="34" charset="0"/>
                <a:ea typeface="Calibri" pitchFamily="34" charset="-122"/>
                <a:cs typeface="Calibri" pitchFamily="34" charset="-120"/>
              </a:rPr>
              <a:t>Ashwadeep Vaishnav — SRE / CloudOps</a:t>
            </a:r>
            <a:endParaRPr lang="en-US" sz="1400" dirty="0"/>
          </a:p>
          <a:p>
            <a:pPr marL="0" indent="0">
              <a:buNone/>
            </a:pPr>
            <a:endParaRPr lang="en-US" sz="1400" dirty="0"/>
          </a:p>
          <a:p>
            <a:pPr marL="0" indent="0">
              <a:buNone/>
            </a:pPr>
            <a:r>
              <a:rPr lang="en-US" sz="1400" b="1" dirty="0">
                <a:solidFill>
                  <a:srgbClr val="3CB371"/>
                </a:solidFill>
                <a:latin typeface="Consolas" pitchFamily="34" charset="0"/>
                <a:ea typeface="Consolas" pitchFamily="34" charset="-122"/>
                <a:cs typeface="Consolas" pitchFamily="34" charset="-120"/>
              </a:rPr>
              <a:t>$ locate</a:t>
            </a:r>
            <a:endParaRPr lang="en-US" sz="1400" dirty="0"/>
          </a:p>
          <a:p>
            <a:pPr marL="0" indent="0">
              <a:buNone/>
            </a:pPr>
            <a:r>
              <a:rPr lang="en-US" sz="1400" dirty="0">
                <a:solidFill>
                  <a:srgbClr val="FFFFFF"/>
                </a:solidFill>
                <a:latin typeface="Calibri" pitchFamily="34" charset="0"/>
                <a:ea typeface="Calibri" pitchFamily="34" charset="-122"/>
                <a:cs typeface="Calibri" pitchFamily="34" charset="-120"/>
              </a:rPr>
              <a:t>Ottawa, Canada</a:t>
            </a:r>
            <a:endParaRPr lang="en-US" sz="1400" dirty="0"/>
          </a:p>
          <a:p>
            <a:pPr marL="0" indent="0">
              <a:buNone/>
            </a:pPr>
            <a:endParaRPr lang="en-US" sz="1400" dirty="0"/>
          </a:p>
          <a:p>
            <a:pPr marL="0" indent="0">
              <a:buNone/>
            </a:pPr>
            <a:r>
              <a:rPr lang="en-US" sz="1400" b="1" dirty="0">
                <a:solidFill>
                  <a:srgbClr val="3CB371"/>
                </a:solidFill>
                <a:latin typeface="Consolas" pitchFamily="34" charset="0"/>
                <a:ea typeface="Consolas" pitchFamily="34" charset="-122"/>
                <a:cs typeface="Consolas" pitchFamily="34" charset="-120"/>
              </a:rPr>
              <a:t>$ cat passion.txt</a:t>
            </a:r>
            <a:endParaRPr lang="en-US" sz="1400" dirty="0"/>
          </a:p>
          <a:p>
            <a:pPr marL="0" indent="0">
              <a:buNone/>
            </a:pPr>
            <a:r>
              <a:rPr lang="en-US" sz="1400" dirty="0">
                <a:solidFill>
                  <a:srgbClr val="FFFFFF"/>
                </a:solidFill>
                <a:latin typeface="Calibri" pitchFamily="34" charset="0"/>
                <a:ea typeface="Calibri" pitchFamily="34" charset="-122"/>
                <a:cs typeface="Calibri" pitchFamily="34" charset="-120"/>
              </a:rPr>
              <a:t>AI + SRE · Cloud Infrastructure · Automation</a:t>
            </a:r>
            <a:endParaRPr lang="en-US" sz="1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chemeClr val="bg1"/>
        </a:solidFill>
        <a:effectLst/>
      </p:bgPr>
    </p:bg>
    <p:spTree>
      <p:nvGrpSpPr>
        <p:cNvPr id="1" name=""/>
        <p:cNvGrpSpPr/>
        <p:nvPr/>
      </p:nvGrpSpPr>
      <p:grpSpPr>
        <a:xfrm>
          <a:off x="0" y="0"/>
          <a:ext cx="0" cy="0"/>
          <a:chOff x="0" y="0"/>
          <a:chExt cx="0" cy="0"/>
        </a:xfrm>
      </p:grpSpPr>
      <p:sp>
        <p:nvSpPr>
          <p:cNvPr id="2" name="Text 0"/>
          <p:cNvSpPr/>
          <p:nvPr/>
        </p:nvSpPr>
        <p:spPr>
          <a:xfrm>
            <a:off x="7589520" y="137160"/>
            <a:ext cx="1371600" cy="274320"/>
          </a:xfrm>
          <a:prstGeom prst="rect">
            <a:avLst/>
          </a:prstGeom>
          <a:noFill/>
          <a:ln/>
        </p:spPr>
        <p:txBody>
          <a:bodyPr wrap="square" lIns="0" tIns="0" rIns="0" bIns="0" rtlCol="0" anchor="ctr"/>
          <a:lstStyle/>
          <a:p>
            <a:pPr marL="0" indent="0" algn="r">
              <a:buNone/>
            </a:pPr>
            <a:r>
              <a:rPr lang="en-US" sz="1200" b="1" kern="0" spc="300" dirty="0">
                <a:latin typeface="Trebuchet MS" pitchFamily="34" charset="0"/>
                <a:ea typeface="Trebuchet MS" pitchFamily="34" charset="-122"/>
                <a:cs typeface="Trebuchet MS" pitchFamily="34" charset="-120"/>
              </a:rPr>
              <a:t>SECTIGO</a:t>
            </a:r>
            <a:endParaRPr lang="en-US" sz="1200" dirty="0"/>
          </a:p>
        </p:txBody>
      </p:sp>
      <p:sp>
        <p:nvSpPr>
          <p:cNvPr id="3" name="Text 1"/>
          <p:cNvSpPr/>
          <p:nvPr/>
        </p:nvSpPr>
        <p:spPr>
          <a:xfrm>
            <a:off x="457200" y="502920"/>
            <a:ext cx="8229600" cy="502920"/>
          </a:xfrm>
          <a:prstGeom prst="rect">
            <a:avLst/>
          </a:prstGeom>
          <a:noFill/>
          <a:ln/>
        </p:spPr>
        <p:txBody>
          <a:bodyPr wrap="square" lIns="0" tIns="0" rIns="0" bIns="0" rtlCol="0" anchor="ctr"/>
          <a:lstStyle/>
          <a:p>
            <a:pPr marL="0" indent="0">
              <a:buNone/>
            </a:pPr>
            <a:r>
              <a:rPr lang="en-US" sz="3600" b="1" dirty="0">
                <a:latin typeface="Georgia" pitchFamily="34" charset="0"/>
                <a:ea typeface="Georgia" pitchFamily="34" charset="-122"/>
                <a:cs typeface="Georgia" pitchFamily="34" charset="-120"/>
              </a:rPr>
              <a:t>Agenda</a:t>
            </a:r>
            <a:endParaRPr lang="en-US" sz="3600" dirty="0"/>
          </a:p>
        </p:txBody>
      </p:sp>
      <p:sp>
        <p:nvSpPr>
          <p:cNvPr id="4" name="Shape 2"/>
          <p:cNvSpPr/>
          <p:nvPr/>
        </p:nvSpPr>
        <p:spPr>
          <a:xfrm>
            <a:off x="640080" y="1280160"/>
            <a:ext cx="384048" cy="384048"/>
          </a:xfrm>
          <a:prstGeom prst="ellipse">
            <a:avLst/>
          </a:prstGeom>
          <a:solidFill>
            <a:srgbClr val="E74C3C"/>
          </a:solidFill>
          <a:ln/>
        </p:spPr>
        <p:txBody>
          <a:bodyPr/>
          <a:lstStyle/>
          <a:p>
            <a:endParaRPr lang="en-US"/>
          </a:p>
        </p:txBody>
      </p:sp>
      <p:sp>
        <p:nvSpPr>
          <p:cNvPr id="5" name="Text 3"/>
          <p:cNvSpPr/>
          <p:nvPr/>
        </p:nvSpPr>
        <p:spPr>
          <a:xfrm>
            <a:off x="640080" y="1280160"/>
            <a:ext cx="384048" cy="384048"/>
          </a:xfrm>
          <a:prstGeom prst="rect">
            <a:avLst/>
          </a:prstGeom>
          <a:noFill/>
          <a:ln/>
        </p:spPr>
        <p:txBody>
          <a:bodyPr wrap="square" lIns="0" tIns="0" rIns="0" bIns="0" rtlCol="0" anchor="ctr"/>
          <a:lstStyle/>
          <a:p>
            <a:pPr marL="0" indent="0" algn="ctr">
              <a:buNone/>
            </a:pPr>
            <a:r>
              <a:rPr lang="en-US" sz="1100" b="1" dirty="0">
                <a:latin typeface="Trebuchet MS" pitchFamily="34" charset="0"/>
                <a:ea typeface="Trebuchet MS" pitchFamily="34" charset="-122"/>
                <a:cs typeface="Trebuchet MS" pitchFamily="34" charset="-120"/>
              </a:rPr>
              <a:t>01</a:t>
            </a:r>
            <a:endParaRPr lang="en-US" sz="1100" dirty="0"/>
          </a:p>
        </p:txBody>
      </p:sp>
      <p:sp>
        <p:nvSpPr>
          <p:cNvPr id="6" name="Text 4"/>
          <p:cNvSpPr/>
          <p:nvPr/>
        </p:nvSpPr>
        <p:spPr>
          <a:xfrm>
            <a:off x="1188720" y="1234440"/>
            <a:ext cx="2743200" cy="256032"/>
          </a:xfrm>
          <a:prstGeom prst="rect">
            <a:avLst/>
          </a:prstGeom>
          <a:noFill/>
          <a:ln/>
        </p:spPr>
        <p:txBody>
          <a:bodyPr wrap="square" lIns="0" tIns="0" rIns="0" bIns="0" rtlCol="0" anchor="ctr"/>
          <a:lstStyle/>
          <a:p>
            <a:pPr marL="0" indent="0" algn="l">
              <a:buNone/>
            </a:pPr>
            <a:r>
              <a:rPr lang="en-US" sz="1400" b="1" dirty="0">
                <a:latin typeface="Trebuchet MS" pitchFamily="34" charset="0"/>
                <a:ea typeface="Trebuchet MS" pitchFamily="34" charset="-122"/>
                <a:cs typeface="Trebuchet MS" pitchFamily="34" charset="-120"/>
              </a:rPr>
              <a:t>The Problem</a:t>
            </a:r>
            <a:endParaRPr lang="en-US" sz="1400" dirty="0"/>
          </a:p>
        </p:txBody>
      </p:sp>
      <p:sp>
        <p:nvSpPr>
          <p:cNvPr id="7" name="Text 5"/>
          <p:cNvSpPr/>
          <p:nvPr/>
        </p:nvSpPr>
        <p:spPr>
          <a:xfrm>
            <a:off x="1188720" y="1472184"/>
            <a:ext cx="4572000" cy="219456"/>
          </a:xfrm>
          <a:prstGeom prst="rect">
            <a:avLst/>
          </a:prstGeom>
          <a:noFill/>
          <a:ln/>
        </p:spPr>
        <p:txBody>
          <a:bodyPr wrap="square" lIns="0" tIns="0" rIns="0" bIns="0" rtlCol="0" anchor="ctr"/>
          <a:lstStyle/>
          <a:p>
            <a:pPr marL="0" indent="0" algn="l">
              <a:buNone/>
            </a:pPr>
            <a:r>
              <a:rPr lang="en-US" sz="1000" dirty="0">
                <a:latin typeface="Calibri" pitchFamily="34" charset="0"/>
                <a:ea typeface="Calibri" pitchFamily="34" charset="-122"/>
                <a:cs typeface="Calibri" pitchFamily="34" charset="-120"/>
              </a:rPr>
              <a:t>Operational complexity &amp; SRE challenges</a:t>
            </a:r>
            <a:endParaRPr lang="en-US" sz="1000" dirty="0"/>
          </a:p>
        </p:txBody>
      </p:sp>
      <p:sp>
        <p:nvSpPr>
          <p:cNvPr id="8" name="Shape 6"/>
          <p:cNvSpPr/>
          <p:nvPr/>
        </p:nvSpPr>
        <p:spPr>
          <a:xfrm>
            <a:off x="640080" y="1828800"/>
            <a:ext cx="384048" cy="384048"/>
          </a:xfrm>
          <a:prstGeom prst="ellipse">
            <a:avLst/>
          </a:prstGeom>
          <a:solidFill>
            <a:srgbClr val="E8751A"/>
          </a:solidFill>
          <a:ln/>
        </p:spPr>
        <p:txBody>
          <a:bodyPr/>
          <a:lstStyle/>
          <a:p>
            <a:endParaRPr lang="en-US"/>
          </a:p>
        </p:txBody>
      </p:sp>
      <p:sp>
        <p:nvSpPr>
          <p:cNvPr id="9" name="Text 7"/>
          <p:cNvSpPr/>
          <p:nvPr/>
        </p:nvSpPr>
        <p:spPr>
          <a:xfrm>
            <a:off x="640080" y="1828800"/>
            <a:ext cx="384048" cy="384048"/>
          </a:xfrm>
          <a:prstGeom prst="rect">
            <a:avLst/>
          </a:prstGeom>
          <a:noFill/>
          <a:ln/>
        </p:spPr>
        <p:txBody>
          <a:bodyPr wrap="square" lIns="0" tIns="0" rIns="0" bIns="0" rtlCol="0" anchor="ctr"/>
          <a:lstStyle/>
          <a:p>
            <a:pPr marL="0" indent="0" algn="ctr">
              <a:buNone/>
            </a:pPr>
            <a:r>
              <a:rPr lang="en-US" sz="1100" b="1" dirty="0">
                <a:latin typeface="Trebuchet MS" pitchFamily="34" charset="0"/>
                <a:ea typeface="Trebuchet MS" pitchFamily="34" charset="-122"/>
                <a:cs typeface="Trebuchet MS" pitchFamily="34" charset="-120"/>
              </a:rPr>
              <a:t>02</a:t>
            </a:r>
            <a:endParaRPr lang="en-US" sz="1100" dirty="0"/>
          </a:p>
        </p:txBody>
      </p:sp>
      <p:sp>
        <p:nvSpPr>
          <p:cNvPr id="10" name="Text 8"/>
          <p:cNvSpPr/>
          <p:nvPr/>
        </p:nvSpPr>
        <p:spPr>
          <a:xfrm>
            <a:off x="1188720" y="1783080"/>
            <a:ext cx="2743200" cy="256032"/>
          </a:xfrm>
          <a:prstGeom prst="rect">
            <a:avLst/>
          </a:prstGeom>
          <a:noFill/>
          <a:ln/>
        </p:spPr>
        <p:txBody>
          <a:bodyPr wrap="square" lIns="0" tIns="0" rIns="0" bIns="0" rtlCol="0" anchor="ctr"/>
          <a:lstStyle/>
          <a:p>
            <a:pPr marL="0" indent="0" algn="l">
              <a:buNone/>
            </a:pPr>
            <a:r>
              <a:rPr lang="en-US" sz="1400" b="1" dirty="0">
                <a:latin typeface="Trebuchet MS" pitchFamily="34" charset="0"/>
                <a:ea typeface="Trebuchet MS" pitchFamily="34" charset="-122"/>
                <a:cs typeface="Trebuchet MS" pitchFamily="34" charset="-120"/>
              </a:rPr>
              <a:t>The Vision</a:t>
            </a:r>
            <a:endParaRPr lang="en-US" sz="1400" dirty="0"/>
          </a:p>
        </p:txBody>
      </p:sp>
      <p:sp>
        <p:nvSpPr>
          <p:cNvPr id="11" name="Text 9"/>
          <p:cNvSpPr/>
          <p:nvPr/>
        </p:nvSpPr>
        <p:spPr>
          <a:xfrm>
            <a:off x="1188720" y="2020824"/>
            <a:ext cx="4572000" cy="219456"/>
          </a:xfrm>
          <a:prstGeom prst="rect">
            <a:avLst/>
          </a:prstGeom>
          <a:noFill/>
          <a:ln/>
        </p:spPr>
        <p:txBody>
          <a:bodyPr wrap="square" lIns="0" tIns="0" rIns="0" bIns="0" rtlCol="0" anchor="ctr"/>
          <a:lstStyle/>
          <a:p>
            <a:pPr marL="0" indent="0" algn="l">
              <a:buNone/>
            </a:pPr>
            <a:r>
              <a:rPr lang="en-US" sz="1000" dirty="0">
                <a:latin typeface="Calibri" pitchFamily="34" charset="0"/>
                <a:ea typeface="Calibri" pitchFamily="34" charset="-122"/>
                <a:cs typeface="Calibri" pitchFamily="34" charset="-120"/>
              </a:rPr>
              <a:t>AI Intelligence Layer &amp; workflow transformation</a:t>
            </a:r>
            <a:endParaRPr lang="en-US" sz="1000" dirty="0"/>
          </a:p>
        </p:txBody>
      </p:sp>
      <p:sp>
        <p:nvSpPr>
          <p:cNvPr id="12" name="Shape 10"/>
          <p:cNvSpPr/>
          <p:nvPr/>
        </p:nvSpPr>
        <p:spPr>
          <a:xfrm>
            <a:off x="640080" y="2377440"/>
            <a:ext cx="384048" cy="384048"/>
          </a:xfrm>
          <a:prstGeom prst="ellipse">
            <a:avLst/>
          </a:prstGeom>
          <a:solidFill>
            <a:srgbClr val="1ABC9C"/>
          </a:solidFill>
          <a:ln/>
        </p:spPr>
        <p:txBody>
          <a:bodyPr/>
          <a:lstStyle/>
          <a:p>
            <a:endParaRPr lang="en-US"/>
          </a:p>
        </p:txBody>
      </p:sp>
      <p:sp>
        <p:nvSpPr>
          <p:cNvPr id="13" name="Text 11"/>
          <p:cNvSpPr/>
          <p:nvPr/>
        </p:nvSpPr>
        <p:spPr>
          <a:xfrm>
            <a:off x="640080" y="2377440"/>
            <a:ext cx="384048" cy="384048"/>
          </a:xfrm>
          <a:prstGeom prst="rect">
            <a:avLst/>
          </a:prstGeom>
          <a:noFill/>
          <a:ln/>
        </p:spPr>
        <p:txBody>
          <a:bodyPr wrap="square" lIns="0" tIns="0" rIns="0" bIns="0" rtlCol="0" anchor="ctr"/>
          <a:lstStyle/>
          <a:p>
            <a:pPr marL="0" indent="0" algn="ctr">
              <a:buNone/>
            </a:pPr>
            <a:r>
              <a:rPr lang="en-US" sz="1100" b="1" dirty="0">
                <a:latin typeface="Trebuchet MS" pitchFamily="34" charset="0"/>
                <a:ea typeface="Trebuchet MS" pitchFamily="34" charset="-122"/>
                <a:cs typeface="Trebuchet MS" pitchFamily="34" charset="-120"/>
              </a:rPr>
              <a:t>03</a:t>
            </a:r>
            <a:endParaRPr lang="en-US" sz="1100" dirty="0"/>
          </a:p>
        </p:txBody>
      </p:sp>
      <p:sp>
        <p:nvSpPr>
          <p:cNvPr id="14" name="Text 12"/>
          <p:cNvSpPr/>
          <p:nvPr/>
        </p:nvSpPr>
        <p:spPr>
          <a:xfrm>
            <a:off x="1188720" y="2331720"/>
            <a:ext cx="2743200" cy="256032"/>
          </a:xfrm>
          <a:prstGeom prst="rect">
            <a:avLst/>
          </a:prstGeom>
          <a:noFill/>
          <a:ln/>
        </p:spPr>
        <p:txBody>
          <a:bodyPr wrap="square" lIns="0" tIns="0" rIns="0" bIns="0" rtlCol="0" anchor="ctr"/>
          <a:lstStyle/>
          <a:p>
            <a:pPr marL="0" indent="0" algn="l">
              <a:buNone/>
            </a:pPr>
            <a:r>
              <a:rPr lang="en-US" sz="1400" b="1" dirty="0">
                <a:latin typeface="Trebuchet MS" pitchFamily="34" charset="0"/>
                <a:ea typeface="Trebuchet MS" pitchFamily="34" charset="-122"/>
                <a:cs typeface="Trebuchet MS" pitchFamily="34" charset="-120"/>
              </a:rPr>
              <a:t>How We Built It</a:t>
            </a:r>
            <a:endParaRPr lang="en-US" sz="1400" dirty="0"/>
          </a:p>
        </p:txBody>
      </p:sp>
      <p:sp>
        <p:nvSpPr>
          <p:cNvPr id="15" name="Text 13"/>
          <p:cNvSpPr/>
          <p:nvPr/>
        </p:nvSpPr>
        <p:spPr>
          <a:xfrm>
            <a:off x="1188720" y="2569464"/>
            <a:ext cx="4572000" cy="219456"/>
          </a:xfrm>
          <a:prstGeom prst="rect">
            <a:avLst/>
          </a:prstGeom>
          <a:noFill/>
          <a:ln/>
        </p:spPr>
        <p:txBody>
          <a:bodyPr wrap="square" lIns="0" tIns="0" rIns="0" bIns="0" rtlCol="0" anchor="ctr"/>
          <a:lstStyle/>
          <a:p>
            <a:pPr marL="0" indent="0" algn="l">
              <a:buNone/>
            </a:pPr>
            <a:r>
              <a:rPr lang="en-US" sz="1000" dirty="0">
                <a:latin typeface="Calibri" pitchFamily="34" charset="0"/>
                <a:ea typeface="Calibri" pitchFamily="34" charset="-122"/>
                <a:cs typeface="Calibri" pitchFamily="34" charset="-120"/>
              </a:rPr>
              <a:t>Architecture, LangGraph, MCP &amp; agent reasoning</a:t>
            </a:r>
            <a:endParaRPr lang="en-US" sz="1000" dirty="0"/>
          </a:p>
        </p:txBody>
      </p:sp>
      <p:sp>
        <p:nvSpPr>
          <p:cNvPr id="16" name="Shape 14"/>
          <p:cNvSpPr/>
          <p:nvPr/>
        </p:nvSpPr>
        <p:spPr>
          <a:xfrm>
            <a:off x="640080" y="2926080"/>
            <a:ext cx="384048" cy="384048"/>
          </a:xfrm>
          <a:prstGeom prst="ellipse">
            <a:avLst/>
          </a:prstGeom>
          <a:solidFill>
            <a:srgbClr val="F4C542"/>
          </a:solidFill>
          <a:ln/>
        </p:spPr>
        <p:txBody>
          <a:bodyPr/>
          <a:lstStyle/>
          <a:p>
            <a:endParaRPr lang="en-US"/>
          </a:p>
        </p:txBody>
      </p:sp>
      <p:sp>
        <p:nvSpPr>
          <p:cNvPr id="17" name="Text 15"/>
          <p:cNvSpPr/>
          <p:nvPr/>
        </p:nvSpPr>
        <p:spPr>
          <a:xfrm>
            <a:off x="640080" y="2926080"/>
            <a:ext cx="384048" cy="384048"/>
          </a:xfrm>
          <a:prstGeom prst="rect">
            <a:avLst/>
          </a:prstGeom>
          <a:noFill/>
          <a:ln/>
        </p:spPr>
        <p:txBody>
          <a:bodyPr wrap="square" lIns="0" tIns="0" rIns="0" bIns="0" rtlCol="0" anchor="ctr"/>
          <a:lstStyle/>
          <a:p>
            <a:pPr marL="0" indent="0" algn="ctr">
              <a:buNone/>
            </a:pPr>
            <a:r>
              <a:rPr lang="en-US" sz="1100" b="1" dirty="0">
                <a:latin typeface="Trebuchet MS" pitchFamily="34" charset="0"/>
                <a:ea typeface="Trebuchet MS" pitchFamily="34" charset="-122"/>
                <a:cs typeface="Trebuchet MS" pitchFamily="34" charset="-120"/>
              </a:rPr>
              <a:t>04</a:t>
            </a:r>
            <a:endParaRPr lang="en-US" sz="1100" dirty="0"/>
          </a:p>
        </p:txBody>
      </p:sp>
      <p:sp>
        <p:nvSpPr>
          <p:cNvPr id="18" name="Text 16"/>
          <p:cNvSpPr/>
          <p:nvPr/>
        </p:nvSpPr>
        <p:spPr>
          <a:xfrm>
            <a:off x="1188720" y="2880360"/>
            <a:ext cx="2743200" cy="256032"/>
          </a:xfrm>
          <a:prstGeom prst="rect">
            <a:avLst/>
          </a:prstGeom>
          <a:noFill/>
          <a:ln/>
        </p:spPr>
        <p:txBody>
          <a:bodyPr wrap="square" lIns="0" tIns="0" rIns="0" bIns="0" rtlCol="0" anchor="ctr"/>
          <a:lstStyle/>
          <a:p>
            <a:pPr marL="0" indent="0" algn="l">
              <a:buNone/>
            </a:pPr>
            <a:r>
              <a:rPr lang="en-US" sz="1400" b="1" dirty="0">
                <a:latin typeface="Trebuchet MS" pitchFamily="34" charset="0"/>
                <a:ea typeface="Trebuchet MS" pitchFamily="34" charset="-122"/>
                <a:cs typeface="Trebuchet MS" pitchFamily="34" charset="-120"/>
              </a:rPr>
              <a:t>Security &amp; Trust</a:t>
            </a:r>
            <a:endParaRPr lang="en-US" sz="1400" dirty="0"/>
          </a:p>
        </p:txBody>
      </p:sp>
      <p:sp>
        <p:nvSpPr>
          <p:cNvPr id="19" name="Text 17"/>
          <p:cNvSpPr/>
          <p:nvPr/>
        </p:nvSpPr>
        <p:spPr>
          <a:xfrm>
            <a:off x="1188720" y="3118104"/>
            <a:ext cx="4572000" cy="219456"/>
          </a:xfrm>
          <a:prstGeom prst="rect">
            <a:avLst/>
          </a:prstGeom>
          <a:noFill/>
          <a:ln/>
        </p:spPr>
        <p:txBody>
          <a:bodyPr wrap="square" lIns="0" tIns="0" rIns="0" bIns="0" rtlCol="0" anchor="ctr"/>
          <a:lstStyle/>
          <a:p>
            <a:pPr marL="0" indent="0" algn="l">
              <a:buNone/>
            </a:pPr>
            <a:r>
              <a:rPr lang="en-US" sz="1000" dirty="0">
                <a:latin typeface="Calibri" pitchFamily="34" charset="0"/>
                <a:ea typeface="Calibri" pitchFamily="34" charset="-122"/>
                <a:cs typeface="Calibri" pitchFamily="34" charset="-120"/>
              </a:rPr>
              <a:t>Authentication, governance &amp; data handling</a:t>
            </a:r>
            <a:endParaRPr lang="en-US" sz="1000" dirty="0"/>
          </a:p>
        </p:txBody>
      </p:sp>
      <p:sp>
        <p:nvSpPr>
          <p:cNvPr id="20" name="Shape 18"/>
          <p:cNvSpPr/>
          <p:nvPr/>
        </p:nvSpPr>
        <p:spPr>
          <a:xfrm>
            <a:off x="640080" y="3474720"/>
            <a:ext cx="384048" cy="384048"/>
          </a:xfrm>
          <a:prstGeom prst="ellipse">
            <a:avLst/>
          </a:prstGeom>
          <a:solidFill>
            <a:srgbClr val="3CB371"/>
          </a:solidFill>
          <a:ln/>
        </p:spPr>
        <p:txBody>
          <a:bodyPr/>
          <a:lstStyle/>
          <a:p>
            <a:endParaRPr lang="en-US"/>
          </a:p>
        </p:txBody>
      </p:sp>
      <p:sp>
        <p:nvSpPr>
          <p:cNvPr id="21" name="Text 19"/>
          <p:cNvSpPr/>
          <p:nvPr/>
        </p:nvSpPr>
        <p:spPr>
          <a:xfrm>
            <a:off x="640080" y="3474720"/>
            <a:ext cx="384048" cy="384048"/>
          </a:xfrm>
          <a:prstGeom prst="rect">
            <a:avLst/>
          </a:prstGeom>
          <a:noFill/>
          <a:ln/>
        </p:spPr>
        <p:txBody>
          <a:bodyPr wrap="square" lIns="0" tIns="0" rIns="0" bIns="0" rtlCol="0" anchor="ctr"/>
          <a:lstStyle/>
          <a:p>
            <a:pPr marL="0" indent="0" algn="ctr">
              <a:buNone/>
            </a:pPr>
            <a:r>
              <a:rPr lang="en-US" sz="1100" b="1" dirty="0">
                <a:latin typeface="Trebuchet MS" pitchFamily="34" charset="0"/>
                <a:ea typeface="Trebuchet MS" pitchFamily="34" charset="-122"/>
                <a:cs typeface="Trebuchet MS" pitchFamily="34" charset="-120"/>
              </a:rPr>
              <a:t>05</a:t>
            </a:r>
            <a:endParaRPr lang="en-US" sz="1100" dirty="0"/>
          </a:p>
        </p:txBody>
      </p:sp>
      <p:sp>
        <p:nvSpPr>
          <p:cNvPr id="22" name="Text 20"/>
          <p:cNvSpPr/>
          <p:nvPr/>
        </p:nvSpPr>
        <p:spPr>
          <a:xfrm>
            <a:off x="1188720" y="3429000"/>
            <a:ext cx="2743200" cy="256032"/>
          </a:xfrm>
          <a:prstGeom prst="rect">
            <a:avLst/>
          </a:prstGeom>
          <a:noFill/>
          <a:ln/>
        </p:spPr>
        <p:txBody>
          <a:bodyPr wrap="square" lIns="0" tIns="0" rIns="0" bIns="0" rtlCol="0" anchor="ctr"/>
          <a:lstStyle/>
          <a:p>
            <a:pPr marL="0" indent="0" algn="l">
              <a:buNone/>
            </a:pPr>
            <a:r>
              <a:rPr lang="en-US" sz="1400" b="1" dirty="0">
                <a:latin typeface="Trebuchet MS" pitchFamily="34" charset="0"/>
                <a:ea typeface="Trebuchet MS" pitchFamily="34" charset="-122"/>
                <a:cs typeface="Trebuchet MS" pitchFamily="34" charset="-120"/>
              </a:rPr>
              <a:t>Proof It Works</a:t>
            </a:r>
            <a:endParaRPr lang="en-US" sz="1400" dirty="0"/>
          </a:p>
        </p:txBody>
      </p:sp>
      <p:sp>
        <p:nvSpPr>
          <p:cNvPr id="23" name="Text 21"/>
          <p:cNvSpPr/>
          <p:nvPr/>
        </p:nvSpPr>
        <p:spPr>
          <a:xfrm>
            <a:off x="1188720" y="3666744"/>
            <a:ext cx="4572000" cy="219456"/>
          </a:xfrm>
          <a:prstGeom prst="rect">
            <a:avLst/>
          </a:prstGeom>
          <a:noFill/>
          <a:ln/>
        </p:spPr>
        <p:txBody>
          <a:bodyPr wrap="square" lIns="0" tIns="0" rIns="0" bIns="0" rtlCol="0" anchor="ctr"/>
          <a:lstStyle/>
          <a:p>
            <a:pPr marL="0" indent="0" algn="l">
              <a:buNone/>
            </a:pPr>
            <a:r>
              <a:rPr lang="en-US" sz="1000" dirty="0">
                <a:latin typeface="Calibri" pitchFamily="34" charset="0"/>
                <a:ea typeface="Calibri" pitchFamily="34" charset="-122"/>
                <a:cs typeface="Calibri" pitchFamily="34" charset="-120"/>
              </a:rPr>
              <a:t>Live demo &amp; observability</a:t>
            </a:r>
            <a:endParaRPr lang="en-US" sz="1000" dirty="0"/>
          </a:p>
        </p:txBody>
      </p:sp>
      <p:sp>
        <p:nvSpPr>
          <p:cNvPr id="24" name="Shape 22"/>
          <p:cNvSpPr/>
          <p:nvPr/>
        </p:nvSpPr>
        <p:spPr>
          <a:xfrm>
            <a:off x="640080" y="4023360"/>
            <a:ext cx="384048" cy="384048"/>
          </a:xfrm>
          <a:prstGeom prst="ellipse">
            <a:avLst/>
          </a:prstGeom>
          <a:solidFill>
            <a:srgbClr val="3498DB"/>
          </a:solidFill>
          <a:ln/>
        </p:spPr>
        <p:txBody>
          <a:bodyPr/>
          <a:lstStyle/>
          <a:p>
            <a:endParaRPr lang="en-US"/>
          </a:p>
        </p:txBody>
      </p:sp>
      <p:sp>
        <p:nvSpPr>
          <p:cNvPr id="25" name="Text 23"/>
          <p:cNvSpPr/>
          <p:nvPr/>
        </p:nvSpPr>
        <p:spPr>
          <a:xfrm>
            <a:off x="640080" y="4023360"/>
            <a:ext cx="384048" cy="384048"/>
          </a:xfrm>
          <a:prstGeom prst="rect">
            <a:avLst/>
          </a:prstGeom>
          <a:noFill/>
          <a:ln/>
        </p:spPr>
        <p:txBody>
          <a:bodyPr wrap="square" lIns="0" tIns="0" rIns="0" bIns="0" rtlCol="0" anchor="ctr"/>
          <a:lstStyle/>
          <a:p>
            <a:pPr marL="0" indent="0" algn="ctr">
              <a:buNone/>
            </a:pPr>
            <a:r>
              <a:rPr lang="en-US" sz="1100" b="1" dirty="0">
                <a:latin typeface="Trebuchet MS" pitchFamily="34" charset="0"/>
                <a:ea typeface="Trebuchet MS" pitchFamily="34" charset="-122"/>
                <a:cs typeface="Trebuchet MS" pitchFamily="34" charset="-120"/>
              </a:rPr>
              <a:t>06</a:t>
            </a:r>
            <a:endParaRPr lang="en-US" sz="1100" dirty="0"/>
          </a:p>
        </p:txBody>
      </p:sp>
      <p:sp>
        <p:nvSpPr>
          <p:cNvPr id="26" name="Text 24"/>
          <p:cNvSpPr/>
          <p:nvPr/>
        </p:nvSpPr>
        <p:spPr>
          <a:xfrm>
            <a:off x="1188720" y="3977640"/>
            <a:ext cx="2743200" cy="256032"/>
          </a:xfrm>
          <a:prstGeom prst="rect">
            <a:avLst/>
          </a:prstGeom>
          <a:noFill/>
          <a:ln/>
        </p:spPr>
        <p:txBody>
          <a:bodyPr wrap="square" lIns="0" tIns="0" rIns="0" bIns="0" rtlCol="0" anchor="ctr"/>
          <a:lstStyle/>
          <a:p>
            <a:pPr marL="0" indent="0" algn="l">
              <a:buNone/>
            </a:pPr>
            <a:r>
              <a:rPr lang="en-US" sz="1400" b="1" dirty="0">
                <a:latin typeface="Trebuchet MS" pitchFamily="34" charset="0"/>
                <a:ea typeface="Trebuchet MS" pitchFamily="34" charset="-122"/>
                <a:cs typeface="Trebuchet MS" pitchFamily="34" charset="-120"/>
              </a:rPr>
              <a:t>Cost &amp; Value</a:t>
            </a:r>
            <a:endParaRPr lang="en-US" sz="1400" dirty="0"/>
          </a:p>
        </p:txBody>
      </p:sp>
      <p:sp>
        <p:nvSpPr>
          <p:cNvPr id="27" name="Text 25"/>
          <p:cNvSpPr/>
          <p:nvPr/>
        </p:nvSpPr>
        <p:spPr>
          <a:xfrm>
            <a:off x="1188720" y="4215384"/>
            <a:ext cx="4572000" cy="219456"/>
          </a:xfrm>
          <a:prstGeom prst="rect">
            <a:avLst/>
          </a:prstGeom>
          <a:noFill/>
          <a:ln/>
        </p:spPr>
        <p:txBody>
          <a:bodyPr wrap="square" lIns="0" tIns="0" rIns="0" bIns="0" rtlCol="0" anchor="ctr"/>
          <a:lstStyle/>
          <a:p>
            <a:pPr marL="0" indent="0" algn="l">
              <a:buNone/>
            </a:pPr>
            <a:r>
              <a:rPr lang="en-US" sz="1000" dirty="0">
                <a:latin typeface="Calibri" pitchFamily="34" charset="0"/>
                <a:ea typeface="Calibri" pitchFamily="34" charset="-122"/>
                <a:cs typeface="Calibri" pitchFamily="34" charset="-120"/>
              </a:rPr>
              <a:t>Pricing model &amp; success metrics</a:t>
            </a:r>
            <a:endParaRPr lang="en-US" sz="1000" dirty="0"/>
          </a:p>
        </p:txBody>
      </p:sp>
      <p:sp>
        <p:nvSpPr>
          <p:cNvPr id="28" name="Shape 26"/>
          <p:cNvSpPr/>
          <p:nvPr/>
        </p:nvSpPr>
        <p:spPr>
          <a:xfrm>
            <a:off x="640080" y="4572000"/>
            <a:ext cx="384048" cy="384048"/>
          </a:xfrm>
          <a:prstGeom prst="ellipse">
            <a:avLst/>
          </a:prstGeom>
          <a:solidFill>
            <a:srgbClr val="9B59B6"/>
          </a:solidFill>
          <a:ln/>
        </p:spPr>
        <p:txBody>
          <a:bodyPr/>
          <a:lstStyle/>
          <a:p>
            <a:endParaRPr lang="en-US"/>
          </a:p>
        </p:txBody>
      </p:sp>
      <p:sp>
        <p:nvSpPr>
          <p:cNvPr id="29" name="Text 27"/>
          <p:cNvSpPr/>
          <p:nvPr/>
        </p:nvSpPr>
        <p:spPr>
          <a:xfrm>
            <a:off x="640080" y="4572000"/>
            <a:ext cx="384048" cy="384048"/>
          </a:xfrm>
          <a:prstGeom prst="rect">
            <a:avLst/>
          </a:prstGeom>
          <a:noFill/>
          <a:ln/>
        </p:spPr>
        <p:txBody>
          <a:bodyPr wrap="square" lIns="0" tIns="0" rIns="0" bIns="0" rtlCol="0" anchor="ctr"/>
          <a:lstStyle/>
          <a:p>
            <a:pPr marL="0" indent="0" algn="ctr">
              <a:buNone/>
            </a:pPr>
            <a:r>
              <a:rPr lang="en-US" sz="1100" b="1" dirty="0">
                <a:latin typeface="Trebuchet MS" pitchFamily="34" charset="0"/>
                <a:ea typeface="Trebuchet MS" pitchFamily="34" charset="-122"/>
                <a:cs typeface="Trebuchet MS" pitchFamily="34" charset="-120"/>
              </a:rPr>
              <a:t>07</a:t>
            </a:r>
            <a:endParaRPr lang="en-US" sz="1100" dirty="0"/>
          </a:p>
        </p:txBody>
      </p:sp>
      <p:sp>
        <p:nvSpPr>
          <p:cNvPr id="30" name="Text 28"/>
          <p:cNvSpPr/>
          <p:nvPr/>
        </p:nvSpPr>
        <p:spPr>
          <a:xfrm>
            <a:off x="1188720" y="4526280"/>
            <a:ext cx="2743200" cy="256032"/>
          </a:xfrm>
          <a:prstGeom prst="rect">
            <a:avLst/>
          </a:prstGeom>
          <a:noFill/>
          <a:ln/>
        </p:spPr>
        <p:txBody>
          <a:bodyPr wrap="square" lIns="0" tIns="0" rIns="0" bIns="0" rtlCol="0" anchor="ctr"/>
          <a:lstStyle/>
          <a:p>
            <a:pPr marL="0" indent="0" algn="l">
              <a:buNone/>
            </a:pPr>
            <a:r>
              <a:rPr lang="en-US" sz="1400" b="1" dirty="0">
                <a:latin typeface="Trebuchet MS" pitchFamily="34" charset="0"/>
                <a:ea typeface="Trebuchet MS" pitchFamily="34" charset="-122"/>
                <a:cs typeface="Trebuchet MS" pitchFamily="34" charset="-120"/>
              </a:rPr>
              <a:t>What's Next</a:t>
            </a:r>
            <a:endParaRPr lang="en-US" sz="1400" dirty="0"/>
          </a:p>
        </p:txBody>
      </p:sp>
      <p:sp>
        <p:nvSpPr>
          <p:cNvPr id="31" name="Text 29"/>
          <p:cNvSpPr/>
          <p:nvPr/>
        </p:nvSpPr>
        <p:spPr>
          <a:xfrm>
            <a:off x="1188720" y="4764024"/>
            <a:ext cx="4572000" cy="219456"/>
          </a:xfrm>
          <a:prstGeom prst="rect">
            <a:avLst/>
          </a:prstGeom>
          <a:noFill/>
          <a:ln/>
        </p:spPr>
        <p:txBody>
          <a:bodyPr wrap="square" lIns="0" tIns="0" rIns="0" bIns="0" rtlCol="0" anchor="ctr"/>
          <a:lstStyle/>
          <a:p>
            <a:pPr marL="0" indent="0" algn="l">
              <a:buNone/>
            </a:pPr>
            <a:r>
              <a:rPr lang="en-US" sz="1000" dirty="0">
                <a:latin typeface="Calibri" pitchFamily="34" charset="0"/>
                <a:ea typeface="Calibri" pitchFamily="34" charset="-122"/>
                <a:cs typeface="Calibri" pitchFamily="34" charset="-120"/>
              </a:rPr>
              <a:t>Roadmap, adoption plan &amp; cloud strategy</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chemeClr val="bg1"/>
        </a:solidFill>
        <a:effectLst/>
      </p:bgPr>
    </p:bg>
    <p:spTree>
      <p:nvGrpSpPr>
        <p:cNvPr id="1" name=""/>
        <p:cNvGrpSpPr/>
        <p:nvPr/>
      </p:nvGrpSpPr>
      <p:grpSpPr>
        <a:xfrm>
          <a:off x="0" y="0"/>
          <a:ext cx="0" cy="0"/>
          <a:chOff x="0" y="0"/>
          <a:chExt cx="0" cy="0"/>
        </a:xfrm>
      </p:grpSpPr>
      <p:sp>
        <p:nvSpPr>
          <p:cNvPr id="2" name="Text 0"/>
          <p:cNvSpPr/>
          <p:nvPr/>
        </p:nvSpPr>
        <p:spPr>
          <a:xfrm>
            <a:off x="7589520" y="137160"/>
            <a:ext cx="1371600" cy="274320"/>
          </a:xfrm>
          <a:prstGeom prst="rect">
            <a:avLst/>
          </a:prstGeom>
          <a:noFill/>
          <a:ln/>
        </p:spPr>
        <p:txBody>
          <a:bodyPr wrap="square" lIns="0" tIns="0" rIns="0" bIns="0" rtlCol="0" anchor="ctr"/>
          <a:lstStyle/>
          <a:p>
            <a:pPr marL="0" indent="0" algn="r">
              <a:buNone/>
            </a:pPr>
            <a:r>
              <a:rPr lang="en-US" sz="1200" b="1" kern="0" spc="300" dirty="0">
                <a:solidFill>
                  <a:srgbClr val="3CB371"/>
                </a:solidFill>
                <a:latin typeface="Trebuchet MS" pitchFamily="34" charset="0"/>
                <a:ea typeface="Trebuchet MS" pitchFamily="34" charset="-122"/>
                <a:cs typeface="Trebuchet MS" pitchFamily="34" charset="-120"/>
              </a:rPr>
              <a:t>SECTIGO</a:t>
            </a:r>
            <a:endParaRPr lang="en-US" sz="1200" dirty="0"/>
          </a:p>
        </p:txBody>
      </p:sp>
      <p:sp>
        <p:nvSpPr>
          <p:cNvPr id="3" name="Text 1"/>
          <p:cNvSpPr/>
          <p:nvPr/>
        </p:nvSpPr>
        <p:spPr>
          <a:xfrm>
            <a:off x="457200" y="1097280"/>
            <a:ext cx="1828800" cy="1371600"/>
          </a:xfrm>
          <a:prstGeom prst="rect">
            <a:avLst/>
          </a:prstGeom>
          <a:noFill/>
          <a:ln/>
        </p:spPr>
        <p:txBody>
          <a:bodyPr wrap="square" lIns="0" tIns="0" rIns="0" bIns="0" rtlCol="0" anchor="ctr"/>
          <a:lstStyle/>
          <a:p>
            <a:pPr marL="0" indent="0" algn="l">
              <a:buNone/>
            </a:pPr>
            <a:r>
              <a:rPr lang="en-US" sz="7200" b="1" dirty="0">
                <a:solidFill>
                  <a:srgbClr val="E8751A"/>
                </a:solidFill>
                <a:latin typeface="Georgia" pitchFamily="34" charset="0"/>
                <a:ea typeface="Georgia" pitchFamily="34" charset="-122"/>
                <a:cs typeface="Georgia" pitchFamily="34" charset="-120"/>
              </a:rPr>
              <a:t>01</a:t>
            </a:r>
            <a:endParaRPr lang="en-US" sz="7200" dirty="0"/>
          </a:p>
        </p:txBody>
      </p:sp>
      <p:sp>
        <p:nvSpPr>
          <p:cNvPr id="4" name="Shape 2"/>
          <p:cNvSpPr/>
          <p:nvPr/>
        </p:nvSpPr>
        <p:spPr>
          <a:xfrm>
            <a:off x="457200" y="2560320"/>
            <a:ext cx="2743200" cy="0"/>
          </a:xfrm>
          <a:prstGeom prst="line">
            <a:avLst/>
          </a:prstGeom>
          <a:noFill/>
          <a:ln w="38100">
            <a:solidFill>
              <a:srgbClr val="E8751A"/>
            </a:solidFill>
            <a:prstDash val="solid"/>
          </a:ln>
        </p:spPr>
        <p:txBody>
          <a:bodyPr/>
          <a:lstStyle/>
          <a:p>
            <a:endParaRPr lang="en-US"/>
          </a:p>
        </p:txBody>
      </p:sp>
      <p:sp>
        <p:nvSpPr>
          <p:cNvPr id="5" name="Text 3"/>
          <p:cNvSpPr/>
          <p:nvPr/>
        </p:nvSpPr>
        <p:spPr>
          <a:xfrm>
            <a:off x="457200" y="2743200"/>
            <a:ext cx="8229600" cy="914400"/>
          </a:xfrm>
          <a:prstGeom prst="rect">
            <a:avLst/>
          </a:prstGeom>
          <a:noFill/>
          <a:ln/>
        </p:spPr>
        <p:txBody>
          <a:bodyPr wrap="square" lIns="0" tIns="0" rIns="0" bIns="0" rtlCol="0" anchor="ctr"/>
          <a:lstStyle/>
          <a:p>
            <a:pPr marL="0" indent="0" algn="l">
              <a:buNone/>
            </a:pPr>
            <a:r>
              <a:rPr lang="en-US" sz="3600" b="1" dirty="0">
                <a:latin typeface="Georgia" pitchFamily="34" charset="0"/>
                <a:ea typeface="Georgia" pitchFamily="34" charset="-122"/>
                <a:cs typeface="Georgia" pitchFamily="34" charset="-120"/>
              </a:rPr>
              <a:t>The Problem</a:t>
            </a:r>
            <a:endParaRPr lang="en-US" sz="3600" dirty="0"/>
          </a:p>
        </p:txBody>
      </p:sp>
      <p:sp>
        <p:nvSpPr>
          <p:cNvPr id="6" name="Text 4"/>
          <p:cNvSpPr/>
          <p:nvPr/>
        </p:nvSpPr>
        <p:spPr>
          <a:xfrm>
            <a:off x="457200" y="3566160"/>
            <a:ext cx="8229600" cy="457200"/>
          </a:xfrm>
          <a:prstGeom prst="rect">
            <a:avLst/>
          </a:prstGeom>
          <a:noFill/>
          <a:ln/>
        </p:spPr>
        <p:txBody>
          <a:bodyPr wrap="square" lIns="0" tIns="0" rIns="0" bIns="0" rtlCol="0" anchor="ctr"/>
          <a:lstStyle/>
          <a:p>
            <a:pPr marL="0" indent="0" algn="l">
              <a:buNone/>
            </a:pPr>
            <a:r>
              <a:rPr lang="en-US" sz="1400" dirty="0">
                <a:solidFill>
                  <a:srgbClr val="999999"/>
                </a:solidFill>
                <a:latin typeface="Calibri" pitchFamily="34" charset="0"/>
                <a:ea typeface="Calibri" pitchFamily="34" charset="-122"/>
                <a:cs typeface="Calibri" pitchFamily="34" charset="-120"/>
              </a:rPr>
              <a:t>Why the current approach isn't scaling</a:t>
            </a:r>
            <a:endParaRPr lang="en-US" sz="14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chemeClr val="bg1"/>
        </a:solidFill>
        <a:effectLst/>
      </p:bgPr>
    </p:bg>
    <p:spTree>
      <p:nvGrpSpPr>
        <p:cNvPr id="1" name=""/>
        <p:cNvGrpSpPr/>
        <p:nvPr/>
      </p:nvGrpSpPr>
      <p:grpSpPr>
        <a:xfrm>
          <a:off x="0" y="0"/>
          <a:ext cx="0" cy="0"/>
          <a:chOff x="0" y="0"/>
          <a:chExt cx="0" cy="0"/>
        </a:xfrm>
      </p:grpSpPr>
      <p:sp>
        <p:nvSpPr>
          <p:cNvPr id="2" name="Text 0"/>
          <p:cNvSpPr/>
          <p:nvPr/>
        </p:nvSpPr>
        <p:spPr>
          <a:xfrm>
            <a:off x="7589520" y="137160"/>
            <a:ext cx="1371600" cy="274320"/>
          </a:xfrm>
          <a:prstGeom prst="rect">
            <a:avLst/>
          </a:prstGeom>
          <a:noFill/>
          <a:ln/>
        </p:spPr>
        <p:txBody>
          <a:bodyPr wrap="square" lIns="0" tIns="0" rIns="0" bIns="0" rtlCol="0" anchor="ctr"/>
          <a:lstStyle/>
          <a:p>
            <a:pPr marL="0" indent="0" algn="r">
              <a:buNone/>
            </a:pPr>
            <a:r>
              <a:rPr lang="en-US" sz="1200" b="1" kern="0" spc="300" dirty="0">
                <a:solidFill>
                  <a:srgbClr val="3CB371"/>
                </a:solidFill>
                <a:latin typeface="Trebuchet MS" pitchFamily="34" charset="0"/>
                <a:ea typeface="Trebuchet MS" pitchFamily="34" charset="-122"/>
                <a:cs typeface="Trebuchet MS" pitchFamily="34" charset="-120"/>
              </a:rPr>
              <a:t>SECTIGO</a:t>
            </a:r>
            <a:endParaRPr lang="en-US" sz="1200" dirty="0"/>
          </a:p>
        </p:txBody>
      </p:sp>
      <p:sp>
        <p:nvSpPr>
          <p:cNvPr id="3" name="Shape 1"/>
          <p:cNvSpPr/>
          <p:nvPr/>
        </p:nvSpPr>
        <p:spPr>
          <a:xfrm>
            <a:off x="457200" y="182880"/>
            <a:ext cx="1330452" cy="256032"/>
          </a:xfrm>
          <a:prstGeom prst="roundRect">
            <a:avLst>
              <a:gd name="adj" fmla="val 14286"/>
            </a:avLst>
          </a:prstGeom>
          <a:solidFill>
            <a:srgbClr val="E8751A"/>
          </a:solidFill>
          <a:ln/>
        </p:spPr>
        <p:txBody>
          <a:bodyPr/>
          <a:lstStyle/>
          <a:p>
            <a:endParaRPr lang="en-US"/>
          </a:p>
        </p:txBody>
      </p:sp>
      <p:sp>
        <p:nvSpPr>
          <p:cNvPr id="4" name="Text 2"/>
          <p:cNvSpPr/>
          <p:nvPr/>
        </p:nvSpPr>
        <p:spPr>
          <a:xfrm>
            <a:off x="457200" y="182880"/>
            <a:ext cx="1330452" cy="256032"/>
          </a:xfrm>
          <a:prstGeom prst="rect">
            <a:avLst/>
          </a:prstGeom>
          <a:noFill/>
          <a:ln/>
        </p:spPr>
        <p:txBody>
          <a:bodyPr wrap="square" lIns="0" tIns="0" rIns="0" bIns="0" rtlCol="0" anchor="ctr"/>
          <a:lstStyle/>
          <a:p>
            <a:pPr marL="0" indent="0" algn="ctr">
              <a:buNone/>
            </a:pPr>
            <a:r>
              <a:rPr lang="en-US" sz="800" b="1" kern="0" spc="200" dirty="0">
                <a:solidFill>
                  <a:srgbClr val="FFFFFF"/>
                </a:solidFill>
                <a:latin typeface="Trebuchet MS" pitchFamily="34" charset="0"/>
                <a:ea typeface="Trebuchet MS" pitchFamily="34" charset="-122"/>
                <a:cs typeface="Trebuchet MS" pitchFamily="34" charset="-120"/>
              </a:rPr>
              <a:t>THE PROBLEM</a:t>
            </a:r>
            <a:endParaRPr lang="en-US" sz="800" dirty="0"/>
          </a:p>
        </p:txBody>
      </p:sp>
      <p:sp>
        <p:nvSpPr>
          <p:cNvPr id="5" name="Text 3"/>
          <p:cNvSpPr/>
          <p:nvPr/>
        </p:nvSpPr>
        <p:spPr>
          <a:xfrm>
            <a:off x="457200" y="502920"/>
            <a:ext cx="8229600" cy="502920"/>
          </a:xfrm>
          <a:prstGeom prst="rect">
            <a:avLst/>
          </a:prstGeom>
          <a:noFill/>
          <a:ln/>
        </p:spPr>
        <p:txBody>
          <a:bodyPr wrap="square" lIns="0" tIns="0" rIns="0" bIns="0" rtlCol="0" anchor="ctr"/>
          <a:lstStyle/>
          <a:p>
            <a:pPr marL="0" indent="0">
              <a:buNone/>
            </a:pPr>
            <a:r>
              <a:rPr lang="en-US" sz="3200" b="1" dirty="0">
                <a:latin typeface="Georgia" pitchFamily="34" charset="0"/>
                <a:ea typeface="Georgia" pitchFamily="34" charset="-122"/>
                <a:cs typeface="Georgia" pitchFamily="34" charset="-120"/>
              </a:rPr>
              <a:t>Current Operational Complexity</a:t>
            </a:r>
            <a:endParaRPr lang="en-US" sz="3200" dirty="0"/>
          </a:p>
        </p:txBody>
      </p:sp>
      <p:sp>
        <p:nvSpPr>
          <p:cNvPr id="6" name="Shape 4"/>
          <p:cNvSpPr/>
          <p:nvPr/>
        </p:nvSpPr>
        <p:spPr>
          <a:xfrm>
            <a:off x="457200" y="1280160"/>
            <a:ext cx="2651760" cy="1645920"/>
          </a:xfrm>
          <a:prstGeom prst="rect">
            <a:avLst/>
          </a:prstGeom>
          <a:solidFill>
            <a:srgbClr val="242424"/>
          </a:solidFill>
          <a:ln w="12700">
            <a:solidFill>
              <a:srgbClr val="333333"/>
            </a:solidFill>
            <a:prstDash val="solid"/>
          </a:ln>
        </p:spPr>
        <p:txBody>
          <a:bodyPr/>
          <a:lstStyle/>
          <a:p>
            <a:endParaRPr lang="en-US"/>
          </a:p>
        </p:txBody>
      </p:sp>
      <p:sp>
        <p:nvSpPr>
          <p:cNvPr id="7" name="Shape 5"/>
          <p:cNvSpPr/>
          <p:nvPr/>
        </p:nvSpPr>
        <p:spPr>
          <a:xfrm>
            <a:off x="457200" y="1280160"/>
            <a:ext cx="54864" cy="1645920"/>
          </a:xfrm>
          <a:prstGeom prst="rect">
            <a:avLst/>
          </a:prstGeom>
          <a:solidFill>
            <a:srgbClr val="E74C3C"/>
          </a:solidFill>
          <a:ln/>
        </p:spPr>
        <p:txBody>
          <a:bodyPr/>
          <a:lstStyle/>
          <a:p>
            <a:endParaRPr lang="en-US"/>
          </a:p>
        </p:txBody>
      </p:sp>
      <p:pic>
        <p:nvPicPr>
          <p:cNvPr id="8" name="Image 0" descr="preencoded.png"/>
          <p:cNvPicPr>
            <a:picLocks noChangeAspect="1"/>
          </p:cNvPicPr>
          <p:nvPr/>
        </p:nvPicPr>
        <p:blipFill>
          <a:blip r:embed="rId3"/>
          <a:stretch>
            <a:fillRect/>
          </a:stretch>
        </p:blipFill>
        <p:spPr>
          <a:xfrm>
            <a:off x="640080" y="1463040"/>
            <a:ext cx="320040" cy="320040"/>
          </a:xfrm>
          <a:prstGeom prst="rect">
            <a:avLst/>
          </a:prstGeom>
        </p:spPr>
      </p:pic>
      <p:sp>
        <p:nvSpPr>
          <p:cNvPr id="9" name="Text 6"/>
          <p:cNvSpPr/>
          <p:nvPr/>
        </p:nvSpPr>
        <p:spPr>
          <a:xfrm>
            <a:off x="1051560" y="1463040"/>
            <a:ext cx="1828800" cy="320040"/>
          </a:xfrm>
          <a:prstGeom prst="rect">
            <a:avLst/>
          </a:prstGeom>
          <a:noFill/>
          <a:ln/>
        </p:spPr>
        <p:txBody>
          <a:bodyPr wrap="square" lIns="0" tIns="0" rIns="0" bIns="0" rtlCol="0" anchor="ctr"/>
          <a:lstStyle/>
          <a:p>
            <a:pPr marL="0" indent="0" algn="l">
              <a:buNone/>
            </a:pPr>
            <a:r>
              <a:rPr lang="en-US" sz="1200" b="1" dirty="0">
                <a:solidFill>
                  <a:srgbClr val="FFFFFF"/>
                </a:solidFill>
                <a:latin typeface="Trebuchet MS" pitchFamily="34" charset="0"/>
                <a:ea typeface="Trebuchet MS" pitchFamily="34" charset="-122"/>
                <a:cs typeface="Trebuchet MS" pitchFamily="34" charset="-120"/>
              </a:rPr>
              <a:t>Alert Fatigue</a:t>
            </a:r>
            <a:endParaRPr lang="en-US" sz="1200" dirty="0"/>
          </a:p>
        </p:txBody>
      </p:sp>
      <p:sp>
        <p:nvSpPr>
          <p:cNvPr id="10" name="Text 7"/>
          <p:cNvSpPr/>
          <p:nvPr/>
        </p:nvSpPr>
        <p:spPr>
          <a:xfrm>
            <a:off x="640080" y="1920240"/>
            <a:ext cx="2286000" cy="822960"/>
          </a:xfrm>
          <a:prstGeom prst="rect">
            <a:avLst/>
          </a:prstGeom>
          <a:noFill/>
          <a:ln/>
        </p:spPr>
        <p:txBody>
          <a:bodyPr wrap="square" lIns="0" tIns="0" rIns="0" bIns="0" rtlCol="0" anchor="t"/>
          <a:lstStyle/>
          <a:p>
            <a:pPr marL="0" indent="0" algn="l">
              <a:buNone/>
            </a:pPr>
            <a:r>
              <a:rPr lang="en-US" sz="1000" dirty="0">
                <a:solidFill>
                  <a:srgbClr val="CCCCCC"/>
                </a:solidFill>
                <a:latin typeface="Calibri" pitchFamily="34" charset="0"/>
                <a:ea typeface="Calibri" pitchFamily="34" charset="-122"/>
                <a:cs typeface="Calibri" pitchFamily="34" charset="-120"/>
              </a:rPr>
              <a:t>Too many alerts across systems; engineers manually gather context from different tools</a:t>
            </a:r>
            <a:endParaRPr lang="en-US" sz="1000" dirty="0"/>
          </a:p>
        </p:txBody>
      </p:sp>
      <p:sp>
        <p:nvSpPr>
          <p:cNvPr id="11" name="Shape 8"/>
          <p:cNvSpPr/>
          <p:nvPr/>
        </p:nvSpPr>
        <p:spPr>
          <a:xfrm>
            <a:off x="3291840" y="1280160"/>
            <a:ext cx="2651760" cy="1645920"/>
          </a:xfrm>
          <a:prstGeom prst="rect">
            <a:avLst/>
          </a:prstGeom>
          <a:solidFill>
            <a:srgbClr val="242424"/>
          </a:solidFill>
          <a:ln w="12700">
            <a:solidFill>
              <a:srgbClr val="333333"/>
            </a:solidFill>
            <a:prstDash val="solid"/>
          </a:ln>
        </p:spPr>
        <p:txBody>
          <a:bodyPr/>
          <a:lstStyle/>
          <a:p>
            <a:endParaRPr lang="en-US"/>
          </a:p>
        </p:txBody>
      </p:sp>
      <p:sp>
        <p:nvSpPr>
          <p:cNvPr id="12" name="Shape 9"/>
          <p:cNvSpPr/>
          <p:nvPr/>
        </p:nvSpPr>
        <p:spPr>
          <a:xfrm>
            <a:off x="3291840" y="1280160"/>
            <a:ext cx="54864" cy="1645920"/>
          </a:xfrm>
          <a:prstGeom prst="rect">
            <a:avLst/>
          </a:prstGeom>
          <a:solidFill>
            <a:srgbClr val="E8751A"/>
          </a:solidFill>
          <a:ln/>
        </p:spPr>
        <p:txBody>
          <a:bodyPr/>
          <a:lstStyle/>
          <a:p>
            <a:endParaRPr lang="en-US"/>
          </a:p>
        </p:txBody>
      </p:sp>
      <p:pic>
        <p:nvPicPr>
          <p:cNvPr id="13" name="Image 1" descr="preencoded.png"/>
          <p:cNvPicPr>
            <a:picLocks noChangeAspect="1"/>
          </p:cNvPicPr>
          <p:nvPr/>
        </p:nvPicPr>
        <p:blipFill>
          <a:blip r:embed="rId4"/>
          <a:stretch>
            <a:fillRect/>
          </a:stretch>
        </p:blipFill>
        <p:spPr>
          <a:xfrm>
            <a:off x="3474720" y="1463040"/>
            <a:ext cx="320040" cy="320040"/>
          </a:xfrm>
          <a:prstGeom prst="rect">
            <a:avLst/>
          </a:prstGeom>
        </p:spPr>
      </p:pic>
      <p:sp>
        <p:nvSpPr>
          <p:cNvPr id="14" name="Text 10"/>
          <p:cNvSpPr/>
          <p:nvPr/>
        </p:nvSpPr>
        <p:spPr>
          <a:xfrm>
            <a:off x="3886200" y="1463040"/>
            <a:ext cx="1828800" cy="320040"/>
          </a:xfrm>
          <a:prstGeom prst="rect">
            <a:avLst/>
          </a:prstGeom>
          <a:noFill/>
          <a:ln/>
        </p:spPr>
        <p:txBody>
          <a:bodyPr wrap="square" lIns="0" tIns="0" rIns="0" bIns="0" rtlCol="0" anchor="ctr"/>
          <a:lstStyle/>
          <a:p>
            <a:pPr marL="0" indent="0" algn="l">
              <a:buNone/>
            </a:pPr>
            <a:r>
              <a:rPr lang="en-US" sz="1200" b="1" dirty="0">
                <a:solidFill>
                  <a:srgbClr val="FFFFFF"/>
                </a:solidFill>
                <a:latin typeface="Trebuchet MS" pitchFamily="34" charset="0"/>
                <a:ea typeface="Trebuchet MS" pitchFamily="34" charset="-122"/>
                <a:cs typeface="Trebuchet MS" pitchFamily="34" charset="-120"/>
              </a:rPr>
              <a:t>Slow MTTR</a:t>
            </a:r>
            <a:endParaRPr lang="en-US" sz="1200" dirty="0"/>
          </a:p>
        </p:txBody>
      </p:sp>
      <p:sp>
        <p:nvSpPr>
          <p:cNvPr id="15" name="Text 11"/>
          <p:cNvSpPr/>
          <p:nvPr/>
        </p:nvSpPr>
        <p:spPr>
          <a:xfrm>
            <a:off x="3474720" y="1920240"/>
            <a:ext cx="2286000" cy="822960"/>
          </a:xfrm>
          <a:prstGeom prst="rect">
            <a:avLst/>
          </a:prstGeom>
          <a:noFill/>
          <a:ln/>
        </p:spPr>
        <p:txBody>
          <a:bodyPr wrap="square" lIns="0" tIns="0" rIns="0" bIns="0" rtlCol="0" anchor="t"/>
          <a:lstStyle/>
          <a:p>
            <a:pPr marL="0" indent="0" algn="l">
              <a:buNone/>
            </a:pPr>
            <a:r>
              <a:rPr lang="en-US" sz="1000" dirty="0">
                <a:solidFill>
                  <a:srgbClr val="CCCCCC"/>
                </a:solidFill>
                <a:latin typeface="Calibri" pitchFamily="34" charset="0"/>
                <a:ea typeface="Calibri" pitchFamily="34" charset="-122"/>
                <a:cs typeface="Calibri" pitchFamily="34" charset="-120"/>
              </a:rPr>
              <a:t>Engineers spend significant time collecting information before troubleshooting can begin</a:t>
            </a:r>
            <a:endParaRPr lang="en-US" sz="1000" dirty="0"/>
          </a:p>
        </p:txBody>
      </p:sp>
      <p:sp>
        <p:nvSpPr>
          <p:cNvPr id="16" name="Shape 12"/>
          <p:cNvSpPr/>
          <p:nvPr/>
        </p:nvSpPr>
        <p:spPr>
          <a:xfrm>
            <a:off x="6126480" y="1280160"/>
            <a:ext cx="2651760" cy="1645920"/>
          </a:xfrm>
          <a:prstGeom prst="rect">
            <a:avLst/>
          </a:prstGeom>
          <a:solidFill>
            <a:srgbClr val="242424"/>
          </a:solidFill>
          <a:ln w="12700">
            <a:solidFill>
              <a:srgbClr val="333333"/>
            </a:solidFill>
            <a:prstDash val="solid"/>
          </a:ln>
        </p:spPr>
        <p:txBody>
          <a:bodyPr/>
          <a:lstStyle/>
          <a:p>
            <a:endParaRPr lang="en-US"/>
          </a:p>
        </p:txBody>
      </p:sp>
      <p:sp>
        <p:nvSpPr>
          <p:cNvPr id="17" name="Shape 13"/>
          <p:cNvSpPr/>
          <p:nvPr/>
        </p:nvSpPr>
        <p:spPr>
          <a:xfrm>
            <a:off x="6126480" y="1280160"/>
            <a:ext cx="54864" cy="1645920"/>
          </a:xfrm>
          <a:prstGeom prst="rect">
            <a:avLst/>
          </a:prstGeom>
          <a:solidFill>
            <a:srgbClr val="F4C542"/>
          </a:solidFill>
          <a:ln/>
        </p:spPr>
        <p:txBody>
          <a:bodyPr/>
          <a:lstStyle/>
          <a:p>
            <a:endParaRPr lang="en-US"/>
          </a:p>
        </p:txBody>
      </p:sp>
      <p:pic>
        <p:nvPicPr>
          <p:cNvPr id="18" name="Image 2" descr="preencoded.png"/>
          <p:cNvPicPr>
            <a:picLocks noChangeAspect="1"/>
          </p:cNvPicPr>
          <p:nvPr/>
        </p:nvPicPr>
        <p:blipFill>
          <a:blip r:embed="rId5"/>
          <a:stretch>
            <a:fillRect/>
          </a:stretch>
        </p:blipFill>
        <p:spPr>
          <a:xfrm>
            <a:off x="6309360" y="1463040"/>
            <a:ext cx="320040" cy="320040"/>
          </a:xfrm>
          <a:prstGeom prst="rect">
            <a:avLst/>
          </a:prstGeom>
        </p:spPr>
      </p:pic>
      <p:sp>
        <p:nvSpPr>
          <p:cNvPr id="19" name="Text 14"/>
          <p:cNvSpPr/>
          <p:nvPr/>
        </p:nvSpPr>
        <p:spPr>
          <a:xfrm>
            <a:off x="6720840" y="1463040"/>
            <a:ext cx="1828800" cy="320040"/>
          </a:xfrm>
          <a:prstGeom prst="rect">
            <a:avLst/>
          </a:prstGeom>
          <a:noFill/>
          <a:ln/>
        </p:spPr>
        <p:txBody>
          <a:bodyPr wrap="square" lIns="0" tIns="0" rIns="0" bIns="0" rtlCol="0" anchor="ctr"/>
          <a:lstStyle/>
          <a:p>
            <a:pPr marL="0" indent="0" algn="l">
              <a:buNone/>
            </a:pPr>
            <a:r>
              <a:rPr lang="en-US" sz="1200" b="1" dirty="0">
                <a:solidFill>
                  <a:srgbClr val="FFFFFF"/>
                </a:solidFill>
                <a:latin typeface="Trebuchet MS" pitchFamily="34" charset="0"/>
                <a:ea typeface="Trebuchet MS" pitchFamily="34" charset="-122"/>
                <a:cs typeface="Trebuchet MS" pitchFamily="34" charset="-120"/>
              </a:rPr>
              <a:t>Inconsistent RCA</a:t>
            </a:r>
            <a:endParaRPr lang="en-US" sz="1200" dirty="0"/>
          </a:p>
        </p:txBody>
      </p:sp>
      <p:sp>
        <p:nvSpPr>
          <p:cNvPr id="20" name="Text 15"/>
          <p:cNvSpPr/>
          <p:nvPr/>
        </p:nvSpPr>
        <p:spPr>
          <a:xfrm>
            <a:off x="6309360" y="1920240"/>
            <a:ext cx="2286000" cy="822960"/>
          </a:xfrm>
          <a:prstGeom prst="rect">
            <a:avLst/>
          </a:prstGeom>
          <a:noFill/>
          <a:ln/>
        </p:spPr>
        <p:txBody>
          <a:bodyPr wrap="square" lIns="0" tIns="0" rIns="0" bIns="0" rtlCol="0" anchor="t"/>
          <a:lstStyle/>
          <a:p>
            <a:pPr marL="0" indent="0" algn="l">
              <a:buNone/>
            </a:pPr>
            <a:r>
              <a:rPr lang="en-US" sz="1000" dirty="0">
                <a:solidFill>
                  <a:srgbClr val="CCCCCC"/>
                </a:solidFill>
                <a:latin typeface="Calibri" pitchFamily="34" charset="0"/>
                <a:ea typeface="Calibri" pitchFamily="34" charset="-122"/>
                <a:cs typeface="Calibri" pitchFamily="34" charset="-120"/>
              </a:rPr>
              <a:t>Post-mortems depend on who handled the incident and when it happened</a:t>
            </a:r>
            <a:endParaRPr lang="en-US" sz="1000" dirty="0"/>
          </a:p>
        </p:txBody>
      </p:sp>
      <p:sp>
        <p:nvSpPr>
          <p:cNvPr id="21" name="Shape 16"/>
          <p:cNvSpPr/>
          <p:nvPr/>
        </p:nvSpPr>
        <p:spPr>
          <a:xfrm>
            <a:off x="457200" y="3108960"/>
            <a:ext cx="2651760" cy="1645920"/>
          </a:xfrm>
          <a:prstGeom prst="rect">
            <a:avLst/>
          </a:prstGeom>
          <a:solidFill>
            <a:srgbClr val="242424"/>
          </a:solidFill>
          <a:ln w="12700">
            <a:solidFill>
              <a:srgbClr val="333333"/>
            </a:solidFill>
            <a:prstDash val="solid"/>
          </a:ln>
        </p:spPr>
        <p:txBody>
          <a:bodyPr/>
          <a:lstStyle/>
          <a:p>
            <a:endParaRPr lang="en-US"/>
          </a:p>
        </p:txBody>
      </p:sp>
      <p:sp>
        <p:nvSpPr>
          <p:cNvPr id="22" name="Shape 17"/>
          <p:cNvSpPr/>
          <p:nvPr/>
        </p:nvSpPr>
        <p:spPr>
          <a:xfrm>
            <a:off x="457200" y="3108960"/>
            <a:ext cx="54864" cy="1645920"/>
          </a:xfrm>
          <a:prstGeom prst="rect">
            <a:avLst/>
          </a:prstGeom>
          <a:solidFill>
            <a:srgbClr val="1ABC9C"/>
          </a:solidFill>
          <a:ln/>
        </p:spPr>
        <p:txBody>
          <a:bodyPr/>
          <a:lstStyle/>
          <a:p>
            <a:endParaRPr lang="en-US"/>
          </a:p>
        </p:txBody>
      </p:sp>
      <p:pic>
        <p:nvPicPr>
          <p:cNvPr id="23" name="Image 3" descr="preencoded.png"/>
          <p:cNvPicPr>
            <a:picLocks noChangeAspect="1"/>
          </p:cNvPicPr>
          <p:nvPr/>
        </p:nvPicPr>
        <p:blipFill>
          <a:blip r:embed="rId6"/>
          <a:stretch>
            <a:fillRect/>
          </a:stretch>
        </p:blipFill>
        <p:spPr>
          <a:xfrm>
            <a:off x="640080" y="3291840"/>
            <a:ext cx="320040" cy="320040"/>
          </a:xfrm>
          <a:prstGeom prst="rect">
            <a:avLst/>
          </a:prstGeom>
        </p:spPr>
      </p:pic>
      <p:sp>
        <p:nvSpPr>
          <p:cNvPr id="24" name="Text 18"/>
          <p:cNvSpPr/>
          <p:nvPr/>
        </p:nvSpPr>
        <p:spPr>
          <a:xfrm>
            <a:off x="1051560" y="3291840"/>
            <a:ext cx="1828800" cy="320040"/>
          </a:xfrm>
          <a:prstGeom prst="rect">
            <a:avLst/>
          </a:prstGeom>
          <a:noFill/>
          <a:ln/>
        </p:spPr>
        <p:txBody>
          <a:bodyPr wrap="square" lIns="0" tIns="0" rIns="0" bIns="0" rtlCol="0" anchor="ctr"/>
          <a:lstStyle/>
          <a:p>
            <a:pPr marL="0" indent="0" algn="l">
              <a:buNone/>
            </a:pPr>
            <a:r>
              <a:rPr lang="en-US" sz="1200" b="1" dirty="0">
                <a:solidFill>
                  <a:srgbClr val="FFFFFF"/>
                </a:solidFill>
                <a:latin typeface="Trebuchet MS" pitchFamily="34" charset="0"/>
                <a:ea typeface="Trebuchet MS" pitchFamily="34" charset="-122"/>
                <a:cs typeface="Trebuchet MS" pitchFamily="34" charset="-120"/>
              </a:rPr>
              <a:t>Communication Overhead</a:t>
            </a:r>
            <a:endParaRPr lang="en-US" sz="1200" dirty="0"/>
          </a:p>
        </p:txBody>
      </p:sp>
      <p:sp>
        <p:nvSpPr>
          <p:cNvPr id="25" name="Text 19"/>
          <p:cNvSpPr/>
          <p:nvPr/>
        </p:nvSpPr>
        <p:spPr>
          <a:xfrm>
            <a:off x="640080" y="3749040"/>
            <a:ext cx="2286000" cy="822960"/>
          </a:xfrm>
          <a:prstGeom prst="rect">
            <a:avLst/>
          </a:prstGeom>
          <a:noFill/>
          <a:ln/>
        </p:spPr>
        <p:txBody>
          <a:bodyPr wrap="square" lIns="0" tIns="0" rIns="0" bIns="0" rtlCol="0" anchor="t"/>
          <a:lstStyle/>
          <a:p>
            <a:pPr marL="0" indent="0" algn="l">
              <a:buNone/>
            </a:pPr>
            <a:r>
              <a:rPr lang="en-US" sz="1000" dirty="0">
                <a:solidFill>
                  <a:srgbClr val="CCCCCC"/>
                </a:solidFill>
                <a:latin typeface="Calibri" pitchFamily="34" charset="0"/>
                <a:ea typeface="Calibri" pitchFamily="34" charset="-122"/>
                <a:cs typeface="Calibri" pitchFamily="34" charset="-120"/>
              </a:rPr>
              <a:t>Engineers must resolve incidents while explaining impact to stakeholders</a:t>
            </a:r>
            <a:endParaRPr lang="en-US" sz="1000" dirty="0"/>
          </a:p>
        </p:txBody>
      </p:sp>
      <p:sp>
        <p:nvSpPr>
          <p:cNvPr id="26" name="Shape 20"/>
          <p:cNvSpPr/>
          <p:nvPr/>
        </p:nvSpPr>
        <p:spPr>
          <a:xfrm>
            <a:off x="3291840" y="3108960"/>
            <a:ext cx="2651760" cy="1645920"/>
          </a:xfrm>
          <a:prstGeom prst="rect">
            <a:avLst/>
          </a:prstGeom>
          <a:solidFill>
            <a:srgbClr val="242424"/>
          </a:solidFill>
          <a:ln w="12700">
            <a:solidFill>
              <a:srgbClr val="333333"/>
            </a:solidFill>
            <a:prstDash val="solid"/>
          </a:ln>
        </p:spPr>
        <p:txBody>
          <a:bodyPr/>
          <a:lstStyle/>
          <a:p>
            <a:endParaRPr lang="en-US"/>
          </a:p>
        </p:txBody>
      </p:sp>
      <p:sp>
        <p:nvSpPr>
          <p:cNvPr id="27" name="Shape 21"/>
          <p:cNvSpPr/>
          <p:nvPr/>
        </p:nvSpPr>
        <p:spPr>
          <a:xfrm>
            <a:off x="3291840" y="3108960"/>
            <a:ext cx="54864" cy="1645920"/>
          </a:xfrm>
          <a:prstGeom prst="rect">
            <a:avLst/>
          </a:prstGeom>
          <a:solidFill>
            <a:srgbClr val="3498DB"/>
          </a:solidFill>
          <a:ln/>
        </p:spPr>
        <p:txBody>
          <a:bodyPr/>
          <a:lstStyle/>
          <a:p>
            <a:endParaRPr lang="en-US"/>
          </a:p>
        </p:txBody>
      </p:sp>
      <p:pic>
        <p:nvPicPr>
          <p:cNvPr id="28" name="Image 4" descr="preencoded.png"/>
          <p:cNvPicPr>
            <a:picLocks noChangeAspect="1"/>
          </p:cNvPicPr>
          <p:nvPr/>
        </p:nvPicPr>
        <p:blipFill>
          <a:blip r:embed="rId7"/>
          <a:stretch>
            <a:fillRect/>
          </a:stretch>
        </p:blipFill>
        <p:spPr>
          <a:xfrm>
            <a:off x="3474720" y="3291840"/>
            <a:ext cx="320040" cy="320040"/>
          </a:xfrm>
          <a:prstGeom prst="rect">
            <a:avLst/>
          </a:prstGeom>
        </p:spPr>
      </p:pic>
      <p:sp>
        <p:nvSpPr>
          <p:cNvPr id="29" name="Text 22"/>
          <p:cNvSpPr/>
          <p:nvPr/>
        </p:nvSpPr>
        <p:spPr>
          <a:xfrm>
            <a:off x="3886200" y="3291840"/>
            <a:ext cx="1828800" cy="320040"/>
          </a:xfrm>
          <a:prstGeom prst="rect">
            <a:avLst/>
          </a:prstGeom>
          <a:noFill/>
          <a:ln/>
        </p:spPr>
        <p:txBody>
          <a:bodyPr wrap="square" lIns="0" tIns="0" rIns="0" bIns="0" rtlCol="0" anchor="ctr"/>
          <a:lstStyle/>
          <a:p>
            <a:pPr marL="0" indent="0" algn="l">
              <a:buNone/>
            </a:pPr>
            <a:r>
              <a:rPr lang="en-US" sz="1200" b="1" dirty="0">
                <a:solidFill>
                  <a:srgbClr val="FFFFFF"/>
                </a:solidFill>
                <a:latin typeface="Trebuchet MS" pitchFamily="34" charset="0"/>
                <a:ea typeface="Trebuchet MS" pitchFamily="34" charset="-122"/>
                <a:cs typeface="Trebuchet MS" pitchFamily="34" charset="-120"/>
              </a:rPr>
              <a:t>Knowledge Silos</a:t>
            </a:r>
            <a:endParaRPr lang="en-US" sz="1200" dirty="0"/>
          </a:p>
        </p:txBody>
      </p:sp>
      <p:sp>
        <p:nvSpPr>
          <p:cNvPr id="30" name="Text 23"/>
          <p:cNvSpPr/>
          <p:nvPr/>
        </p:nvSpPr>
        <p:spPr>
          <a:xfrm>
            <a:off x="3474720" y="3749040"/>
            <a:ext cx="2286000" cy="822960"/>
          </a:xfrm>
          <a:prstGeom prst="rect">
            <a:avLst/>
          </a:prstGeom>
          <a:noFill/>
          <a:ln/>
        </p:spPr>
        <p:txBody>
          <a:bodyPr wrap="square" lIns="0" tIns="0" rIns="0" bIns="0" rtlCol="0" anchor="t"/>
          <a:lstStyle/>
          <a:p>
            <a:pPr marL="0" indent="0" algn="l">
              <a:buNone/>
            </a:pPr>
            <a:r>
              <a:rPr lang="en-US" sz="1000" dirty="0">
                <a:solidFill>
                  <a:srgbClr val="CCCCCC"/>
                </a:solidFill>
                <a:latin typeface="Calibri" pitchFamily="34" charset="0"/>
                <a:ea typeface="Calibri" pitchFamily="34" charset="-122"/>
                <a:cs typeface="Calibri" pitchFamily="34" charset="-120"/>
              </a:rPr>
              <a:t>Critical operational knowledge lives only in senior engineers' heads</a:t>
            </a:r>
            <a:endParaRPr lang="en-US" sz="1000" dirty="0"/>
          </a:p>
        </p:txBody>
      </p:sp>
      <p:sp>
        <p:nvSpPr>
          <p:cNvPr id="31" name="Shape 24"/>
          <p:cNvSpPr/>
          <p:nvPr/>
        </p:nvSpPr>
        <p:spPr>
          <a:xfrm>
            <a:off x="6126480" y="3108960"/>
            <a:ext cx="2651760" cy="1645920"/>
          </a:xfrm>
          <a:prstGeom prst="rect">
            <a:avLst/>
          </a:prstGeom>
          <a:solidFill>
            <a:srgbClr val="242424"/>
          </a:solidFill>
          <a:ln w="12700">
            <a:solidFill>
              <a:srgbClr val="333333"/>
            </a:solidFill>
            <a:prstDash val="solid"/>
          </a:ln>
        </p:spPr>
        <p:txBody>
          <a:bodyPr/>
          <a:lstStyle/>
          <a:p>
            <a:endParaRPr lang="en-US"/>
          </a:p>
        </p:txBody>
      </p:sp>
      <p:sp>
        <p:nvSpPr>
          <p:cNvPr id="32" name="Shape 25"/>
          <p:cNvSpPr/>
          <p:nvPr/>
        </p:nvSpPr>
        <p:spPr>
          <a:xfrm>
            <a:off x="6126480" y="3108960"/>
            <a:ext cx="54864" cy="1645920"/>
          </a:xfrm>
          <a:prstGeom prst="rect">
            <a:avLst/>
          </a:prstGeom>
          <a:solidFill>
            <a:srgbClr val="9B59B6"/>
          </a:solidFill>
          <a:ln/>
        </p:spPr>
        <p:txBody>
          <a:bodyPr/>
          <a:lstStyle/>
          <a:p>
            <a:endParaRPr lang="en-US"/>
          </a:p>
        </p:txBody>
      </p:sp>
      <p:pic>
        <p:nvPicPr>
          <p:cNvPr id="33" name="Image 5" descr="preencoded.png"/>
          <p:cNvPicPr>
            <a:picLocks noChangeAspect="1"/>
          </p:cNvPicPr>
          <p:nvPr/>
        </p:nvPicPr>
        <p:blipFill>
          <a:blip r:embed="rId8"/>
          <a:stretch>
            <a:fillRect/>
          </a:stretch>
        </p:blipFill>
        <p:spPr>
          <a:xfrm>
            <a:off x="6309360" y="3291840"/>
            <a:ext cx="320040" cy="320040"/>
          </a:xfrm>
          <a:prstGeom prst="rect">
            <a:avLst/>
          </a:prstGeom>
        </p:spPr>
      </p:pic>
      <p:sp>
        <p:nvSpPr>
          <p:cNvPr id="34" name="Text 26"/>
          <p:cNvSpPr/>
          <p:nvPr/>
        </p:nvSpPr>
        <p:spPr>
          <a:xfrm>
            <a:off x="6720840" y="3291840"/>
            <a:ext cx="1828800" cy="320040"/>
          </a:xfrm>
          <a:prstGeom prst="rect">
            <a:avLst/>
          </a:prstGeom>
          <a:noFill/>
          <a:ln/>
        </p:spPr>
        <p:txBody>
          <a:bodyPr wrap="square" lIns="0" tIns="0" rIns="0" bIns="0" rtlCol="0" anchor="ctr"/>
          <a:lstStyle/>
          <a:p>
            <a:pPr marL="0" indent="0" algn="l">
              <a:buNone/>
            </a:pPr>
            <a:r>
              <a:rPr lang="en-US" sz="1200" b="1" dirty="0">
                <a:solidFill>
                  <a:srgbClr val="FFFFFF"/>
                </a:solidFill>
                <a:latin typeface="Trebuchet MS" pitchFamily="34" charset="0"/>
                <a:ea typeface="Trebuchet MS" pitchFamily="34" charset="-122"/>
                <a:cs typeface="Trebuchet MS" pitchFamily="34" charset="-120"/>
              </a:rPr>
              <a:t>Tool Sprawl</a:t>
            </a:r>
            <a:endParaRPr lang="en-US" sz="1200" dirty="0"/>
          </a:p>
        </p:txBody>
      </p:sp>
      <p:sp>
        <p:nvSpPr>
          <p:cNvPr id="35" name="Text 27"/>
          <p:cNvSpPr/>
          <p:nvPr/>
        </p:nvSpPr>
        <p:spPr>
          <a:xfrm>
            <a:off x="6309360" y="3749040"/>
            <a:ext cx="2286000" cy="822960"/>
          </a:xfrm>
          <a:prstGeom prst="rect">
            <a:avLst/>
          </a:prstGeom>
          <a:noFill/>
          <a:ln/>
        </p:spPr>
        <p:txBody>
          <a:bodyPr wrap="square" lIns="0" tIns="0" rIns="0" bIns="0" rtlCol="0" anchor="t"/>
          <a:lstStyle/>
          <a:p>
            <a:pPr marL="0" indent="0" algn="l">
              <a:buNone/>
            </a:pPr>
            <a:r>
              <a:rPr lang="en-US" sz="1000" dirty="0">
                <a:solidFill>
                  <a:srgbClr val="CCCCCC"/>
                </a:solidFill>
                <a:latin typeface="Calibri" pitchFamily="34" charset="0"/>
                <a:ea typeface="Calibri" pitchFamily="34" charset="-122"/>
                <a:cs typeface="Calibri" pitchFamily="34" charset="-120"/>
              </a:rPr>
              <a:t>Adding more dashboards increases noise rather than solving the problem</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chemeClr val="bg1"/>
        </a:solidFill>
        <a:effectLst/>
      </p:bgPr>
    </p:bg>
    <p:spTree>
      <p:nvGrpSpPr>
        <p:cNvPr id="1" name=""/>
        <p:cNvGrpSpPr/>
        <p:nvPr/>
      </p:nvGrpSpPr>
      <p:grpSpPr>
        <a:xfrm>
          <a:off x="0" y="0"/>
          <a:ext cx="0" cy="0"/>
          <a:chOff x="0" y="0"/>
          <a:chExt cx="0" cy="0"/>
        </a:xfrm>
      </p:grpSpPr>
      <p:sp>
        <p:nvSpPr>
          <p:cNvPr id="2" name="Text 0"/>
          <p:cNvSpPr/>
          <p:nvPr/>
        </p:nvSpPr>
        <p:spPr>
          <a:xfrm>
            <a:off x="7589520" y="137160"/>
            <a:ext cx="1371600" cy="274320"/>
          </a:xfrm>
          <a:prstGeom prst="rect">
            <a:avLst/>
          </a:prstGeom>
          <a:noFill/>
          <a:ln/>
        </p:spPr>
        <p:txBody>
          <a:bodyPr wrap="square" lIns="0" tIns="0" rIns="0" bIns="0" rtlCol="0" anchor="ctr"/>
          <a:lstStyle/>
          <a:p>
            <a:pPr marL="0" indent="0" algn="r">
              <a:buNone/>
            </a:pPr>
            <a:r>
              <a:rPr lang="en-US" sz="1200" b="1" kern="0" spc="300" dirty="0">
                <a:solidFill>
                  <a:srgbClr val="3CB371"/>
                </a:solidFill>
                <a:latin typeface="Trebuchet MS" pitchFamily="34" charset="0"/>
                <a:ea typeface="Trebuchet MS" pitchFamily="34" charset="-122"/>
                <a:cs typeface="Trebuchet MS" pitchFamily="34" charset="-120"/>
              </a:rPr>
              <a:t>SECTIGO</a:t>
            </a:r>
            <a:endParaRPr lang="en-US" sz="1200" dirty="0"/>
          </a:p>
        </p:txBody>
      </p:sp>
      <p:sp>
        <p:nvSpPr>
          <p:cNvPr id="3" name="Shape 1"/>
          <p:cNvSpPr/>
          <p:nvPr/>
        </p:nvSpPr>
        <p:spPr>
          <a:xfrm>
            <a:off x="457200" y="182880"/>
            <a:ext cx="1330452" cy="256032"/>
          </a:xfrm>
          <a:prstGeom prst="roundRect">
            <a:avLst>
              <a:gd name="adj" fmla="val 14286"/>
            </a:avLst>
          </a:prstGeom>
          <a:solidFill>
            <a:srgbClr val="E8751A"/>
          </a:solidFill>
          <a:ln/>
        </p:spPr>
        <p:txBody>
          <a:bodyPr/>
          <a:lstStyle/>
          <a:p>
            <a:endParaRPr lang="en-US"/>
          </a:p>
        </p:txBody>
      </p:sp>
      <p:sp>
        <p:nvSpPr>
          <p:cNvPr id="4" name="Text 2"/>
          <p:cNvSpPr/>
          <p:nvPr/>
        </p:nvSpPr>
        <p:spPr>
          <a:xfrm>
            <a:off x="457200" y="182880"/>
            <a:ext cx="1330452" cy="256032"/>
          </a:xfrm>
          <a:prstGeom prst="rect">
            <a:avLst/>
          </a:prstGeom>
          <a:noFill/>
          <a:ln/>
        </p:spPr>
        <p:txBody>
          <a:bodyPr wrap="square" lIns="0" tIns="0" rIns="0" bIns="0" rtlCol="0" anchor="ctr"/>
          <a:lstStyle/>
          <a:p>
            <a:pPr marL="0" indent="0" algn="ctr">
              <a:buNone/>
            </a:pPr>
            <a:r>
              <a:rPr lang="en-US" sz="800" b="1" kern="0" spc="200" dirty="0">
                <a:solidFill>
                  <a:srgbClr val="FFFFFF"/>
                </a:solidFill>
                <a:latin typeface="Trebuchet MS" pitchFamily="34" charset="0"/>
                <a:ea typeface="Trebuchet MS" pitchFamily="34" charset="-122"/>
                <a:cs typeface="Trebuchet MS" pitchFamily="34" charset="-120"/>
              </a:rPr>
              <a:t>THE PROBLEM</a:t>
            </a:r>
            <a:endParaRPr lang="en-US" sz="800" dirty="0"/>
          </a:p>
        </p:txBody>
      </p:sp>
      <p:sp>
        <p:nvSpPr>
          <p:cNvPr id="5" name="Text 3"/>
          <p:cNvSpPr/>
          <p:nvPr/>
        </p:nvSpPr>
        <p:spPr>
          <a:xfrm>
            <a:off x="457200" y="502920"/>
            <a:ext cx="8229600" cy="502920"/>
          </a:xfrm>
          <a:prstGeom prst="rect">
            <a:avLst/>
          </a:prstGeom>
          <a:noFill/>
          <a:ln/>
        </p:spPr>
        <p:txBody>
          <a:bodyPr wrap="square" lIns="0" tIns="0" rIns="0" bIns="0" rtlCol="0" anchor="ctr"/>
          <a:lstStyle/>
          <a:p>
            <a:pPr marL="0" indent="0">
              <a:buNone/>
            </a:pPr>
            <a:r>
              <a:rPr lang="en-US" sz="3200" b="1" dirty="0">
                <a:latin typeface="Georgia" pitchFamily="34" charset="0"/>
                <a:ea typeface="Georgia" pitchFamily="34" charset="-122"/>
                <a:cs typeface="Georgia" pitchFamily="34" charset="-120"/>
              </a:rPr>
              <a:t>What Are We Solving?</a:t>
            </a:r>
            <a:endParaRPr lang="en-US" sz="3200" dirty="0"/>
          </a:p>
        </p:txBody>
      </p:sp>
      <p:sp>
        <p:nvSpPr>
          <p:cNvPr id="6" name="Shape 4"/>
          <p:cNvSpPr/>
          <p:nvPr/>
        </p:nvSpPr>
        <p:spPr>
          <a:xfrm>
            <a:off x="457200" y="1188720"/>
            <a:ext cx="8229600" cy="1097280"/>
          </a:xfrm>
          <a:prstGeom prst="rect">
            <a:avLst/>
          </a:prstGeom>
          <a:solidFill>
            <a:srgbClr val="242424"/>
          </a:solidFill>
          <a:ln w="25400">
            <a:solidFill>
              <a:srgbClr val="E8751A"/>
            </a:solidFill>
            <a:prstDash val="solid"/>
          </a:ln>
        </p:spPr>
        <p:txBody>
          <a:bodyPr/>
          <a:lstStyle/>
          <a:p>
            <a:endParaRPr lang="en-US"/>
          </a:p>
        </p:txBody>
      </p:sp>
      <p:sp>
        <p:nvSpPr>
          <p:cNvPr id="7" name="Text 5"/>
          <p:cNvSpPr/>
          <p:nvPr/>
        </p:nvSpPr>
        <p:spPr>
          <a:xfrm>
            <a:off x="731520" y="1280160"/>
            <a:ext cx="7680960" cy="914400"/>
          </a:xfrm>
          <a:prstGeom prst="rect">
            <a:avLst/>
          </a:prstGeom>
          <a:noFill/>
          <a:ln/>
        </p:spPr>
        <p:txBody>
          <a:bodyPr wrap="square" lIns="0" tIns="0" rIns="0" bIns="0" rtlCol="0" anchor="ctr"/>
          <a:lstStyle/>
          <a:p>
            <a:pPr marL="0" indent="0" algn="l">
              <a:buNone/>
            </a:pPr>
            <a:r>
              <a:rPr lang="en-US" sz="1600" b="1" dirty="0">
                <a:solidFill>
                  <a:srgbClr val="E8751A"/>
                </a:solidFill>
                <a:latin typeface="Calibri" pitchFamily="34" charset="0"/>
                <a:ea typeface="Calibri" pitchFamily="34" charset="-122"/>
                <a:cs typeface="Calibri" pitchFamily="34" charset="-120"/>
              </a:rPr>
              <a:t>Core Problem:  </a:t>
            </a:r>
            <a:r>
              <a:rPr lang="en-US" sz="1600" dirty="0">
                <a:solidFill>
                  <a:srgbClr val="FFFFFF"/>
                </a:solidFill>
                <a:latin typeface="Calibri" pitchFamily="34" charset="0"/>
                <a:ea typeface="Calibri" pitchFamily="34" charset="-122"/>
                <a:cs typeface="Calibri" pitchFamily="34" charset="-120"/>
              </a:rPr>
              <a:t>SRE engineers spend most of incident response time on information gathering — not problem solving.</a:t>
            </a:r>
            <a:endParaRPr lang="en-US" sz="1600" dirty="0"/>
          </a:p>
        </p:txBody>
      </p:sp>
      <p:sp>
        <p:nvSpPr>
          <p:cNvPr id="8" name="Shape 6"/>
          <p:cNvSpPr/>
          <p:nvPr/>
        </p:nvSpPr>
        <p:spPr>
          <a:xfrm>
            <a:off x="457200" y="2606040"/>
            <a:ext cx="2651760" cy="2103120"/>
          </a:xfrm>
          <a:prstGeom prst="rect">
            <a:avLst/>
          </a:prstGeom>
          <a:solidFill>
            <a:srgbClr val="242424"/>
          </a:solidFill>
          <a:ln w="12700">
            <a:solidFill>
              <a:srgbClr val="333333"/>
            </a:solidFill>
            <a:prstDash val="solid"/>
          </a:ln>
        </p:spPr>
        <p:txBody>
          <a:bodyPr/>
          <a:lstStyle/>
          <a:p>
            <a:endParaRPr lang="en-US"/>
          </a:p>
        </p:txBody>
      </p:sp>
      <p:sp>
        <p:nvSpPr>
          <p:cNvPr id="9" name="Shape 7"/>
          <p:cNvSpPr/>
          <p:nvPr/>
        </p:nvSpPr>
        <p:spPr>
          <a:xfrm>
            <a:off x="457200" y="2606040"/>
            <a:ext cx="2651760" cy="45720"/>
          </a:xfrm>
          <a:prstGeom prst="rect">
            <a:avLst/>
          </a:prstGeom>
          <a:solidFill>
            <a:srgbClr val="1ABC9C"/>
          </a:solidFill>
          <a:ln/>
        </p:spPr>
        <p:txBody>
          <a:bodyPr/>
          <a:lstStyle/>
          <a:p>
            <a:endParaRPr lang="en-US"/>
          </a:p>
        </p:txBody>
      </p:sp>
      <p:pic>
        <p:nvPicPr>
          <p:cNvPr id="10" name="Image 0" descr="preencoded.png"/>
          <p:cNvPicPr>
            <a:picLocks noChangeAspect="1"/>
          </p:cNvPicPr>
          <p:nvPr/>
        </p:nvPicPr>
        <p:blipFill>
          <a:blip r:embed="rId3"/>
          <a:stretch>
            <a:fillRect/>
          </a:stretch>
        </p:blipFill>
        <p:spPr>
          <a:xfrm>
            <a:off x="1508760" y="2834640"/>
            <a:ext cx="457200" cy="457200"/>
          </a:xfrm>
          <a:prstGeom prst="rect">
            <a:avLst/>
          </a:prstGeom>
        </p:spPr>
      </p:pic>
      <p:sp>
        <p:nvSpPr>
          <p:cNvPr id="11" name="Text 8"/>
          <p:cNvSpPr/>
          <p:nvPr/>
        </p:nvSpPr>
        <p:spPr>
          <a:xfrm>
            <a:off x="594360" y="3383280"/>
            <a:ext cx="2377440" cy="365760"/>
          </a:xfrm>
          <a:prstGeom prst="rect">
            <a:avLst/>
          </a:prstGeom>
          <a:noFill/>
          <a:ln/>
        </p:spPr>
        <p:txBody>
          <a:bodyPr wrap="square" lIns="0" tIns="0" rIns="0" bIns="0" rtlCol="0" anchor="ctr"/>
          <a:lstStyle/>
          <a:p>
            <a:pPr marL="0" indent="0" algn="ctr">
              <a:buNone/>
            </a:pPr>
            <a:r>
              <a:rPr lang="en-US" sz="1300" b="1" dirty="0">
                <a:solidFill>
                  <a:srgbClr val="FFFFFF"/>
                </a:solidFill>
                <a:latin typeface="Trebuchet MS" pitchFamily="34" charset="0"/>
                <a:ea typeface="Trebuchet MS" pitchFamily="34" charset="-122"/>
                <a:cs typeface="Trebuchet MS" pitchFamily="34" charset="-120"/>
              </a:rPr>
              <a:t>Automate Context Gathering</a:t>
            </a:r>
            <a:endParaRPr lang="en-US" sz="1300" dirty="0"/>
          </a:p>
        </p:txBody>
      </p:sp>
      <p:sp>
        <p:nvSpPr>
          <p:cNvPr id="12" name="Text 9"/>
          <p:cNvSpPr/>
          <p:nvPr/>
        </p:nvSpPr>
        <p:spPr>
          <a:xfrm>
            <a:off x="594360" y="3794760"/>
            <a:ext cx="2377440" cy="777240"/>
          </a:xfrm>
          <a:prstGeom prst="rect">
            <a:avLst/>
          </a:prstGeom>
          <a:noFill/>
          <a:ln/>
        </p:spPr>
        <p:txBody>
          <a:bodyPr wrap="square" lIns="0" tIns="0" rIns="0" bIns="0" rtlCol="0" anchor="t"/>
          <a:lstStyle/>
          <a:p>
            <a:pPr marL="0" indent="0" algn="ctr">
              <a:buNone/>
            </a:pPr>
            <a:r>
              <a:rPr lang="en-US" sz="1000" dirty="0">
                <a:solidFill>
                  <a:srgbClr val="CCCCCC"/>
                </a:solidFill>
                <a:latin typeface="Calibri" pitchFamily="34" charset="0"/>
                <a:ea typeface="Calibri" pitchFamily="34" charset="-122"/>
                <a:cs typeface="Calibri" pitchFamily="34" charset="-120"/>
              </a:rPr>
              <a:t>AI agent collects pod status, logs, events, and metrics — in seconds, not minutes</a:t>
            </a:r>
            <a:endParaRPr lang="en-US" sz="1000" dirty="0"/>
          </a:p>
        </p:txBody>
      </p:sp>
      <p:sp>
        <p:nvSpPr>
          <p:cNvPr id="13" name="Shape 10"/>
          <p:cNvSpPr/>
          <p:nvPr/>
        </p:nvSpPr>
        <p:spPr>
          <a:xfrm>
            <a:off x="3291840" y="2606040"/>
            <a:ext cx="2651760" cy="2103120"/>
          </a:xfrm>
          <a:prstGeom prst="rect">
            <a:avLst/>
          </a:prstGeom>
          <a:solidFill>
            <a:srgbClr val="242424"/>
          </a:solidFill>
          <a:ln w="12700">
            <a:solidFill>
              <a:srgbClr val="333333"/>
            </a:solidFill>
            <a:prstDash val="solid"/>
          </a:ln>
        </p:spPr>
        <p:txBody>
          <a:bodyPr/>
          <a:lstStyle/>
          <a:p>
            <a:endParaRPr lang="en-US"/>
          </a:p>
        </p:txBody>
      </p:sp>
      <p:sp>
        <p:nvSpPr>
          <p:cNvPr id="14" name="Shape 11"/>
          <p:cNvSpPr/>
          <p:nvPr/>
        </p:nvSpPr>
        <p:spPr>
          <a:xfrm>
            <a:off x="3291840" y="2606040"/>
            <a:ext cx="2651760" cy="45720"/>
          </a:xfrm>
          <a:prstGeom prst="rect">
            <a:avLst/>
          </a:prstGeom>
          <a:solidFill>
            <a:srgbClr val="E8751A"/>
          </a:solidFill>
          <a:ln/>
        </p:spPr>
        <p:txBody>
          <a:bodyPr/>
          <a:lstStyle/>
          <a:p>
            <a:endParaRPr lang="en-US"/>
          </a:p>
        </p:txBody>
      </p:sp>
      <p:pic>
        <p:nvPicPr>
          <p:cNvPr id="15" name="Image 1" descr="preencoded.png"/>
          <p:cNvPicPr>
            <a:picLocks noChangeAspect="1"/>
          </p:cNvPicPr>
          <p:nvPr/>
        </p:nvPicPr>
        <p:blipFill>
          <a:blip r:embed="rId4"/>
          <a:stretch>
            <a:fillRect/>
          </a:stretch>
        </p:blipFill>
        <p:spPr>
          <a:xfrm>
            <a:off x="4343400" y="2834640"/>
            <a:ext cx="457200" cy="457200"/>
          </a:xfrm>
          <a:prstGeom prst="rect">
            <a:avLst/>
          </a:prstGeom>
        </p:spPr>
      </p:pic>
      <p:sp>
        <p:nvSpPr>
          <p:cNvPr id="16" name="Text 12"/>
          <p:cNvSpPr/>
          <p:nvPr/>
        </p:nvSpPr>
        <p:spPr>
          <a:xfrm>
            <a:off x="3429000" y="3383280"/>
            <a:ext cx="2377440" cy="365760"/>
          </a:xfrm>
          <a:prstGeom prst="rect">
            <a:avLst/>
          </a:prstGeom>
          <a:noFill/>
          <a:ln/>
        </p:spPr>
        <p:txBody>
          <a:bodyPr wrap="square" lIns="0" tIns="0" rIns="0" bIns="0" rtlCol="0" anchor="ctr"/>
          <a:lstStyle/>
          <a:p>
            <a:pPr marL="0" indent="0" algn="ctr">
              <a:buNone/>
            </a:pPr>
            <a:r>
              <a:rPr lang="en-US" sz="1300" b="1" dirty="0">
                <a:solidFill>
                  <a:srgbClr val="FFFFFF"/>
                </a:solidFill>
                <a:latin typeface="Trebuchet MS" pitchFamily="34" charset="0"/>
                <a:ea typeface="Trebuchet MS" pitchFamily="34" charset="-122"/>
                <a:cs typeface="Trebuchet MS" pitchFamily="34" charset="-120"/>
              </a:rPr>
              <a:t>Intelligent Root Cause Analysis</a:t>
            </a:r>
            <a:endParaRPr lang="en-US" sz="1300" dirty="0"/>
          </a:p>
        </p:txBody>
      </p:sp>
      <p:sp>
        <p:nvSpPr>
          <p:cNvPr id="17" name="Text 13"/>
          <p:cNvSpPr/>
          <p:nvPr/>
        </p:nvSpPr>
        <p:spPr>
          <a:xfrm>
            <a:off x="3429000" y="3794760"/>
            <a:ext cx="2377440" cy="777240"/>
          </a:xfrm>
          <a:prstGeom prst="rect">
            <a:avLst/>
          </a:prstGeom>
          <a:noFill/>
          <a:ln/>
        </p:spPr>
        <p:txBody>
          <a:bodyPr wrap="square" lIns="0" tIns="0" rIns="0" bIns="0" rtlCol="0" anchor="t"/>
          <a:lstStyle/>
          <a:p>
            <a:pPr marL="0" indent="0" algn="ctr">
              <a:buNone/>
            </a:pPr>
            <a:r>
              <a:rPr lang="en-US" sz="1000" dirty="0">
                <a:solidFill>
                  <a:srgbClr val="CCCCCC"/>
                </a:solidFill>
                <a:latin typeface="Calibri" pitchFamily="34" charset="0"/>
                <a:ea typeface="Calibri" pitchFamily="34" charset="-122"/>
                <a:cs typeface="Calibri" pitchFamily="34" charset="-120"/>
              </a:rPr>
              <a:t>LangGraph reasoning loop correlates evidence and generates structured RCA hypotheses</a:t>
            </a:r>
            <a:endParaRPr lang="en-US" sz="1000" dirty="0"/>
          </a:p>
        </p:txBody>
      </p:sp>
      <p:sp>
        <p:nvSpPr>
          <p:cNvPr id="18" name="Shape 14"/>
          <p:cNvSpPr/>
          <p:nvPr/>
        </p:nvSpPr>
        <p:spPr>
          <a:xfrm>
            <a:off x="6126480" y="2606040"/>
            <a:ext cx="2651760" cy="2103120"/>
          </a:xfrm>
          <a:prstGeom prst="rect">
            <a:avLst/>
          </a:prstGeom>
          <a:solidFill>
            <a:srgbClr val="242424"/>
          </a:solidFill>
          <a:ln w="12700">
            <a:solidFill>
              <a:srgbClr val="333333"/>
            </a:solidFill>
            <a:prstDash val="solid"/>
          </a:ln>
        </p:spPr>
        <p:txBody>
          <a:bodyPr/>
          <a:lstStyle/>
          <a:p>
            <a:endParaRPr lang="en-US"/>
          </a:p>
        </p:txBody>
      </p:sp>
      <p:sp>
        <p:nvSpPr>
          <p:cNvPr id="19" name="Shape 15"/>
          <p:cNvSpPr/>
          <p:nvPr/>
        </p:nvSpPr>
        <p:spPr>
          <a:xfrm>
            <a:off x="6126480" y="2606040"/>
            <a:ext cx="2651760" cy="45720"/>
          </a:xfrm>
          <a:prstGeom prst="rect">
            <a:avLst/>
          </a:prstGeom>
          <a:solidFill>
            <a:srgbClr val="3CB371"/>
          </a:solidFill>
          <a:ln/>
        </p:spPr>
        <p:txBody>
          <a:bodyPr/>
          <a:lstStyle/>
          <a:p>
            <a:endParaRPr lang="en-US"/>
          </a:p>
        </p:txBody>
      </p:sp>
      <p:pic>
        <p:nvPicPr>
          <p:cNvPr id="20" name="Image 2" descr="preencoded.png"/>
          <p:cNvPicPr>
            <a:picLocks noChangeAspect="1"/>
          </p:cNvPicPr>
          <p:nvPr/>
        </p:nvPicPr>
        <p:blipFill>
          <a:blip r:embed="rId5"/>
          <a:stretch>
            <a:fillRect/>
          </a:stretch>
        </p:blipFill>
        <p:spPr>
          <a:xfrm>
            <a:off x="7178040" y="2834640"/>
            <a:ext cx="457200" cy="457200"/>
          </a:xfrm>
          <a:prstGeom prst="rect">
            <a:avLst/>
          </a:prstGeom>
        </p:spPr>
      </p:pic>
      <p:sp>
        <p:nvSpPr>
          <p:cNvPr id="21" name="Text 16"/>
          <p:cNvSpPr/>
          <p:nvPr/>
        </p:nvSpPr>
        <p:spPr>
          <a:xfrm>
            <a:off x="6263640" y="3383280"/>
            <a:ext cx="2377440" cy="365760"/>
          </a:xfrm>
          <a:prstGeom prst="rect">
            <a:avLst/>
          </a:prstGeom>
          <a:noFill/>
          <a:ln/>
        </p:spPr>
        <p:txBody>
          <a:bodyPr wrap="square" lIns="0" tIns="0" rIns="0" bIns="0" rtlCol="0" anchor="ctr"/>
          <a:lstStyle/>
          <a:p>
            <a:pPr marL="0" indent="0" algn="ctr">
              <a:buNone/>
            </a:pPr>
            <a:r>
              <a:rPr lang="en-US" sz="1300" b="1" dirty="0">
                <a:solidFill>
                  <a:srgbClr val="FFFFFF"/>
                </a:solidFill>
                <a:latin typeface="Trebuchet MS" pitchFamily="34" charset="0"/>
                <a:ea typeface="Trebuchet MS" pitchFamily="34" charset="-122"/>
                <a:cs typeface="Trebuchet MS" pitchFamily="34" charset="-120"/>
              </a:rPr>
              <a:t>Consistent, Auditable Output</a:t>
            </a:r>
            <a:endParaRPr lang="en-US" sz="1300" dirty="0"/>
          </a:p>
        </p:txBody>
      </p:sp>
      <p:sp>
        <p:nvSpPr>
          <p:cNvPr id="22" name="Text 17"/>
          <p:cNvSpPr/>
          <p:nvPr/>
        </p:nvSpPr>
        <p:spPr>
          <a:xfrm>
            <a:off x="6263640" y="3794760"/>
            <a:ext cx="2377440" cy="777240"/>
          </a:xfrm>
          <a:prstGeom prst="rect">
            <a:avLst/>
          </a:prstGeom>
          <a:noFill/>
          <a:ln/>
        </p:spPr>
        <p:txBody>
          <a:bodyPr wrap="square" lIns="0" tIns="0" rIns="0" bIns="0" rtlCol="0" anchor="t"/>
          <a:lstStyle/>
          <a:p>
            <a:pPr marL="0" indent="0" algn="ctr">
              <a:buNone/>
            </a:pPr>
            <a:r>
              <a:rPr lang="en-US" sz="1000" dirty="0">
                <a:solidFill>
                  <a:srgbClr val="CCCCCC"/>
                </a:solidFill>
                <a:latin typeface="Calibri" pitchFamily="34" charset="0"/>
                <a:ea typeface="Calibri" pitchFamily="34" charset="-122"/>
                <a:cs typeface="Calibri" pitchFamily="34" charset="-120"/>
              </a:rPr>
              <a:t>Every investigation produces a structured finding — regardless of who's on-call</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chemeClr val="bg1"/>
        </a:solidFill>
        <a:effectLst/>
      </p:bgPr>
    </p:bg>
    <p:spTree>
      <p:nvGrpSpPr>
        <p:cNvPr id="1" name=""/>
        <p:cNvGrpSpPr/>
        <p:nvPr/>
      </p:nvGrpSpPr>
      <p:grpSpPr>
        <a:xfrm>
          <a:off x="0" y="0"/>
          <a:ext cx="0" cy="0"/>
          <a:chOff x="0" y="0"/>
          <a:chExt cx="0" cy="0"/>
        </a:xfrm>
      </p:grpSpPr>
      <p:sp>
        <p:nvSpPr>
          <p:cNvPr id="2" name="Text 0"/>
          <p:cNvSpPr/>
          <p:nvPr/>
        </p:nvSpPr>
        <p:spPr>
          <a:xfrm>
            <a:off x="7589520" y="137160"/>
            <a:ext cx="1371600" cy="274320"/>
          </a:xfrm>
          <a:prstGeom prst="rect">
            <a:avLst/>
          </a:prstGeom>
          <a:noFill/>
          <a:ln/>
        </p:spPr>
        <p:txBody>
          <a:bodyPr wrap="square" lIns="0" tIns="0" rIns="0" bIns="0" rtlCol="0" anchor="ctr"/>
          <a:lstStyle/>
          <a:p>
            <a:pPr marL="0" indent="0" algn="r">
              <a:buNone/>
            </a:pPr>
            <a:r>
              <a:rPr lang="en-US" sz="1200" b="1" kern="0" spc="300" dirty="0">
                <a:solidFill>
                  <a:srgbClr val="3CB371"/>
                </a:solidFill>
                <a:latin typeface="Trebuchet MS" pitchFamily="34" charset="0"/>
                <a:ea typeface="Trebuchet MS" pitchFamily="34" charset="-122"/>
                <a:cs typeface="Trebuchet MS" pitchFamily="34" charset="-120"/>
              </a:rPr>
              <a:t>SECTIGO</a:t>
            </a:r>
            <a:endParaRPr lang="en-US" sz="1200" dirty="0"/>
          </a:p>
        </p:txBody>
      </p:sp>
      <p:sp>
        <p:nvSpPr>
          <p:cNvPr id="3" name="Text 1"/>
          <p:cNvSpPr/>
          <p:nvPr/>
        </p:nvSpPr>
        <p:spPr>
          <a:xfrm>
            <a:off x="457200" y="1097280"/>
            <a:ext cx="1828800" cy="1371600"/>
          </a:xfrm>
          <a:prstGeom prst="rect">
            <a:avLst/>
          </a:prstGeom>
          <a:noFill/>
          <a:ln/>
        </p:spPr>
        <p:txBody>
          <a:bodyPr wrap="square" lIns="0" tIns="0" rIns="0" bIns="0" rtlCol="0" anchor="ctr"/>
          <a:lstStyle/>
          <a:p>
            <a:pPr marL="0" indent="0" algn="l">
              <a:buNone/>
            </a:pPr>
            <a:r>
              <a:rPr lang="en-US" sz="7200" b="1" dirty="0">
                <a:solidFill>
                  <a:srgbClr val="E8751A"/>
                </a:solidFill>
                <a:latin typeface="Georgia" pitchFamily="34" charset="0"/>
                <a:ea typeface="Georgia" pitchFamily="34" charset="-122"/>
                <a:cs typeface="Georgia" pitchFamily="34" charset="-120"/>
              </a:rPr>
              <a:t>02</a:t>
            </a:r>
            <a:endParaRPr lang="en-US" sz="7200" dirty="0"/>
          </a:p>
        </p:txBody>
      </p:sp>
      <p:sp>
        <p:nvSpPr>
          <p:cNvPr id="4" name="Shape 2"/>
          <p:cNvSpPr/>
          <p:nvPr/>
        </p:nvSpPr>
        <p:spPr>
          <a:xfrm>
            <a:off x="457200" y="2560320"/>
            <a:ext cx="2743200" cy="0"/>
          </a:xfrm>
          <a:prstGeom prst="line">
            <a:avLst/>
          </a:prstGeom>
          <a:noFill/>
          <a:ln w="38100">
            <a:solidFill>
              <a:srgbClr val="E8751A"/>
            </a:solidFill>
            <a:prstDash val="solid"/>
          </a:ln>
        </p:spPr>
        <p:txBody>
          <a:bodyPr/>
          <a:lstStyle/>
          <a:p>
            <a:endParaRPr lang="en-US"/>
          </a:p>
        </p:txBody>
      </p:sp>
      <p:sp>
        <p:nvSpPr>
          <p:cNvPr id="5" name="Text 3"/>
          <p:cNvSpPr/>
          <p:nvPr/>
        </p:nvSpPr>
        <p:spPr>
          <a:xfrm>
            <a:off x="457200" y="2743200"/>
            <a:ext cx="8229600" cy="914400"/>
          </a:xfrm>
          <a:prstGeom prst="rect">
            <a:avLst/>
          </a:prstGeom>
          <a:noFill/>
          <a:ln/>
        </p:spPr>
        <p:txBody>
          <a:bodyPr wrap="square" lIns="0" tIns="0" rIns="0" bIns="0" rtlCol="0" anchor="ctr"/>
          <a:lstStyle/>
          <a:p>
            <a:pPr marL="0" indent="0" algn="l">
              <a:buNone/>
            </a:pPr>
            <a:r>
              <a:rPr lang="en-US" sz="3600" b="1" dirty="0">
                <a:latin typeface="Georgia" pitchFamily="34" charset="0"/>
                <a:ea typeface="Georgia" pitchFamily="34" charset="-122"/>
                <a:cs typeface="Georgia" pitchFamily="34" charset="-120"/>
              </a:rPr>
              <a:t>The Vision</a:t>
            </a:r>
            <a:endParaRPr lang="en-US" sz="3600" dirty="0"/>
          </a:p>
        </p:txBody>
      </p:sp>
      <p:sp>
        <p:nvSpPr>
          <p:cNvPr id="6" name="Text 4"/>
          <p:cNvSpPr/>
          <p:nvPr/>
        </p:nvSpPr>
        <p:spPr>
          <a:xfrm>
            <a:off x="457200" y="3566160"/>
            <a:ext cx="8229600" cy="457200"/>
          </a:xfrm>
          <a:prstGeom prst="rect">
            <a:avLst/>
          </a:prstGeom>
          <a:noFill/>
          <a:ln/>
        </p:spPr>
        <p:txBody>
          <a:bodyPr wrap="square" lIns="0" tIns="0" rIns="0" bIns="0" rtlCol="0" anchor="ctr"/>
          <a:lstStyle/>
          <a:p>
            <a:pPr marL="0" indent="0" algn="l">
              <a:buNone/>
            </a:pPr>
            <a:r>
              <a:rPr lang="en-US" sz="1400" dirty="0">
                <a:solidFill>
                  <a:srgbClr val="999999"/>
                </a:solidFill>
                <a:latin typeface="Calibri" pitchFamily="34" charset="0"/>
                <a:ea typeface="Calibri" pitchFamily="34" charset="-122"/>
                <a:cs typeface="Calibri" pitchFamily="34" charset="-120"/>
              </a:rPr>
              <a:t>An AI co-pilot for SRE — not a replacement</a:t>
            </a:r>
            <a:endParaRPr lang="en-US" sz="14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chemeClr val="bg1"/>
        </a:solidFill>
        <a:effectLst/>
      </p:bgPr>
    </p:bg>
    <p:spTree>
      <p:nvGrpSpPr>
        <p:cNvPr id="1" name=""/>
        <p:cNvGrpSpPr/>
        <p:nvPr/>
      </p:nvGrpSpPr>
      <p:grpSpPr>
        <a:xfrm>
          <a:off x="0" y="0"/>
          <a:ext cx="0" cy="0"/>
          <a:chOff x="0" y="0"/>
          <a:chExt cx="0" cy="0"/>
        </a:xfrm>
      </p:grpSpPr>
      <p:sp>
        <p:nvSpPr>
          <p:cNvPr id="2" name="Text 0"/>
          <p:cNvSpPr/>
          <p:nvPr/>
        </p:nvSpPr>
        <p:spPr>
          <a:xfrm>
            <a:off x="7589520" y="137160"/>
            <a:ext cx="1371600" cy="274320"/>
          </a:xfrm>
          <a:prstGeom prst="rect">
            <a:avLst/>
          </a:prstGeom>
          <a:noFill/>
          <a:ln/>
        </p:spPr>
        <p:txBody>
          <a:bodyPr wrap="square" lIns="0" tIns="0" rIns="0" bIns="0" rtlCol="0" anchor="ctr"/>
          <a:lstStyle/>
          <a:p>
            <a:pPr marL="0" indent="0" algn="r">
              <a:buNone/>
            </a:pPr>
            <a:r>
              <a:rPr lang="en-US" sz="1200" b="1" kern="0" spc="300" dirty="0">
                <a:solidFill>
                  <a:srgbClr val="3CB371"/>
                </a:solidFill>
                <a:latin typeface="Trebuchet MS" pitchFamily="34" charset="0"/>
                <a:ea typeface="Trebuchet MS" pitchFamily="34" charset="-122"/>
                <a:cs typeface="Trebuchet MS" pitchFamily="34" charset="-120"/>
              </a:rPr>
              <a:t>SECTIGO</a:t>
            </a:r>
            <a:endParaRPr lang="en-US" sz="1200" dirty="0"/>
          </a:p>
        </p:txBody>
      </p:sp>
      <p:sp>
        <p:nvSpPr>
          <p:cNvPr id="3" name="Shape 1"/>
          <p:cNvSpPr/>
          <p:nvPr/>
        </p:nvSpPr>
        <p:spPr>
          <a:xfrm>
            <a:off x="457200" y="182880"/>
            <a:ext cx="1234440" cy="256032"/>
          </a:xfrm>
          <a:prstGeom prst="roundRect">
            <a:avLst>
              <a:gd name="adj" fmla="val 14286"/>
            </a:avLst>
          </a:prstGeom>
          <a:solidFill>
            <a:srgbClr val="E8751A"/>
          </a:solidFill>
          <a:ln/>
        </p:spPr>
        <p:txBody>
          <a:bodyPr/>
          <a:lstStyle/>
          <a:p>
            <a:endParaRPr lang="en-US"/>
          </a:p>
        </p:txBody>
      </p:sp>
      <p:sp>
        <p:nvSpPr>
          <p:cNvPr id="4" name="Text 2"/>
          <p:cNvSpPr/>
          <p:nvPr/>
        </p:nvSpPr>
        <p:spPr>
          <a:xfrm>
            <a:off x="457200" y="182880"/>
            <a:ext cx="1234440" cy="256032"/>
          </a:xfrm>
          <a:prstGeom prst="rect">
            <a:avLst/>
          </a:prstGeom>
          <a:noFill/>
          <a:ln/>
        </p:spPr>
        <p:txBody>
          <a:bodyPr wrap="square" lIns="0" tIns="0" rIns="0" bIns="0" rtlCol="0" anchor="ctr"/>
          <a:lstStyle/>
          <a:p>
            <a:pPr marL="0" indent="0" algn="ctr">
              <a:buNone/>
            </a:pPr>
            <a:r>
              <a:rPr lang="en-US" sz="800" b="1" kern="0" spc="200" dirty="0">
                <a:solidFill>
                  <a:srgbClr val="FFFFFF"/>
                </a:solidFill>
                <a:latin typeface="Trebuchet MS" pitchFamily="34" charset="0"/>
                <a:ea typeface="Trebuchet MS" pitchFamily="34" charset="-122"/>
                <a:cs typeface="Trebuchet MS" pitchFamily="34" charset="-120"/>
              </a:rPr>
              <a:t>THE VISION</a:t>
            </a:r>
            <a:endParaRPr lang="en-US" sz="800" dirty="0"/>
          </a:p>
        </p:txBody>
      </p:sp>
      <p:sp>
        <p:nvSpPr>
          <p:cNvPr id="5" name="Text 3"/>
          <p:cNvSpPr/>
          <p:nvPr/>
        </p:nvSpPr>
        <p:spPr>
          <a:xfrm>
            <a:off x="457200" y="502920"/>
            <a:ext cx="8229600" cy="502920"/>
          </a:xfrm>
          <a:prstGeom prst="rect">
            <a:avLst/>
          </a:prstGeom>
          <a:noFill/>
          <a:ln/>
        </p:spPr>
        <p:txBody>
          <a:bodyPr wrap="square" lIns="0" tIns="0" rIns="0" bIns="0" rtlCol="0" anchor="ctr"/>
          <a:lstStyle/>
          <a:p>
            <a:pPr marL="0" indent="0">
              <a:buNone/>
            </a:pPr>
            <a:r>
              <a:rPr lang="en-US" sz="3000" b="1" dirty="0">
                <a:latin typeface="Georgia" pitchFamily="34" charset="0"/>
                <a:ea typeface="Georgia" pitchFamily="34" charset="-122"/>
                <a:cs typeface="Georgia" pitchFamily="34" charset="-120"/>
              </a:rPr>
              <a:t>Vision: AI SRE Intelligence Layer</a:t>
            </a:r>
            <a:endParaRPr lang="en-US" sz="3000" dirty="0"/>
          </a:p>
        </p:txBody>
      </p:sp>
      <p:sp>
        <p:nvSpPr>
          <p:cNvPr id="6" name="Text 4"/>
          <p:cNvSpPr/>
          <p:nvPr/>
        </p:nvSpPr>
        <p:spPr>
          <a:xfrm>
            <a:off x="457200" y="1188720"/>
            <a:ext cx="4114800" cy="1188720"/>
          </a:xfrm>
          <a:prstGeom prst="rect">
            <a:avLst/>
          </a:prstGeom>
          <a:noFill/>
          <a:ln/>
        </p:spPr>
        <p:txBody>
          <a:bodyPr wrap="square" lIns="0" tIns="0" rIns="0" bIns="0" rtlCol="0" anchor="ctr"/>
          <a:lstStyle/>
          <a:p>
            <a:pPr marL="0" indent="0" algn="l">
              <a:buNone/>
            </a:pPr>
            <a:r>
              <a:rPr lang="en-US" sz="1300" b="1" dirty="0">
                <a:solidFill>
                  <a:srgbClr val="E8751A"/>
                </a:solidFill>
                <a:latin typeface="Calibri" pitchFamily="34" charset="0"/>
                <a:ea typeface="Calibri" pitchFamily="34" charset="-122"/>
                <a:cs typeface="Calibri" pitchFamily="34" charset="-120"/>
              </a:rPr>
              <a:t>An AI "co-pilot", not an autonomous SRE:</a:t>
            </a:r>
            <a:endParaRPr lang="en-US" sz="1300" dirty="0"/>
          </a:p>
          <a:p>
            <a:pPr marL="0" indent="0" algn="l">
              <a:buNone/>
            </a:pPr>
            <a:r>
              <a:rPr lang="en-US" sz="1200" dirty="0">
                <a:latin typeface="Calibri" pitchFamily="34" charset="0"/>
                <a:ea typeface="Calibri" pitchFamily="34" charset="-122"/>
                <a:cs typeface="Calibri" pitchFamily="34" charset="-120"/>
              </a:rPr>
              <a:t>observes signals, reasons about incidents, and recommends actions — humans stay in control.</a:t>
            </a:r>
            <a:endParaRPr lang="en-US" sz="1300" dirty="0"/>
          </a:p>
          <a:p>
            <a:pPr marL="0" indent="0" algn="l">
              <a:buNone/>
            </a:pPr>
            <a:endParaRPr lang="en-US" sz="1300" dirty="0"/>
          </a:p>
          <a:p>
            <a:pPr marL="0" indent="0" algn="l">
              <a:buNone/>
            </a:pPr>
            <a:r>
              <a:rPr lang="en-US" sz="1200" b="1" dirty="0">
                <a:solidFill>
                  <a:srgbClr val="1ABC9C"/>
                </a:solidFill>
                <a:latin typeface="Calibri" pitchFamily="34" charset="0"/>
                <a:ea typeface="Calibri" pitchFamily="34" charset="-122"/>
                <a:cs typeface="Calibri" pitchFamily="34" charset="-120"/>
              </a:rPr>
              <a:t>Core Principles:</a:t>
            </a:r>
            <a:endParaRPr lang="en-US" sz="1300" dirty="0"/>
          </a:p>
        </p:txBody>
      </p:sp>
      <p:pic>
        <p:nvPicPr>
          <p:cNvPr id="7" name="Image 0" descr="preencoded.png"/>
          <p:cNvPicPr>
            <a:picLocks noChangeAspect="1"/>
          </p:cNvPicPr>
          <p:nvPr/>
        </p:nvPicPr>
        <p:blipFill>
          <a:blip r:embed="rId3"/>
          <a:stretch>
            <a:fillRect/>
          </a:stretch>
        </p:blipFill>
        <p:spPr>
          <a:xfrm>
            <a:off x="640080" y="2441448"/>
            <a:ext cx="228600" cy="228600"/>
          </a:xfrm>
          <a:prstGeom prst="rect">
            <a:avLst/>
          </a:prstGeom>
        </p:spPr>
      </p:pic>
      <p:sp>
        <p:nvSpPr>
          <p:cNvPr id="8" name="Text 5"/>
          <p:cNvSpPr/>
          <p:nvPr/>
        </p:nvSpPr>
        <p:spPr>
          <a:xfrm>
            <a:off x="960120" y="2423160"/>
            <a:ext cx="3657600" cy="274320"/>
          </a:xfrm>
          <a:prstGeom prst="rect">
            <a:avLst/>
          </a:prstGeom>
          <a:noFill/>
          <a:ln/>
        </p:spPr>
        <p:txBody>
          <a:bodyPr wrap="square" lIns="0" tIns="0" rIns="0" bIns="0" rtlCol="0" anchor="ctr"/>
          <a:lstStyle/>
          <a:p>
            <a:pPr marL="0" indent="0" algn="l">
              <a:buNone/>
            </a:pPr>
            <a:r>
              <a:rPr lang="en-US" sz="1100" dirty="0">
                <a:latin typeface="Calibri" pitchFamily="34" charset="0"/>
                <a:ea typeface="Calibri" pitchFamily="34" charset="-122"/>
                <a:cs typeface="Calibri" pitchFamily="34" charset="-120"/>
              </a:rPr>
              <a:t>Read-only access by default</a:t>
            </a:r>
            <a:endParaRPr lang="en-US" sz="1100" dirty="0"/>
          </a:p>
        </p:txBody>
      </p:sp>
      <p:pic>
        <p:nvPicPr>
          <p:cNvPr id="9" name="Image 1" descr="preencoded.png"/>
          <p:cNvPicPr>
            <a:picLocks noChangeAspect="1"/>
          </p:cNvPicPr>
          <p:nvPr/>
        </p:nvPicPr>
        <p:blipFill>
          <a:blip r:embed="rId4"/>
          <a:stretch>
            <a:fillRect/>
          </a:stretch>
        </p:blipFill>
        <p:spPr>
          <a:xfrm>
            <a:off x="640080" y="2852928"/>
            <a:ext cx="228600" cy="228600"/>
          </a:xfrm>
          <a:prstGeom prst="rect">
            <a:avLst/>
          </a:prstGeom>
        </p:spPr>
      </p:pic>
      <p:sp>
        <p:nvSpPr>
          <p:cNvPr id="10" name="Text 6"/>
          <p:cNvSpPr/>
          <p:nvPr/>
        </p:nvSpPr>
        <p:spPr>
          <a:xfrm>
            <a:off x="960120" y="2834640"/>
            <a:ext cx="3657600" cy="274320"/>
          </a:xfrm>
          <a:prstGeom prst="rect">
            <a:avLst/>
          </a:prstGeom>
          <a:noFill/>
          <a:ln/>
        </p:spPr>
        <p:txBody>
          <a:bodyPr wrap="square" lIns="0" tIns="0" rIns="0" bIns="0" rtlCol="0" anchor="ctr"/>
          <a:lstStyle/>
          <a:p>
            <a:pPr marL="0" indent="0" algn="l">
              <a:buNone/>
            </a:pPr>
            <a:r>
              <a:rPr lang="en-US" sz="1100" dirty="0">
                <a:latin typeface="Calibri" pitchFamily="34" charset="0"/>
                <a:ea typeface="Calibri" pitchFamily="34" charset="-122"/>
                <a:cs typeface="Calibri" pitchFamily="34" charset="-120"/>
              </a:rPr>
              <a:t>Human-in-the-loop approvals</a:t>
            </a:r>
            <a:endParaRPr lang="en-US" sz="1100" dirty="0"/>
          </a:p>
        </p:txBody>
      </p:sp>
      <p:pic>
        <p:nvPicPr>
          <p:cNvPr id="11" name="Image 2" descr="preencoded.png"/>
          <p:cNvPicPr>
            <a:picLocks noChangeAspect="1"/>
          </p:cNvPicPr>
          <p:nvPr/>
        </p:nvPicPr>
        <p:blipFill>
          <a:blip r:embed="rId5"/>
          <a:stretch>
            <a:fillRect/>
          </a:stretch>
        </p:blipFill>
        <p:spPr>
          <a:xfrm>
            <a:off x="640080" y="3264408"/>
            <a:ext cx="228600" cy="228600"/>
          </a:xfrm>
          <a:prstGeom prst="rect">
            <a:avLst/>
          </a:prstGeom>
        </p:spPr>
      </p:pic>
      <p:sp>
        <p:nvSpPr>
          <p:cNvPr id="12" name="Text 7"/>
          <p:cNvSpPr/>
          <p:nvPr/>
        </p:nvSpPr>
        <p:spPr>
          <a:xfrm>
            <a:off x="960120" y="3246120"/>
            <a:ext cx="3657600" cy="274320"/>
          </a:xfrm>
          <a:prstGeom prst="rect">
            <a:avLst/>
          </a:prstGeom>
          <a:noFill/>
          <a:ln/>
        </p:spPr>
        <p:txBody>
          <a:bodyPr wrap="square" lIns="0" tIns="0" rIns="0" bIns="0" rtlCol="0" anchor="ctr"/>
          <a:lstStyle/>
          <a:p>
            <a:pPr marL="0" indent="0" algn="l">
              <a:buNone/>
            </a:pPr>
            <a:r>
              <a:rPr lang="en-US" sz="1100" dirty="0">
                <a:latin typeface="Calibri" pitchFamily="34" charset="0"/>
                <a:ea typeface="Calibri" pitchFamily="34" charset="-122"/>
                <a:cs typeface="Calibri" pitchFamily="34" charset="-120"/>
              </a:rPr>
              <a:t>Full audit trails on every action</a:t>
            </a:r>
            <a:endParaRPr lang="en-US" sz="1100" dirty="0"/>
          </a:p>
        </p:txBody>
      </p:sp>
      <p:pic>
        <p:nvPicPr>
          <p:cNvPr id="13" name="Image 3" descr="preencoded.png"/>
          <p:cNvPicPr>
            <a:picLocks noChangeAspect="1"/>
          </p:cNvPicPr>
          <p:nvPr/>
        </p:nvPicPr>
        <p:blipFill>
          <a:blip r:embed="rId6"/>
          <a:stretch>
            <a:fillRect/>
          </a:stretch>
        </p:blipFill>
        <p:spPr>
          <a:xfrm>
            <a:off x="640080" y="3675888"/>
            <a:ext cx="228600" cy="228600"/>
          </a:xfrm>
          <a:prstGeom prst="rect">
            <a:avLst/>
          </a:prstGeom>
        </p:spPr>
      </p:pic>
      <p:sp>
        <p:nvSpPr>
          <p:cNvPr id="14" name="Text 8"/>
          <p:cNvSpPr/>
          <p:nvPr/>
        </p:nvSpPr>
        <p:spPr>
          <a:xfrm>
            <a:off x="960120" y="3657600"/>
            <a:ext cx="3657600" cy="274320"/>
          </a:xfrm>
          <a:prstGeom prst="rect">
            <a:avLst/>
          </a:prstGeom>
          <a:noFill/>
          <a:ln/>
        </p:spPr>
        <p:txBody>
          <a:bodyPr wrap="square" lIns="0" tIns="0" rIns="0" bIns="0" rtlCol="0" anchor="ctr"/>
          <a:lstStyle/>
          <a:p>
            <a:pPr marL="0" indent="0" algn="l">
              <a:buNone/>
            </a:pPr>
            <a:r>
              <a:rPr lang="en-US" sz="1100" dirty="0">
                <a:latin typeface="Calibri" pitchFamily="34" charset="0"/>
                <a:ea typeface="Calibri" pitchFamily="34" charset="-122"/>
                <a:cs typeface="Calibri" pitchFamily="34" charset="-120"/>
              </a:rPr>
              <a:t>Local-first processing</a:t>
            </a:r>
            <a:endParaRPr lang="en-US" sz="1100" dirty="0"/>
          </a:p>
        </p:txBody>
      </p:sp>
      <p:sp>
        <p:nvSpPr>
          <p:cNvPr id="15" name="Shape 9"/>
          <p:cNvSpPr/>
          <p:nvPr/>
        </p:nvSpPr>
        <p:spPr>
          <a:xfrm>
            <a:off x="4937760" y="1143000"/>
            <a:ext cx="3931920" cy="594360"/>
          </a:xfrm>
          <a:prstGeom prst="rect">
            <a:avLst/>
          </a:prstGeom>
          <a:solidFill>
            <a:srgbClr val="242424"/>
          </a:solidFill>
          <a:ln w="19050">
            <a:solidFill>
              <a:srgbClr val="E8751A"/>
            </a:solidFill>
            <a:prstDash val="solid"/>
          </a:ln>
        </p:spPr>
        <p:txBody>
          <a:bodyPr/>
          <a:lstStyle/>
          <a:p>
            <a:endParaRPr lang="en-US"/>
          </a:p>
        </p:txBody>
      </p:sp>
      <p:sp>
        <p:nvSpPr>
          <p:cNvPr id="16" name="Text 10"/>
          <p:cNvSpPr/>
          <p:nvPr/>
        </p:nvSpPr>
        <p:spPr>
          <a:xfrm>
            <a:off x="5074920" y="1188720"/>
            <a:ext cx="3657600" cy="274320"/>
          </a:xfrm>
          <a:prstGeom prst="rect">
            <a:avLst/>
          </a:prstGeom>
          <a:noFill/>
          <a:ln/>
        </p:spPr>
        <p:txBody>
          <a:bodyPr wrap="square" lIns="0" tIns="0" rIns="0" bIns="0" rtlCol="0" anchor="ctr"/>
          <a:lstStyle/>
          <a:p>
            <a:pPr marL="0" indent="0" algn="ctr">
              <a:buNone/>
            </a:pPr>
            <a:r>
              <a:rPr lang="en-US" sz="1100" b="1" dirty="0">
                <a:solidFill>
                  <a:srgbClr val="FFFFFF"/>
                </a:solidFill>
                <a:latin typeface="Trebuchet MS" pitchFamily="34" charset="0"/>
                <a:ea typeface="Trebuchet MS" pitchFamily="34" charset="-122"/>
                <a:cs typeface="Trebuchet MS" pitchFamily="34" charset="-120"/>
              </a:rPr>
              <a:t>Troubleshooting / RCA</a:t>
            </a:r>
            <a:endParaRPr lang="en-US" sz="1100" dirty="0"/>
          </a:p>
        </p:txBody>
      </p:sp>
      <p:sp>
        <p:nvSpPr>
          <p:cNvPr id="17" name="Text 11"/>
          <p:cNvSpPr/>
          <p:nvPr/>
        </p:nvSpPr>
        <p:spPr>
          <a:xfrm>
            <a:off x="5074920" y="1444752"/>
            <a:ext cx="3657600" cy="228600"/>
          </a:xfrm>
          <a:prstGeom prst="rect">
            <a:avLst/>
          </a:prstGeom>
          <a:noFill/>
          <a:ln/>
        </p:spPr>
        <p:txBody>
          <a:bodyPr wrap="square" lIns="0" tIns="0" rIns="0" bIns="0" rtlCol="0" anchor="ctr"/>
          <a:lstStyle/>
          <a:p>
            <a:pPr marL="0" indent="0" algn="ctr">
              <a:buNone/>
            </a:pPr>
            <a:r>
              <a:rPr lang="en-US" sz="900" dirty="0">
                <a:solidFill>
                  <a:srgbClr val="999999"/>
                </a:solidFill>
                <a:latin typeface="Calibri" pitchFamily="34" charset="0"/>
                <a:ea typeface="Calibri" pitchFamily="34" charset="-122"/>
                <a:cs typeface="Calibri" pitchFamily="34" charset="-120"/>
              </a:rPr>
              <a:t>Correlates findings, generates incident summary</a:t>
            </a:r>
            <a:endParaRPr lang="en-US" sz="900" dirty="0"/>
          </a:p>
        </p:txBody>
      </p:sp>
      <p:sp>
        <p:nvSpPr>
          <p:cNvPr id="18" name="Shape 12"/>
          <p:cNvSpPr/>
          <p:nvPr/>
        </p:nvSpPr>
        <p:spPr>
          <a:xfrm>
            <a:off x="4937760" y="1874520"/>
            <a:ext cx="3931920" cy="594360"/>
          </a:xfrm>
          <a:prstGeom prst="rect">
            <a:avLst/>
          </a:prstGeom>
          <a:solidFill>
            <a:srgbClr val="242424"/>
          </a:solidFill>
          <a:ln w="19050">
            <a:solidFill>
              <a:srgbClr val="1ABC9C"/>
            </a:solidFill>
            <a:prstDash val="solid"/>
          </a:ln>
        </p:spPr>
        <p:txBody>
          <a:bodyPr/>
          <a:lstStyle/>
          <a:p>
            <a:endParaRPr lang="en-US"/>
          </a:p>
        </p:txBody>
      </p:sp>
      <p:sp>
        <p:nvSpPr>
          <p:cNvPr id="19" name="Text 13"/>
          <p:cNvSpPr/>
          <p:nvPr/>
        </p:nvSpPr>
        <p:spPr>
          <a:xfrm>
            <a:off x="5074920" y="1920240"/>
            <a:ext cx="3657600" cy="274320"/>
          </a:xfrm>
          <a:prstGeom prst="rect">
            <a:avLst/>
          </a:prstGeom>
          <a:noFill/>
          <a:ln/>
        </p:spPr>
        <p:txBody>
          <a:bodyPr wrap="square" lIns="0" tIns="0" rIns="0" bIns="0" rtlCol="0" anchor="ctr"/>
          <a:lstStyle/>
          <a:p>
            <a:pPr marL="0" indent="0" algn="ctr">
              <a:buNone/>
            </a:pPr>
            <a:r>
              <a:rPr lang="en-US" sz="1100" b="1" dirty="0">
                <a:solidFill>
                  <a:srgbClr val="FFFFFF"/>
                </a:solidFill>
                <a:latin typeface="Trebuchet MS" pitchFamily="34" charset="0"/>
                <a:ea typeface="Trebuchet MS" pitchFamily="34" charset="-122"/>
                <a:cs typeface="Trebuchet MS" pitchFamily="34" charset="-120"/>
              </a:rPr>
              <a:t>Shared Memory Layer</a:t>
            </a:r>
            <a:endParaRPr lang="en-US" sz="1100" dirty="0"/>
          </a:p>
        </p:txBody>
      </p:sp>
      <p:sp>
        <p:nvSpPr>
          <p:cNvPr id="20" name="Text 14"/>
          <p:cNvSpPr/>
          <p:nvPr/>
        </p:nvSpPr>
        <p:spPr>
          <a:xfrm>
            <a:off x="5074920" y="2176272"/>
            <a:ext cx="3657600" cy="228600"/>
          </a:xfrm>
          <a:prstGeom prst="rect">
            <a:avLst/>
          </a:prstGeom>
          <a:noFill/>
          <a:ln/>
        </p:spPr>
        <p:txBody>
          <a:bodyPr wrap="square" lIns="0" tIns="0" rIns="0" bIns="0" rtlCol="0" anchor="ctr"/>
          <a:lstStyle/>
          <a:p>
            <a:pPr marL="0" indent="0" algn="ctr">
              <a:buNone/>
            </a:pPr>
            <a:r>
              <a:rPr lang="en-US" sz="900" dirty="0">
                <a:solidFill>
                  <a:srgbClr val="999999"/>
                </a:solidFill>
                <a:latin typeface="Calibri" pitchFamily="34" charset="0"/>
                <a:ea typeface="Calibri" pitchFamily="34" charset="-122"/>
                <a:cs typeface="Calibri" pitchFamily="34" charset="-120"/>
              </a:rPr>
              <a:t>Short-term: Active  ·  Long-term: Historical</a:t>
            </a:r>
            <a:endParaRPr lang="en-US" sz="900" dirty="0"/>
          </a:p>
        </p:txBody>
      </p:sp>
      <p:sp>
        <p:nvSpPr>
          <p:cNvPr id="21" name="Shape 15"/>
          <p:cNvSpPr/>
          <p:nvPr/>
        </p:nvSpPr>
        <p:spPr>
          <a:xfrm>
            <a:off x="4937760" y="2606040"/>
            <a:ext cx="3931920" cy="594360"/>
          </a:xfrm>
          <a:prstGeom prst="rect">
            <a:avLst/>
          </a:prstGeom>
          <a:solidFill>
            <a:srgbClr val="242424"/>
          </a:solidFill>
          <a:ln w="19050">
            <a:solidFill>
              <a:srgbClr val="3CB371"/>
            </a:solidFill>
            <a:prstDash val="solid"/>
          </a:ln>
        </p:spPr>
        <p:txBody>
          <a:bodyPr/>
          <a:lstStyle/>
          <a:p>
            <a:endParaRPr lang="en-US"/>
          </a:p>
        </p:txBody>
      </p:sp>
      <p:sp>
        <p:nvSpPr>
          <p:cNvPr id="22" name="Text 16"/>
          <p:cNvSpPr/>
          <p:nvPr/>
        </p:nvSpPr>
        <p:spPr>
          <a:xfrm>
            <a:off x="5074920" y="2651760"/>
            <a:ext cx="3657600" cy="274320"/>
          </a:xfrm>
          <a:prstGeom prst="rect">
            <a:avLst/>
          </a:prstGeom>
          <a:noFill/>
          <a:ln/>
        </p:spPr>
        <p:txBody>
          <a:bodyPr wrap="square" lIns="0" tIns="0" rIns="0" bIns="0" rtlCol="0" anchor="ctr"/>
          <a:lstStyle/>
          <a:p>
            <a:pPr marL="0" indent="0" algn="ctr">
              <a:buNone/>
            </a:pPr>
            <a:r>
              <a:rPr lang="en-US" sz="1100" b="1" dirty="0">
                <a:solidFill>
                  <a:srgbClr val="FFFFFF"/>
                </a:solidFill>
                <a:latin typeface="Trebuchet MS" pitchFamily="34" charset="0"/>
                <a:ea typeface="Trebuchet MS" pitchFamily="34" charset="-122"/>
                <a:cs typeface="Trebuchet MS" pitchFamily="34" charset="-120"/>
              </a:rPr>
              <a:t>SRE Intelligence Layer</a:t>
            </a:r>
            <a:endParaRPr lang="en-US" sz="1100" dirty="0"/>
          </a:p>
        </p:txBody>
      </p:sp>
      <p:sp>
        <p:nvSpPr>
          <p:cNvPr id="23" name="Text 17"/>
          <p:cNvSpPr/>
          <p:nvPr/>
        </p:nvSpPr>
        <p:spPr>
          <a:xfrm>
            <a:off x="5074920" y="2907792"/>
            <a:ext cx="3657600" cy="228600"/>
          </a:xfrm>
          <a:prstGeom prst="rect">
            <a:avLst/>
          </a:prstGeom>
          <a:noFill/>
          <a:ln/>
        </p:spPr>
        <p:txBody>
          <a:bodyPr wrap="square" lIns="0" tIns="0" rIns="0" bIns="0" rtlCol="0" anchor="ctr"/>
          <a:lstStyle/>
          <a:p>
            <a:pPr marL="0" indent="0" algn="ctr">
              <a:buNone/>
            </a:pPr>
            <a:r>
              <a:rPr lang="en-US" sz="900" dirty="0">
                <a:solidFill>
                  <a:srgbClr val="999999"/>
                </a:solidFill>
                <a:latin typeface="Calibri" pitchFamily="34" charset="0"/>
                <a:ea typeface="Calibri" pitchFamily="34" charset="-122"/>
                <a:cs typeface="Calibri" pitchFamily="34" charset="-120"/>
              </a:rPr>
              <a:t>Orchestrator Agent (LangGraph + Agent Runtime)</a:t>
            </a:r>
            <a:endParaRPr lang="en-US" sz="900" dirty="0"/>
          </a:p>
        </p:txBody>
      </p:sp>
      <p:sp>
        <p:nvSpPr>
          <p:cNvPr id="24" name="Shape 18"/>
          <p:cNvSpPr/>
          <p:nvPr/>
        </p:nvSpPr>
        <p:spPr>
          <a:xfrm>
            <a:off x="4937760" y="3337560"/>
            <a:ext cx="3931920" cy="594360"/>
          </a:xfrm>
          <a:prstGeom prst="rect">
            <a:avLst/>
          </a:prstGeom>
          <a:solidFill>
            <a:srgbClr val="242424"/>
          </a:solidFill>
          <a:ln w="19050">
            <a:solidFill>
              <a:srgbClr val="3498DB"/>
            </a:solidFill>
            <a:prstDash val="solid"/>
          </a:ln>
        </p:spPr>
        <p:txBody>
          <a:bodyPr/>
          <a:lstStyle/>
          <a:p>
            <a:endParaRPr lang="en-US"/>
          </a:p>
        </p:txBody>
      </p:sp>
      <p:sp>
        <p:nvSpPr>
          <p:cNvPr id="25" name="Text 19"/>
          <p:cNvSpPr/>
          <p:nvPr/>
        </p:nvSpPr>
        <p:spPr>
          <a:xfrm>
            <a:off x="5074920" y="3383280"/>
            <a:ext cx="3657600" cy="274320"/>
          </a:xfrm>
          <a:prstGeom prst="rect">
            <a:avLst/>
          </a:prstGeom>
          <a:noFill/>
          <a:ln/>
        </p:spPr>
        <p:txBody>
          <a:bodyPr wrap="square" lIns="0" tIns="0" rIns="0" bIns="0" rtlCol="0" anchor="ctr"/>
          <a:lstStyle/>
          <a:p>
            <a:pPr marL="0" indent="0" algn="ctr">
              <a:buNone/>
            </a:pPr>
            <a:r>
              <a:rPr lang="en-US" sz="1100" b="1" dirty="0">
                <a:solidFill>
                  <a:srgbClr val="FFFFFF"/>
                </a:solidFill>
                <a:latin typeface="Trebuchet MS" pitchFamily="34" charset="0"/>
                <a:ea typeface="Trebuchet MS" pitchFamily="34" charset="-122"/>
                <a:cs typeface="Trebuchet MS" pitchFamily="34" charset="-120"/>
              </a:rPr>
              <a:t>Domain Analysis Tools (MCP Servers)</a:t>
            </a:r>
            <a:endParaRPr lang="en-US" sz="1100" dirty="0"/>
          </a:p>
        </p:txBody>
      </p:sp>
      <p:sp>
        <p:nvSpPr>
          <p:cNvPr id="26" name="Text 20"/>
          <p:cNvSpPr/>
          <p:nvPr/>
        </p:nvSpPr>
        <p:spPr>
          <a:xfrm>
            <a:off x="5074920" y="3639312"/>
            <a:ext cx="3657600" cy="228600"/>
          </a:xfrm>
          <a:prstGeom prst="rect">
            <a:avLst/>
          </a:prstGeom>
          <a:noFill/>
          <a:ln/>
        </p:spPr>
        <p:txBody>
          <a:bodyPr wrap="square" lIns="0" tIns="0" rIns="0" bIns="0" rtlCol="0" anchor="ctr"/>
          <a:lstStyle/>
          <a:p>
            <a:pPr marL="0" indent="0" algn="ctr">
              <a:buNone/>
            </a:pPr>
            <a:r>
              <a:rPr lang="en-US" sz="900" dirty="0">
                <a:solidFill>
                  <a:srgbClr val="999999"/>
                </a:solidFill>
                <a:latin typeface="Calibri" pitchFamily="34" charset="0"/>
                <a:ea typeface="Calibri" pitchFamily="34" charset="-122"/>
                <a:cs typeface="Calibri" pitchFamily="34" charset="-120"/>
              </a:rPr>
              <a:t>Logs · Metrics · Infra · Docs · Alerts</a:t>
            </a:r>
            <a:endParaRPr lang="en-US" sz="900" dirty="0"/>
          </a:p>
        </p:txBody>
      </p:sp>
      <p:sp>
        <p:nvSpPr>
          <p:cNvPr id="27" name="Text 21"/>
          <p:cNvSpPr/>
          <p:nvPr/>
        </p:nvSpPr>
        <p:spPr>
          <a:xfrm>
            <a:off x="6675120" y="1667610"/>
            <a:ext cx="457200" cy="274320"/>
          </a:xfrm>
          <a:prstGeom prst="rect">
            <a:avLst/>
          </a:prstGeom>
          <a:noFill/>
          <a:ln/>
        </p:spPr>
        <p:txBody>
          <a:bodyPr wrap="square" lIns="0" tIns="0" rIns="0" bIns="0" rtlCol="0" anchor="ctr"/>
          <a:lstStyle/>
          <a:p>
            <a:pPr marL="0" indent="0" algn="ctr">
              <a:buNone/>
            </a:pPr>
            <a:r>
              <a:rPr lang="en-US" sz="1200" dirty="0">
                <a:solidFill>
                  <a:srgbClr val="666666"/>
                </a:solidFill>
              </a:rPr>
              <a:t>▼</a:t>
            </a:r>
            <a:endParaRPr lang="en-US" sz="1200" dirty="0"/>
          </a:p>
        </p:txBody>
      </p:sp>
      <p:sp>
        <p:nvSpPr>
          <p:cNvPr id="28" name="Text 22"/>
          <p:cNvSpPr/>
          <p:nvPr/>
        </p:nvSpPr>
        <p:spPr>
          <a:xfrm>
            <a:off x="6675120" y="2409444"/>
            <a:ext cx="457200" cy="274320"/>
          </a:xfrm>
          <a:prstGeom prst="rect">
            <a:avLst/>
          </a:prstGeom>
          <a:noFill/>
          <a:ln/>
        </p:spPr>
        <p:txBody>
          <a:bodyPr wrap="square" lIns="0" tIns="0" rIns="0" bIns="0" rtlCol="0" anchor="ctr"/>
          <a:lstStyle/>
          <a:p>
            <a:pPr marL="0" indent="0" algn="ctr">
              <a:buNone/>
            </a:pPr>
            <a:r>
              <a:rPr lang="en-US" sz="1200" dirty="0">
                <a:solidFill>
                  <a:srgbClr val="666666"/>
                </a:solidFill>
              </a:rPr>
              <a:t>▼</a:t>
            </a:r>
            <a:endParaRPr lang="en-US" sz="1200" dirty="0"/>
          </a:p>
        </p:txBody>
      </p:sp>
      <p:sp>
        <p:nvSpPr>
          <p:cNvPr id="29" name="Text 23"/>
          <p:cNvSpPr/>
          <p:nvPr/>
        </p:nvSpPr>
        <p:spPr>
          <a:xfrm>
            <a:off x="6675120" y="3140113"/>
            <a:ext cx="457200" cy="274320"/>
          </a:xfrm>
          <a:prstGeom prst="rect">
            <a:avLst/>
          </a:prstGeom>
          <a:noFill/>
          <a:ln/>
        </p:spPr>
        <p:txBody>
          <a:bodyPr wrap="square" lIns="0" tIns="0" rIns="0" bIns="0" rtlCol="0" anchor="ctr"/>
          <a:lstStyle/>
          <a:p>
            <a:pPr marL="0" indent="0" algn="ctr">
              <a:buNone/>
            </a:pPr>
            <a:r>
              <a:rPr lang="en-US" sz="1200" dirty="0">
                <a:solidFill>
                  <a:srgbClr val="666666"/>
                </a:solidFill>
              </a:rPr>
              <a:t>▼</a:t>
            </a:r>
            <a:endParaRPr lang="en-US" sz="1200" dirty="0"/>
          </a:p>
        </p:txBody>
      </p:sp>
      <p:sp>
        <p:nvSpPr>
          <p:cNvPr id="30" name="Text 24"/>
          <p:cNvSpPr/>
          <p:nvPr/>
        </p:nvSpPr>
        <p:spPr>
          <a:xfrm>
            <a:off x="457200" y="4480560"/>
            <a:ext cx="8229600" cy="320040"/>
          </a:xfrm>
          <a:prstGeom prst="rect">
            <a:avLst/>
          </a:prstGeom>
          <a:noFill/>
          <a:ln/>
        </p:spPr>
        <p:txBody>
          <a:bodyPr wrap="square" lIns="0" tIns="0" rIns="0" bIns="0" rtlCol="0" anchor="ctr"/>
          <a:lstStyle/>
          <a:p>
            <a:pPr marL="0" indent="0" algn="ctr">
              <a:buNone/>
            </a:pPr>
            <a:r>
              <a:rPr lang="en-US" sz="1000" i="1" dirty="0">
                <a:solidFill>
                  <a:srgbClr val="666666"/>
                </a:solidFill>
                <a:latin typeface="Calibri" pitchFamily="34" charset="0"/>
                <a:ea typeface="Calibri" pitchFamily="34" charset="-122"/>
                <a:cs typeface="Calibri" pitchFamily="34" charset="-120"/>
              </a:rPr>
              <a:t>Built on Google Agent Engine for cloud-native scalability and enterprise guardrails</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chemeClr val="bg1"/>
        </a:solidFill>
        <a:effectLst/>
      </p:bgPr>
    </p:bg>
    <p:spTree>
      <p:nvGrpSpPr>
        <p:cNvPr id="1" name=""/>
        <p:cNvGrpSpPr/>
        <p:nvPr/>
      </p:nvGrpSpPr>
      <p:grpSpPr>
        <a:xfrm>
          <a:off x="0" y="0"/>
          <a:ext cx="0" cy="0"/>
          <a:chOff x="0" y="0"/>
          <a:chExt cx="0" cy="0"/>
        </a:xfrm>
      </p:grpSpPr>
      <p:sp>
        <p:nvSpPr>
          <p:cNvPr id="2" name="Text 0"/>
          <p:cNvSpPr/>
          <p:nvPr/>
        </p:nvSpPr>
        <p:spPr>
          <a:xfrm>
            <a:off x="7589520" y="137160"/>
            <a:ext cx="1371600" cy="274320"/>
          </a:xfrm>
          <a:prstGeom prst="rect">
            <a:avLst/>
          </a:prstGeom>
          <a:noFill/>
          <a:ln/>
        </p:spPr>
        <p:txBody>
          <a:bodyPr wrap="square" lIns="0" tIns="0" rIns="0" bIns="0" rtlCol="0" anchor="ctr"/>
          <a:lstStyle/>
          <a:p>
            <a:pPr marL="0" indent="0" algn="r">
              <a:buNone/>
            </a:pPr>
            <a:r>
              <a:rPr lang="en-US" sz="1200" b="1" kern="0" spc="300" dirty="0">
                <a:solidFill>
                  <a:srgbClr val="3CB371"/>
                </a:solidFill>
                <a:latin typeface="Trebuchet MS" pitchFamily="34" charset="0"/>
                <a:ea typeface="Trebuchet MS" pitchFamily="34" charset="-122"/>
                <a:cs typeface="Trebuchet MS" pitchFamily="34" charset="-120"/>
              </a:rPr>
              <a:t>SECTIGO</a:t>
            </a:r>
            <a:endParaRPr lang="en-US" sz="1200" dirty="0"/>
          </a:p>
        </p:txBody>
      </p:sp>
      <p:sp>
        <p:nvSpPr>
          <p:cNvPr id="3" name="Shape 1"/>
          <p:cNvSpPr/>
          <p:nvPr/>
        </p:nvSpPr>
        <p:spPr>
          <a:xfrm>
            <a:off x="457200" y="182880"/>
            <a:ext cx="1234440" cy="256032"/>
          </a:xfrm>
          <a:prstGeom prst="roundRect">
            <a:avLst>
              <a:gd name="adj" fmla="val 14286"/>
            </a:avLst>
          </a:prstGeom>
          <a:solidFill>
            <a:srgbClr val="E8751A"/>
          </a:solidFill>
          <a:ln/>
        </p:spPr>
        <p:txBody>
          <a:bodyPr/>
          <a:lstStyle/>
          <a:p>
            <a:endParaRPr lang="en-US"/>
          </a:p>
        </p:txBody>
      </p:sp>
      <p:sp>
        <p:nvSpPr>
          <p:cNvPr id="4" name="Text 2"/>
          <p:cNvSpPr/>
          <p:nvPr/>
        </p:nvSpPr>
        <p:spPr>
          <a:xfrm>
            <a:off x="457200" y="182880"/>
            <a:ext cx="1234440" cy="256032"/>
          </a:xfrm>
          <a:prstGeom prst="rect">
            <a:avLst/>
          </a:prstGeom>
          <a:noFill/>
          <a:ln/>
        </p:spPr>
        <p:txBody>
          <a:bodyPr wrap="square" lIns="0" tIns="0" rIns="0" bIns="0" rtlCol="0" anchor="ctr"/>
          <a:lstStyle/>
          <a:p>
            <a:pPr marL="0" indent="0" algn="ctr">
              <a:buNone/>
            </a:pPr>
            <a:r>
              <a:rPr lang="en-US" sz="800" b="1" kern="0" spc="200" dirty="0">
                <a:solidFill>
                  <a:srgbClr val="FFFFFF"/>
                </a:solidFill>
                <a:latin typeface="Trebuchet MS" pitchFamily="34" charset="0"/>
                <a:ea typeface="Trebuchet MS" pitchFamily="34" charset="-122"/>
                <a:cs typeface="Trebuchet MS" pitchFamily="34" charset="-120"/>
              </a:rPr>
              <a:t>THE VISION</a:t>
            </a:r>
            <a:endParaRPr lang="en-US" sz="800" dirty="0"/>
          </a:p>
        </p:txBody>
      </p:sp>
      <p:sp>
        <p:nvSpPr>
          <p:cNvPr id="5" name="Text 3"/>
          <p:cNvSpPr/>
          <p:nvPr/>
        </p:nvSpPr>
        <p:spPr>
          <a:xfrm>
            <a:off x="457200" y="502920"/>
            <a:ext cx="8229600" cy="502920"/>
          </a:xfrm>
          <a:prstGeom prst="rect">
            <a:avLst/>
          </a:prstGeom>
          <a:noFill/>
          <a:ln/>
        </p:spPr>
        <p:txBody>
          <a:bodyPr wrap="square" lIns="0" tIns="0" rIns="0" bIns="0" rtlCol="0" anchor="ctr"/>
          <a:lstStyle/>
          <a:p>
            <a:pPr marL="0" indent="0">
              <a:buNone/>
            </a:pPr>
            <a:r>
              <a:rPr lang="en-US" sz="3000" b="1" dirty="0">
                <a:latin typeface="Georgia" pitchFamily="34" charset="0"/>
                <a:ea typeface="Georgia" pitchFamily="34" charset="-122"/>
                <a:cs typeface="Georgia" pitchFamily="34" charset="-120"/>
              </a:rPr>
              <a:t>SRE Workflow: Before vs After</a:t>
            </a:r>
            <a:endParaRPr lang="en-US" sz="3000" dirty="0"/>
          </a:p>
        </p:txBody>
      </p:sp>
      <p:sp>
        <p:nvSpPr>
          <p:cNvPr id="6" name="Shape 4"/>
          <p:cNvSpPr/>
          <p:nvPr/>
        </p:nvSpPr>
        <p:spPr>
          <a:xfrm>
            <a:off x="457200" y="1188720"/>
            <a:ext cx="3840480" cy="365760"/>
          </a:xfrm>
          <a:prstGeom prst="rect">
            <a:avLst/>
          </a:prstGeom>
          <a:solidFill>
            <a:srgbClr val="E74C3C"/>
          </a:solidFill>
          <a:ln/>
        </p:spPr>
        <p:txBody>
          <a:bodyPr/>
          <a:lstStyle/>
          <a:p>
            <a:endParaRPr lang="en-US"/>
          </a:p>
        </p:txBody>
      </p:sp>
      <p:sp>
        <p:nvSpPr>
          <p:cNvPr id="7" name="Text 5"/>
          <p:cNvSpPr/>
          <p:nvPr/>
        </p:nvSpPr>
        <p:spPr>
          <a:xfrm>
            <a:off x="457200" y="1188720"/>
            <a:ext cx="3840480" cy="365760"/>
          </a:xfrm>
          <a:prstGeom prst="rect">
            <a:avLst/>
          </a:prstGeom>
          <a:noFill/>
          <a:ln/>
        </p:spPr>
        <p:txBody>
          <a:bodyPr wrap="square" lIns="0" tIns="0" rIns="0" bIns="0" rtlCol="0" anchor="ctr"/>
          <a:lstStyle/>
          <a:p>
            <a:pPr marL="0" indent="0" algn="ctr">
              <a:buNone/>
            </a:pPr>
            <a:r>
              <a:rPr lang="en-US" sz="1200" b="1" kern="0" spc="200" dirty="0">
                <a:solidFill>
                  <a:srgbClr val="FFFFFF"/>
                </a:solidFill>
                <a:latin typeface="Trebuchet MS" pitchFamily="34" charset="0"/>
                <a:ea typeface="Trebuchet MS" pitchFamily="34" charset="-122"/>
                <a:cs typeface="Trebuchet MS" pitchFamily="34" charset="-120"/>
              </a:rPr>
              <a:t>CURRENT WORKFLOW</a:t>
            </a:r>
            <a:endParaRPr lang="en-US" sz="1200" dirty="0"/>
          </a:p>
        </p:txBody>
      </p:sp>
      <p:sp>
        <p:nvSpPr>
          <p:cNvPr id="8" name="Shape 6"/>
          <p:cNvSpPr/>
          <p:nvPr/>
        </p:nvSpPr>
        <p:spPr>
          <a:xfrm>
            <a:off x="457200" y="1691640"/>
            <a:ext cx="3840480" cy="301752"/>
          </a:xfrm>
          <a:prstGeom prst="rect">
            <a:avLst/>
          </a:prstGeom>
          <a:solidFill>
            <a:srgbClr val="242424"/>
          </a:solidFill>
          <a:ln/>
        </p:spPr>
        <p:txBody>
          <a:bodyPr/>
          <a:lstStyle/>
          <a:p>
            <a:endParaRPr lang="en-US"/>
          </a:p>
        </p:txBody>
      </p:sp>
      <p:sp>
        <p:nvSpPr>
          <p:cNvPr id="9" name="Text 7"/>
          <p:cNvSpPr/>
          <p:nvPr/>
        </p:nvSpPr>
        <p:spPr>
          <a:xfrm>
            <a:off x="594360" y="1691640"/>
            <a:ext cx="3566160" cy="301752"/>
          </a:xfrm>
          <a:prstGeom prst="rect">
            <a:avLst/>
          </a:prstGeom>
          <a:noFill/>
          <a:ln/>
        </p:spPr>
        <p:txBody>
          <a:bodyPr wrap="square" lIns="0" tIns="0" rIns="0" bIns="0" rtlCol="0" anchor="ctr"/>
          <a:lstStyle/>
          <a:p>
            <a:pPr marL="0" indent="0" algn="l">
              <a:buNone/>
            </a:pPr>
            <a:r>
              <a:rPr lang="en-US" sz="1000" dirty="0">
                <a:solidFill>
                  <a:srgbClr val="CCCCCC"/>
                </a:solidFill>
                <a:latin typeface="Calibri" pitchFamily="34" charset="0"/>
                <a:ea typeface="Calibri" pitchFamily="34" charset="-122"/>
                <a:cs typeface="Calibri" pitchFamily="34" charset="-120"/>
              </a:rPr>
              <a:t>1.  Alert triggers → SRE On-Call notified</a:t>
            </a:r>
            <a:endParaRPr lang="en-US" sz="1000" dirty="0"/>
          </a:p>
        </p:txBody>
      </p:sp>
      <p:sp>
        <p:nvSpPr>
          <p:cNvPr id="10" name="Shape 8"/>
          <p:cNvSpPr/>
          <p:nvPr/>
        </p:nvSpPr>
        <p:spPr>
          <a:xfrm>
            <a:off x="457200" y="2039112"/>
            <a:ext cx="3840480" cy="301752"/>
          </a:xfrm>
          <a:prstGeom prst="rect">
            <a:avLst/>
          </a:prstGeom>
          <a:solidFill>
            <a:srgbClr val="2A2A2A"/>
          </a:solidFill>
          <a:ln/>
        </p:spPr>
        <p:txBody>
          <a:bodyPr/>
          <a:lstStyle/>
          <a:p>
            <a:endParaRPr lang="en-US"/>
          </a:p>
        </p:txBody>
      </p:sp>
      <p:sp>
        <p:nvSpPr>
          <p:cNvPr id="11" name="Text 9"/>
          <p:cNvSpPr/>
          <p:nvPr/>
        </p:nvSpPr>
        <p:spPr>
          <a:xfrm>
            <a:off x="594360" y="2039112"/>
            <a:ext cx="3566160" cy="301752"/>
          </a:xfrm>
          <a:prstGeom prst="rect">
            <a:avLst/>
          </a:prstGeom>
          <a:noFill/>
          <a:ln/>
        </p:spPr>
        <p:txBody>
          <a:bodyPr wrap="square" lIns="0" tIns="0" rIns="0" bIns="0" rtlCol="0" anchor="ctr"/>
          <a:lstStyle/>
          <a:p>
            <a:pPr marL="0" indent="0" algn="l">
              <a:buNone/>
            </a:pPr>
            <a:r>
              <a:rPr lang="en-US" sz="1000" dirty="0">
                <a:solidFill>
                  <a:srgbClr val="CCCCCC"/>
                </a:solidFill>
                <a:latin typeface="Calibri" pitchFamily="34" charset="0"/>
                <a:ea typeface="Calibri" pitchFamily="34" charset="-122"/>
                <a:cs typeface="Calibri" pitchFamily="34" charset="-120"/>
              </a:rPr>
              <a:t>2.  Manually check alert context / service</a:t>
            </a:r>
            <a:endParaRPr lang="en-US" sz="1000" dirty="0"/>
          </a:p>
        </p:txBody>
      </p:sp>
      <p:sp>
        <p:nvSpPr>
          <p:cNvPr id="12" name="Shape 10"/>
          <p:cNvSpPr/>
          <p:nvPr/>
        </p:nvSpPr>
        <p:spPr>
          <a:xfrm>
            <a:off x="457200" y="2386584"/>
            <a:ext cx="3840480" cy="301752"/>
          </a:xfrm>
          <a:prstGeom prst="rect">
            <a:avLst/>
          </a:prstGeom>
          <a:solidFill>
            <a:srgbClr val="242424"/>
          </a:solidFill>
          <a:ln/>
        </p:spPr>
        <p:txBody>
          <a:bodyPr/>
          <a:lstStyle/>
          <a:p>
            <a:endParaRPr lang="en-US"/>
          </a:p>
        </p:txBody>
      </p:sp>
      <p:sp>
        <p:nvSpPr>
          <p:cNvPr id="13" name="Text 11"/>
          <p:cNvSpPr/>
          <p:nvPr/>
        </p:nvSpPr>
        <p:spPr>
          <a:xfrm>
            <a:off x="594360" y="2386584"/>
            <a:ext cx="3566160" cy="301752"/>
          </a:xfrm>
          <a:prstGeom prst="rect">
            <a:avLst/>
          </a:prstGeom>
          <a:noFill/>
          <a:ln/>
        </p:spPr>
        <p:txBody>
          <a:bodyPr wrap="square" lIns="0" tIns="0" rIns="0" bIns="0" rtlCol="0" anchor="ctr"/>
          <a:lstStyle/>
          <a:p>
            <a:pPr marL="0" indent="0" algn="l">
              <a:buNone/>
            </a:pPr>
            <a:r>
              <a:rPr lang="en-US" sz="1000" dirty="0">
                <a:solidFill>
                  <a:srgbClr val="CCCCCC"/>
                </a:solidFill>
                <a:latin typeface="Calibri" pitchFamily="34" charset="0"/>
                <a:ea typeface="Calibri" pitchFamily="34" charset="-122"/>
                <a:cs typeface="Calibri" pitchFamily="34" charset="-120"/>
              </a:rPr>
              <a:t>3.  Open runbooks / documentation</a:t>
            </a:r>
            <a:endParaRPr lang="en-US" sz="1000" dirty="0"/>
          </a:p>
        </p:txBody>
      </p:sp>
      <p:sp>
        <p:nvSpPr>
          <p:cNvPr id="14" name="Shape 12"/>
          <p:cNvSpPr/>
          <p:nvPr/>
        </p:nvSpPr>
        <p:spPr>
          <a:xfrm>
            <a:off x="457200" y="2734056"/>
            <a:ext cx="3840480" cy="301752"/>
          </a:xfrm>
          <a:prstGeom prst="rect">
            <a:avLst/>
          </a:prstGeom>
          <a:solidFill>
            <a:srgbClr val="2A2A2A"/>
          </a:solidFill>
          <a:ln/>
        </p:spPr>
        <p:txBody>
          <a:bodyPr/>
          <a:lstStyle/>
          <a:p>
            <a:endParaRPr lang="en-US"/>
          </a:p>
        </p:txBody>
      </p:sp>
      <p:sp>
        <p:nvSpPr>
          <p:cNvPr id="15" name="Text 13"/>
          <p:cNvSpPr/>
          <p:nvPr/>
        </p:nvSpPr>
        <p:spPr>
          <a:xfrm>
            <a:off x="594360" y="2734056"/>
            <a:ext cx="3566160" cy="301752"/>
          </a:xfrm>
          <a:prstGeom prst="rect">
            <a:avLst/>
          </a:prstGeom>
          <a:noFill/>
          <a:ln/>
        </p:spPr>
        <p:txBody>
          <a:bodyPr wrap="square" lIns="0" tIns="0" rIns="0" bIns="0" rtlCol="0" anchor="ctr"/>
          <a:lstStyle/>
          <a:p>
            <a:pPr marL="0" indent="0" algn="l">
              <a:buNone/>
            </a:pPr>
            <a:r>
              <a:rPr lang="en-US" sz="1000" dirty="0">
                <a:solidFill>
                  <a:srgbClr val="CCCCCC"/>
                </a:solidFill>
                <a:latin typeface="Calibri" pitchFamily="34" charset="0"/>
                <a:ea typeface="Calibri" pitchFamily="34" charset="-122"/>
                <a:cs typeface="Calibri" pitchFamily="34" charset="-120"/>
              </a:rPr>
              <a:t>4.  SSH into systems, check logs manually</a:t>
            </a:r>
            <a:endParaRPr lang="en-US" sz="1000" dirty="0"/>
          </a:p>
        </p:txBody>
      </p:sp>
      <p:sp>
        <p:nvSpPr>
          <p:cNvPr id="16" name="Shape 14"/>
          <p:cNvSpPr/>
          <p:nvPr/>
        </p:nvSpPr>
        <p:spPr>
          <a:xfrm>
            <a:off x="457200" y="3081528"/>
            <a:ext cx="3840480" cy="301752"/>
          </a:xfrm>
          <a:prstGeom prst="rect">
            <a:avLst/>
          </a:prstGeom>
          <a:solidFill>
            <a:srgbClr val="242424"/>
          </a:solidFill>
          <a:ln/>
        </p:spPr>
        <p:txBody>
          <a:bodyPr/>
          <a:lstStyle/>
          <a:p>
            <a:endParaRPr lang="en-US"/>
          </a:p>
        </p:txBody>
      </p:sp>
      <p:sp>
        <p:nvSpPr>
          <p:cNvPr id="17" name="Text 15"/>
          <p:cNvSpPr/>
          <p:nvPr/>
        </p:nvSpPr>
        <p:spPr>
          <a:xfrm>
            <a:off x="594360" y="3081528"/>
            <a:ext cx="3566160" cy="301752"/>
          </a:xfrm>
          <a:prstGeom prst="rect">
            <a:avLst/>
          </a:prstGeom>
          <a:noFill/>
          <a:ln/>
        </p:spPr>
        <p:txBody>
          <a:bodyPr wrap="square" lIns="0" tIns="0" rIns="0" bIns="0" rtlCol="0" anchor="ctr"/>
          <a:lstStyle/>
          <a:p>
            <a:pPr marL="0" indent="0" algn="l">
              <a:buNone/>
            </a:pPr>
            <a:r>
              <a:rPr lang="en-US" sz="1000" dirty="0">
                <a:solidFill>
                  <a:srgbClr val="CCCCCC"/>
                </a:solidFill>
                <a:latin typeface="Calibri" pitchFamily="34" charset="0"/>
                <a:ea typeface="Calibri" pitchFamily="34" charset="-122"/>
                <a:cs typeface="Calibri" pitchFamily="34" charset="-120"/>
              </a:rPr>
              <a:t>5.  Check metrics dashboards one by one</a:t>
            </a:r>
            <a:endParaRPr lang="en-US" sz="1000" dirty="0"/>
          </a:p>
        </p:txBody>
      </p:sp>
      <p:sp>
        <p:nvSpPr>
          <p:cNvPr id="18" name="Shape 16"/>
          <p:cNvSpPr/>
          <p:nvPr/>
        </p:nvSpPr>
        <p:spPr>
          <a:xfrm>
            <a:off x="457200" y="3429000"/>
            <a:ext cx="3840480" cy="301752"/>
          </a:xfrm>
          <a:prstGeom prst="rect">
            <a:avLst/>
          </a:prstGeom>
          <a:solidFill>
            <a:srgbClr val="2A2A2A"/>
          </a:solidFill>
          <a:ln/>
        </p:spPr>
        <p:txBody>
          <a:bodyPr/>
          <a:lstStyle/>
          <a:p>
            <a:endParaRPr lang="en-US"/>
          </a:p>
        </p:txBody>
      </p:sp>
      <p:sp>
        <p:nvSpPr>
          <p:cNvPr id="19" name="Text 17"/>
          <p:cNvSpPr/>
          <p:nvPr/>
        </p:nvSpPr>
        <p:spPr>
          <a:xfrm>
            <a:off x="594360" y="3429000"/>
            <a:ext cx="3566160" cy="301752"/>
          </a:xfrm>
          <a:prstGeom prst="rect">
            <a:avLst/>
          </a:prstGeom>
          <a:noFill/>
          <a:ln/>
        </p:spPr>
        <p:txBody>
          <a:bodyPr wrap="square" lIns="0" tIns="0" rIns="0" bIns="0" rtlCol="0" anchor="ctr"/>
          <a:lstStyle/>
          <a:p>
            <a:pPr marL="0" indent="0" algn="l">
              <a:buNone/>
            </a:pPr>
            <a:r>
              <a:rPr lang="en-US" sz="1000" dirty="0">
                <a:solidFill>
                  <a:srgbClr val="CCCCCC"/>
                </a:solidFill>
                <a:latin typeface="Calibri" pitchFamily="34" charset="0"/>
                <a:ea typeface="Calibri" pitchFamily="34" charset="-122"/>
                <a:cs typeface="Calibri" pitchFamily="34" charset="-120"/>
              </a:rPr>
              <a:t>6.  Look at recent deployments / changes</a:t>
            </a:r>
            <a:endParaRPr lang="en-US" sz="1000" dirty="0"/>
          </a:p>
        </p:txBody>
      </p:sp>
      <p:sp>
        <p:nvSpPr>
          <p:cNvPr id="20" name="Shape 18"/>
          <p:cNvSpPr/>
          <p:nvPr/>
        </p:nvSpPr>
        <p:spPr>
          <a:xfrm>
            <a:off x="457200" y="3776472"/>
            <a:ext cx="3840480" cy="301752"/>
          </a:xfrm>
          <a:prstGeom prst="rect">
            <a:avLst/>
          </a:prstGeom>
          <a:solidFill>
            <a:srgbClr val="242424"/>
          </a:solidFill>
          <a:ln/>
        </p:spPr>
        <p:txBody>
          <a:bodyPr/>
          <a:lstStyle/>
          <a:p>
            <a:endParaRPr lang="en-US"/>
          </a:p>
        </p:txBody>
      </p:sp>
      <p:sp>
        <p:nvSpPr>
          <p:cNvPr id="21" name="Text 19"/>
          <p:cNvSpPr/>
          <p:nvPr/>
        </p:nvSpPr>
        <p:spPr>
          <a:xfrm>
            <a:off x="594360" y="3776472"/>
            <a:ext cx="3566160" cy="301752"/>
          </a:xfrm>
          <a:prstGeom prst="rect">
            <a:avLst/>
          </a:prstGeom>
          <a:noFill/>
          <a:ln/>
        </p:spPr>
        <p:txBody>
          <a:bodyPr wrap="square" lIns="0" tIns="0" rIns="0" bIns="0" rtlCol="0" anchor="ctr"/>
          <a:lstStyle/>
          <a:p>
            <a:pPr marL="0" indent="0" algn="l">
              <a:buNone/>
            </a:pPr>
            <a:r>
              <a:rPr lang="en-US" sz="1000" dirty="0">
                <a:solidFill>
                  <a:srgbClr val="CCCCCC"/>
                </a:solidFill>
                <a:latin typeface="Calibri" pitchFamily="34" charset="0"/>
                <a:ea typeface="Calibri" pitchFamily="34" charset="-122"/>
                <a:cs typeface="Calibri" pitchFamily="34" charset="-120"/>
              </a:rPr>
              <a:t>7.  Correlate findings mentally</a:t>
            </a:r>
            <a:endParaRPr lang="en-US" sz="1000" dirty="0"/>
          </a:p>
        </p:txBody>
      </p:sp>
      <p:sp>
        <p:nvSpPr>
          <p:cNvPr id="22" name="Shape 20"/>
          <p:cNvSpPr/>
          <p:nvPr/>
        </p:nvSpPr>
        <p:spPr>
          <a:xfrm>
            <a:off x="457200" y="4123944"/>
            <a:ext cx="3840480" cy="301752"/>
          </a:xfrm>
          <a:prstGeom prst="rect">
            <a:avLst/>
          </a:prstGeom>
          <a:solidFill>
            <a:srgbClr val="2A2A2A"/>
          </a:solidFill>
          <a:ln/>
        </p:spPr>
        <p:txBody>
          <a:bodyPr/>
          <a:lstStyle/>
          <a:p>
            <a:endParaRPr lang="en-US"/>
          </a:p>
        </p:txBody>
      </p:sp>
      <p:sp>
        <p:nvSpPr>
          <p:cNvPr id="23" name="Text 21"/>
          <p:cNvSpPr/>
          <p:nvPr/>
        </p:nvSpPr>
        <p:spPr>
          <a:xfrm>
            <a:off x="594360" y="4123944"/>
            <a:ext cx="3566160" cy="301752"/>
          </a:xfrm>
          <a:prstGeom prst="rect">
            <a:avLst/>
          </a:prstGeom>
          <a:noFill/>
          <a:ln/>
        </p:spPr>
        <p:txBody>
          <a:bodyPr wrap="square" lIns="0" tIns="0" rIns="0" bIns="0" rtlCol="0" anchor="ctr"/>
          <a:lstStyle/>
          <a:p>
            <a:pPr marL="0" indent="0" algn="l">
              <a:buNone/>
            </a:pPr>
            <a:r>
              <a:rPr lang="en-US" sz="1000" dirty="0">
                <a:solidFill>
                  <a:srgbClr val="CCCCCC"/>
                </a:solidFill>
                <a:latin typeface="Calibri" pitchFamily="34" charset="0"/>
                <a:ea typeface="Calibri" pitchFamily="34" charset="-122"/>
                <a:cs typeface="Calibri" pitchFamily="34" charset="-120"/>
              </a:rPr>
              <a:t>8.  Write up RCA from scratch</a:t>
            </a:r>
            <a:endParaRPr lang="en-US" sz="1000" dirty="0"/>
          </a:p>
        </p:txBody>
      </p:sp>
      <p:sp>
        <p:nvSpPr>
          <p:cNvPr id="24" name="Shape 22"/>
          <p:cNvSpPr/>
          <p:nvPr/>
        </p:nvSpPr>
        <p:spPr>
          <a:xfrm>
            <a:off x="4846320" y="1188720"/>
            <a:ext cx="3840480" cy="365760"/>
          </a:xfrm>
          <a:prstGeom prst="rect">
            <a:avLst/>
          </a:prstGeom>
          <a:solidFill>
            <a:srgbClr val="3CB371"/>
          </a:solidFill>
          <a:ln/>
        </p:spPr>
        <p:txBody>
          <a:bodyPr/>
          <a:lstStyle/>
          <a:p>
            <a:endParaRPr lang="en-US"/>
          </a:p>
        </p:txBody>
      </p:sp>
      <p:sp>
        <p:nvSpPr>
          <p:cNvPr id="25" name="Text 23"/>
          <p:cNvSpPr/>
          <p:nvPr/>
        </p:nvSpPr>
        <p:spPr>
          <a:xfrm>
            <a:off x="4846320" y="1188720"/>
            <a:ext cx="3840480" cy="365760"/>
          </a:xfrm>
          <a:prstGeom prst="rect">
            <a:avLst/>
          </a:prstGeom>
          <a:noFill/>
          <a:ln/>
        </p:spPr>
        <p:txBody>
          <a:bodyPr wrap="square" lIns="0" tIns="0" rIns="0" bIns="0" rtlCol="0" anchor="ctr"/>
          <a:lstStyle/>
          <a:p>
            <a:pPr marL="0" indent="0" algn="ctr">
              <a:buNone/>
            </a:pPr>
            <a:r>
              <a:rPr lang="en-US" sz="1200" b="1" kern="0" spc="200" dirty="0">
                <a:solidFill>
                  <a:srgbClr val="FFFFFF"/>
                </a:solidFill>
                <a:latin typeface="Trebuchet MS" pitchFamily="34" charset="0"/>
                <a:ea typeface="Trebuchet MS" pitchFamily="34" charset="-122"/>
                <a:cs typeface="Trebuchet MS" pitchFamily="34" charset="-120"/>
              </a:rPr>
              <a:t>WITH SRE AI LAYER</a:t>
            </a:r>
            <a:endParaRPr lang="en-US" sz="1200" dirty="0"/>
          </a:p>
        </p:txBody>
      </p:sp>
      <p:sp>
        <p:nvSpPr>
          <p:cNvPr id="26" name="Shape 24"/>
          <p:cNvSpPr/>
          <p:nvPr/>
        </p:nvSpPr>
        <p:spPr>
          <a:xfrm>
            <a:off x="4846320" y="1691640"/>
            <a:ext cx="3840480" cy="301752"/>
          </a:xfrm>
          <a:prstGeom prst="rect">
            <a:avLst/>
          </a:prstGeom>
          <a:solidFill>
            <a:srgbClr val="242424"/>
          </a:solidFill>
          <a:ln/>
        </p:spPr>
        <p:txBody>
          <a:bodyPr/>
          <a:lstStyle/>
          <a:p>
            <a:endParaRPr lang="en-US"/>
          </a:p>
        </p:txBody>
      </p:sp>
      <p:sp>
        <p:nvSpPr>
          <p:cNvPr id="27" name="Text 25"/>
          <p:cNvSpPr/>
          <p:nvPr/>
        </p:nvSpPr>
        <p:spPr>
          <a:xfrm>
            <a:off x="4983480" y="1691640"/>
            <a:ext cx="3566160" cy="301752"/>
          </a:xfrm>
          <a:prstGeom prst="rect">
            <a:avLst/>
          </a:prstGeom>
          <a:noFill/>
          <a:ln/>
        </p:spPr>
        <p:txBody>
          <a:bodyPr wrap="square" lIns="0" tIns="0" rIns="0" bIns="0" rtlCol="0" anchor="ctr"/>
          <a:lstStyle/>
          <a:p>
            <a:pPr marL="0" indent="0" algn="l">
              <a:buNone/>
            </a:pPr>
            <a:r>
              <a:rPr lang="en-US" sz="1000" dirty="0">
                <a:solidFill>
                  <a:srgbClr val="CCCCCC"/>
                </a:solidFill>
                <a:latin typeface="Calibri" pitchFamily="34" charset="0"/>
                <a:ea typeface="Calibri" pitchFamily="34" charset="-122"/>
                <a:cs typeface="Calibri" pitchFamily="34" charset="-120"/>
              </a:rPr>
              <a:t>1.  Alert triggers → AI agent auto-invoked</a:t>
            </a:r>
            <a:endParaRPr lang="en-US" sz="1000" dirty="0"/>
          </a:p>
        </p:txBody>
      </p:sp>
      <p:sp>
        <p:nvSpPr>
          <p:cNvPr id="28" name="Shape 26"/>
          <p:cNvSpPr/>
          <p:nvPr/>
        </p:nvSpPr>
        <p:spPr>
          <a:xfrm>
            <a:off x="4846320" y="2039112"/>
            <a:ext cx="3840480" cy="301752"/>
          </a:xfrm>
          <a:prstGeom prst="rect">
            <a:avLst/>
          </a:prstGeom>
          <a:solidFill>
            <a:srgbClr val="2A2A2A"/>
          </a:solidFill>
          <a:ln/>
        </p:spPr>
        <p:txBody>
          <a:bodyPr/>
          <a:lstStyle/>
          <a:p>
            <a:endParaRPr lang="en-US"/>
          </a:p>
        </p:txBody>
      </p:sp>
      <p:sp>
        <p:nvSpPr>
          <p:cNvPr id="29" name="Text 27"/>
          <p:cNvSpPr/>
          <p:nvPr/>
        </p:nvSpPr>
        <p:spPr>
          <a:xfrm>
            <a:off x="4983480" y="2039112"/>
            <a:ext cx="3566160" cy="301752"/>
          </a:xfrm>
          <a:prstGeom prst="rect">
            <a:avLst/>
          </a:prstGeom>
          <a:noFill/>
          <a:ln/>
        </p:spPr>
        <p:txBody>
          <a:bodyPr wrap="square" lIns="0" tIns="0" rIns="0" bIns="0" rtlCol="0" anchor="ctr"/>
          <a:lstStyle/>
          <a:p>
            <a:pPr marL="0" indent="0" algn="l">
              <a:buNone/>
            </a:pPr>
            <a:r>
              <a:rPr lang="en-US" sz="1000" dirty="0">
                <a:solidFill>
                  <a:srgbClr val="CCCCCC"/>
                </a:solidFill>
                <a:latin typeface="Calibri" pitchFamily="34" charset="0"/>
                <a:ea typeface="Calibri" pitchFamily="34" charset="-122"/>
                <a:cs typeface="Calibri" pitchFamily="34" charset="-120"/>
              </a:rPr>
              <a:t>2.  Agent queries all relevant data sources</a:t>
            </a:r>
            <a:endParaRPr lang="en-US" sz="1000" dirty="0"/>
          </a:p>
        </p:txBody>
      </p:sp>
      <p:sp>
        <p:nvSpPr>
          <p:cNvPr id="30" name="Shape 28"/>
          <p:cNvSpPr/>
          <p:nvPr/>
        </p:nvSpPr>
        <p:spPr>
          <a:xfrm>
            <a:off x="4846320" y="2386584"/>
            <a:ext cx="3840480" cy="301752"/>
          </a:xfrm>
          <a:prstGeom prst="rect">
            <a:avLst/>
          </a:prstGeom>
          <a:solidFill>
            <a:srgbClr val="242424"/>
          </a:solidFill>
          <a:ln/>
        </p:spPr>
        <p:txBody>
          <a:bodyPr/>
          <a:lstStyle/>
          <a:p>
            <a:endParaRPr lang="en-US"/>
          </a:p>
        </p:txBody>
      </p:sp>
      <p:sp>
        <p:nvSpPr>
          <p:cNvPr id="31" name="Text 29"/>
          <p:cNvSpPr/>
          <p:nvPr/>
        </p:nvSpPr>
        <p:spPr>
          <a:xfrm>
            <a:off x="4983480" y="2386584"/>
            <a:ext cx="3566160" cy="301752"/>
          </a:xfrm>
          <a:prstGeom prst="rect">
            <a:avLst/>
          </a:prstGeom>
          <a:noFill/>
          <a:ln/>
        </p:spPr>
        <p:txBody>
          <a:bodyPr wrap="square" lIns="0" tIns="0" rIns="0" bIns="0" rtlCol="0" anchor="ctr"/>
          <a:lstStyle/>
          <a:p>
            <a:pPr marL="0" indent="0" algn="l">
              <a:buNone/>
            </a:pPr>
            <a:r>
              <a:rPr lang="en-US" sz="1000" dirty="0">
                <a:solidFill>
                  <a:srgbClr val="CCCCCC"/>
                </a:solidFill>
                <a:latin typeface="Calibri" pitchFamily="34" charset="0"/>
                <a:ea typeface="Calibri" pitchFamily="34" charset="-122"/>
                <a:cs typeface="Calibri" pitchFamily="34" charset="-120"/>
              </a:rPr>
              <a:t>3.  Retrieves runbooks + past incident context</a:t>
            </a:r>
            <a:endParaRPr lang="en-US" sz="1000" dirty="0"/>
          </a:p>
        </p:txBody>
      </p:sp>
      <p:sp>
        <p:nvSpPr>
          <p:cNvPr id="32" name="Shape 30"/>
          <p:cNvSpPr/>
          <p:nvPr/>
        </p:nvSpPr>
        <p:spPr>
          <a:xfrm>
            <a:off x="4846320" y="2734056"/>
            <a:ext cx="3840480" cy="301752"/>
          </a:xfrm>
          <a:prstGeom prst="rect">
            <a:avLst/>
          </a:prstGeom>
          <a:solidFill>
            <a:srgbClr val="2A2A2A"/>
          </a:solidFill>
          <a:ln/>
        </p:spPr>
        <p:txBody>
          <a:bodyPr/>
          <a:lstStyle/>
          <a:p>
            <a:endParaRPr lang="en-US"/>
          </a:p>
        </p:txBody>
      </p:sp>
      <p:sp>
        <p:nvSpPr>
          <p:cNvPr id="33" name="Text 31"/>
          <p:cNvSpPr/>
          <p:nvPr/>
        </p:nvSpPr>
        <p:spPr>
          <a:xfrm>
            <a:off x="4983480" y="2734056"/>
            <a:ext cx="3566160" cy="301752"/>
          </a:xfrm>
          <a:prstGeom prst="rect">
            <a:avLst/>
          </a:prstGeom>
          <a:noFill/>
          <a:ln/>
        </p:spPr>
        <p:txBody>
          <a:bodyPr wrap="square" lIns="0" tIns="0" rIns="0" bIns="0" rtlCol="0" anchor="ctr"/>
          <a:lstStyle/>
          <a:p>
            <a:pPr marL="0" indent="0" algn="l">
              <a:buNone/>
            </a:pPr>
            <a:r>
              <a:rPr lang="en-US" sz="1000" dirty="0">
                <a:solidFill>
                  <a:srgbClr val="CCCCCC"/>
                </a:solidFill>
                <a:latin typeface="Calibri" pitchFamily="34" charset="0"/>
                <a:ea typeface="Calibri" pitchFamily="34" charset="-122"/>
                <a:cs typeface="Calibri" pitchFamily="34" charset="-120"/>
              </a:rPr>
              <a:t>4.  Pulls logs, events, pod status via MCP</a:t>
            </a:r>
            <a:endParaRPr lang="en-US" sz="1000" dirty="0"/>
          </a:p>
        </p:txBody>
      </p:sp>
      <p:sp>
        <p:nvSpPr>
          <p:cNvPr id="34" name="Shape 32"/>
          <p:cNvSpPr/>
          <p:nvPr/>
        </p:nvSpPr>
        <p:spPr>
          <a:xfrm>
            <a:off x="4846320" y="3081528"/>
            <a:ext cx="3840480" cy="301752"/>
          </a:xfrm>
          <a:prstGeom prst="rect">
            <a:avLst/>
          </a:prstGeom>
          <a:solidFill>
            <a:srgbClr val="242424"/>
          </a:solidFill>
          <a:ln/>
        </p:spPr>
        <p:txBody>
          <a:bodyPr/>
          <a:lstStyle/>
          <a:p>
            <a:endParaRPr lang="en-US"/>
          </a:p>
        </p:txBody>
      </p:sp>
      <p:sp>
        <p:nvSpPr>
          <p:cNvPr id="35" name="Text 33"/>
          <p:cNvSpPr/>
          <p:nvPr/>
        </p:nvSpPr>
        <p:spPr>
          <a:xfrm>
            <a:off x="4983480" y="3081528"/>
            <a:ext cx="3566160" cy="301752"/>
          </a:xfrm>
          <a:prstGeom prst="rect">
            <a:avLst/>
          </a:prstGeom>
          <a:noFill/>
          <a:ln/>
        </p:spPr>
        <p:txBody>
          <a:bodyPr wrap="square" lIns="0" tIns="0" rIns="0" bIns="0" rtlCol="0" anchor="ctr"/>
          <a:lstStyle/>
          <a:p>
            <a:pPr marL="0" indent="0" algn="l">
              <a:buNone/>
            </a:pPr>
            <a:r>
              <a:rPr lang="en-US" sz="1000" dirty="0">
                <a:solidFill>
                  <a:srgbClr val="CCCCCC"/>
                </a:solidFill>
                <a:latin typeface="Calibri" pitchFamily="34" charset="0"/>
                <a:ea typeface="Calibri" pitchFamily="34" charset="-122"/>
                <a:cs typeface="Calibri" pitchFamily="34" charset="-120"/>
              </a:rPr>
              <a:t>5.  Correlates metrics automatically</a:t>
            </a:r>
            <a:endParaRPr lang="en-US" sz="1000" dirty="0"/>
          </a:p>
        </p:txBody>
      </p:sp>
      <p:sp>
        <p:nvSpPr>
          <p:cNvPr id="36" name="Shape 34"/>
          <p:cNvSpPr/>
          <p:nvPr/>
        </p:nvSpPr>
        <p:spPr>
          <a:xfrm>
            <a:off x="4846320" y="3429000"/>
            <a:ext cx="3840480" cy="301752"/>
          </a:xfrm>
          <a:prstGeom prst="rect">
            <a:avLst/>
          </a:prstGeom>
          <a:solidFill>
            <a:srgbClr val="2A2A2A"/>
          </a:solidFill>
          <a:ln/>
        </p:spPr>
        <p:txBody>
          <a:bodyPr/>
          <a:lstStyle/>
          <a:p>
            <a:endParaRPr lang="en-US"/>
          </a:p>
        </p:txBody>
      </p:sp>
      <p:sp>
        <p:nvSpPr>
          <p:cNvPr id="37" name="Text 35"/>
          <p:cNvSpPr/>
          <p:nvPr/>
        </p:nvSpPr>
        <p:spPr>
          <a:xfrm>
            <a:off x="4983480" y="3429000"/>
            <a:ext cx="3566160" cy="301752"/>
          </a:xfrm>
          <a:prstGeom prst="rect">
            <a:avLst/>
          </a:prstGeom>
          <a:noFill/>
          <a:ln/>
        </p:spPr>
        <p:txBody>
          <a:bodyPr wrap="square" lIns="0" tIns="0" rIns="0" bIns="0" rtlCol="0" anchor="ctr"/>
          <a:lstStyle/>
          <a:p>
            <a:pPr marL="0" indent="0" algn="l">
              <a:buNone/>
            </a:pPr>
            <a:r>
              <a:rPr lang="en-US" sz="1000" dirty="0">
                <a:solidFill>
                  <a:srgbClr val="CCCCCC"/>
                </a:solidFill>
                <a:latin typeface="Calibri" pitchFamily="34" charset="0"/>
                <a:ea typeface="Calibri" pitchFamily="34" charset="-122"/>
                <a:cs typeface="Calibri" pitchFamily="34" charset="-120"/>
              </a:rPr>
              <a:t>6.  Checks deployment history if available</a:t>
            </a:r>
            <a:endParaRPr lang="en-US" sz="1000" dirty="0"/>
          </a:p>
        </p:txBody>
      </p:sp>
      <p:sp>
        <p:nvSpPr>
          <p:cNvPr id="38" name="Shape 36"/>
          <p:cNvSpPr/>
          <p:nvPr/>
        </p:nvSpPr>
        <p:spPr>
          <a:xfrm>
            <a:off x="4846320" y="3776472"/>
            <a:ext cx="3840480" cy="301752"/>
          </a:xfrm>
          <a:prstGeom prst="rect">
            <a:avLst/>
          </a:prstGeom>
          <a:solidFill>
            <a:srgbClr val="242424"/>
          </a:solidFill>
          <a:ln/>
        </p:spPr>
        <p:txBody>
          <a:bodyPr/>
          <a:lstStyle/>
          <a:p>
            <a:endParaRPr lang="en-US"/>
          </a:p>
        </p:txBody>
      </p:sp>
      <p:sp>
        <p:nvSpPr>
          <p:cNvPr id="39" name="Text 37"/>
          <p:cNvSpPr/>
          <p:nvPr/>
        </p:nvSpPr>
        <p:spPr>
          <a:xfrm>
            <a:off x="4983480" y="3776472"/>
            <a:ext cx="3566160" cy="301752"/>
          </a:xfrm>
          <a:prstGeom prst="rect">
            <a:avLst/>
          </a:prstGeom>
          <a:noFill/>
          <a:ln/>
        </p:spPr>
        <p:txBody>
          <a:bodyPr wrap="square" lIns="0" tIns="0" rIns="0" bIns="0" rtlCol="0" anchor="ctr"/>
          <a:lstStyle/>
          <a:p>
            <a:pPr marL="0" indent="0" algn="l">
              <a:buNone/>
            </a:pPr>
            <a:r>
              <a:rPr lang="en-US" sz="1000" dirty="0">
                <a:solidFill>
                  <a:srgbClr val="CCCCCC"/>
                </a:solidFill>
                <a:latin typeface="Calibri" pitchFamily="34" charset="0"/>
                <a:ea typeface="Calibri" pitchFamily="34" charset="-122"/>
                <a:cs typeface="Calibri" pitchFamily="34" charset="-120"/>
              </a:rPr>
              <a:t>7.  AI reasons over evidence iteratively</a:t>
            </a:r>
            <a:endParaRPr lang="en-US" sz="1000" dirty="0"/>
          </a:p>
        </p:txBody>
      </p:sp>
      <p:sp>
        <p:nvSpPr>
          <p:cNvPr id="40" name="Shape 38"/>
          <p:cNvSpPr/>
          <p:nvPr/>
        </p:nvSpPr>
        <p:spPr>
          <a:xfrm>
            <a:off x="4846320" y="4123944"/>
            <a:ext cx="3840480" cy="301752"/>
          </a:xfrm>
          <a:prstGeom prst="rect">
            <a:avLst/>
          </a:prstGeom>
          <a:solidFill>
            <a:srgbClr val="2A2A2A"/>
          </a:solidFill>
          <a:ln/>
        </p:spPr>
        <p:txBody>
          <a:bodyPr/>
          <a:lstStyle/>
          <a:p>
            <a:endParaRPr lang="en-US"/>
          </a:p>
        </p:txBody>
      </p:sp>
      <p:sp>
        <p:nvSpPr>
          <p:cNvPr id="41" name="Text 39"/>
          <p:cNvSpPr/>
          <p:nvPr/>
        </p:nvSpPr>
        <p:spPr>
          <a:xfrm>
            <a:off x="4983480" y="4123944"/>
            <a:ext cx="3566160" cy="301752"/>
          </a:xfrm>
          <a:prstGeom prst="rect">
            <a:avLst/>
          </a:prstGeom>
          <a:noFill/>
          <a:ln/>
        </p:spPr>
        <p:txBody>
          <a:bodyPr wrap="square" lIns="0" tIns="0" rIns="0" bIns="0" rtlCol="0" anchor="ctr"/>
          <a:lstStyle/>
          <a:p>
            <a:pPr marL="0" indent="0" algn="l">
              <a:buNone/>
            </a:pPr>
            <a:r>
              <a:rPr lang="en-US" sz="1000" dirty="0">
                <a:solidFill>
                  <a:srgbClr val="CCCCCC"/>
                </a:solidFill>
                <a:latin typeface="Calibri" pitchFamily="34" charset="0"/>
                <a:ea typeface="Calibri" pitchFamily="34" charset="-122"/>
                <a:cs typeface="Calibri" pitchFamily="34" charset="-120"/>
              </a:rPr>
              <a:t>8.  Structured RCA delivered to engineer</a:t>
            </a:r>
            <a:endParaRPr lang="en-US" sz="1000" dirty="0"/>
          </a:p>
        </p:txBody>
      </p:sp>
      <p:sp>
        <p:nvSpPr>
          <p:cNvPr id="42" name="Shape 40"/>
          <p:cNvSpPr/>
          <p:nvPr/>
        </p:nvSpPr>
        <p:spPr>
          <a:xfrm>
            <a:off x="457200" y="4572000"/>
            <a:ext cx="3840480" cy="320040"/>
          </a:xfrm>
          <a:prstGeom prst="rect">
            <a:avLst/>
          </a:prstGeom>
          <a:solidFill>
            <a:srgbClr val="3D1010"/>
          </a:solidFill>
          <a:ln/>
        </p:spPr>
        <p:txBody>
          <a:bodyPr/>
          <a:lstStyle/>
          <a:p>
            <a:endParaRPr lang="en-US"/>
          </a:p>
        </p:txBody>
      </p:sp>
      <p:sp>
        <p:nvSpPr>
          <p:cNvPr id="43" name="Text 41"/>
          <p:cNvSpPr/>
          <p:nvPr/>
        </p:nvSpPr>
        <p:spPr>
          <a:xfrm>
            <a:off x="457200" y="4572000"/>
            <a:ext cx="3840480" cy="320040"/>
          </a:xfrm>
          <a:prstGeom prst="rect">
            <a:avLst/>
          </a:prstGeom>
          <a:noFill/>
          <a:ln/>
        </p:spPr>
        <p:txBody>
          <a:bodyPr wrap="square" lIns="0" tIns="0" rIns="0" bIns="0" rtlCol="0" anchor="ctr"/>
          <a:lstStyle/>
          <a:p>
            <a:pPr marL="0" indent="0" algn="ctr">
              <a:buNone/>
            </a:pPr>
            <a:r>
              <a:rPr lang="en-US" sz="1100" b="1" dirty="0">
                <a:solidFill>
                  <a:srgbClr val="E74C3C"/>
                </a:solidFill>
                <a:latin typeface="Calibri" pitchFamily="34" charset="0"/>
                <a:ea typeface="Calibri" pitchFamily="34" charset="-122"/>
                <a:cs typeface="Calibri" pitchFamily="34" charset="-120"/>
              </a:rPr>
              <a:t>⏱  30–60 min avg MTTR</a:t>
            </a:r>
            <a:endParaRPr lang="en-US" sz="1100" dirty="0"/>
          </a:p>
        </p:txBody>
      </p:sp>
      <p:sp>
        <p:nvSpPr>
          <p:cNvPr id="44" name="Shape 42"/>
          <p:cNvSpPr/>
          <p:nvPr/>
        </p:nvSpPr>
        <p:spPr>
          <a:xfrm>
            <a:off x="4846320" y="4572000"/>
            <a:ext cx="3840480" cy="320040"/>
          </a:xfrm>
          <a:prstGeom prst="rect">
            <a:avLst/>
          </a:prstGeom>
          <a:solidFill>
            <a:srgbClr val="0D2E1A"/>
          </a:solidFill>
          <a:ln/>
        </p:spPr>
        <p:txBody>
          <a:bodyPr/>
          <a:lstStyle/>
          <a:p>
            <a:endParaRPr lang="en-US"/>
          </a:p>
        </p:txBody>
      </p:sp>
      <p:sp>
        <p:nvSpPr>
          <p:cNvPr id="45" name="Text 43"/>
          <p:cNvSpPr/>
          <p:nvPr/>
        </p:nvSpPr>
        <p:spPr>
          <a:xfrm>
            <a:off x="4846320" y="4572000"/>
            <a:ext cx="3840480" cy="320040"/>
          </a:xfrm>
          <a:prstGeom prst="rect">
            <a:avLst/>
          </a:prstGeom>
          <a:noFill/>
          <a:ln/>
        </p:spPr>
        <p:txBody>
          <a:bodyPr wrap="square" lIns="0" tIns="0" rIns="0" bIns="0" rtlCol="0" anchor="ctr"/>
          <a:lstStyle/>
          <a:p>
            <a:pPr marL="0" indent="0" algn="ctr">
              <a:buNone/>
            </a:pPr>
            <a:r>
              <a:rPr lang="en-US" sz="1100" b="1" dirty="0">
                <a:solidFill>
                  <a:srgbClr val="3CB371"/>
                </a:solidFill>
                <a:latin typeface="Calibri" pitchFamily="34" charset="0"/>
                <a:ea typeface="Calibri" pitchFamily="34" charset="-122"/>
                <a:cs typeface="Calibri" pitchFamily="34" charset="-120"/>
              </a:rPr>
              <a:t>⚡  &lt; 2 min context + RCA draft</a:t>
            </a:r>
            <a:endParaRPr lang="en-US" sz="1100" dirty="0"/>
          </a:p>
        </p:txBody>
      </p:sp>
      <p:sp>
        <p:nvSpPr>
          <p:cNvPr id="47" name="Right Bracket 46">
            <a:extLst>
              <a:ext uri="{FF2B5EF4-FFF2-40B4-BE49-F238E27FC236}">
                <a16:creationId xmlns:a16="http://schemas.microsoft.com/office/drawing/2014/main" id="{CC532CF3-AD91-CFA3-D038-33F0CCFA8234}"/>
              </a:ext>
            </a:extLst>
          </p:cNvPr>
          <p:cNvSpPr/>
          <p:nvPr/>
        </p:nvSpPr>
        <p:spPr>
          <a:xfrm>
            <a:off x="4301401" y="2039112"/>
            <a:ext cx="112705" cy="2386584"/>
          </a:xfrm>
          <a:prstGeom prst="rightBracket">
            <a:avLst/>
          </a:prstGeom>
          <a:solidFill>
            <a:srgbClr val="00B050"/>
          </a:solidFill>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chemeClr val="bg1"/>
        </a:solidFill>
        <a:effectLst/>
      </p:bgPr>
    </p:bg>
    <p:spTree>
      <p:nvGrpSpPr>
        <p:cNvPr id="1" name=""/>
        <p:cNvGrpSpPr/>
        <p:nvPr/>
      </p:nvGrpSpPr>
      <p:grpSpPr>
        <a:xfrm>
          <a:off x="0" y="0"/>
          <a:ext cx="0" cy="0"/>
          <a:chOff x="0" y="0"/>
          <a:chExt cx="0" cy="0"/>
        </a:xfrm>
      </p:grpSpPr>
      <p:sp>
        <p:nvSpPr>
          <p:cNvPr id="2" name="Text 0"/>
          <p:cNvSpPr/>
          <p:nvPr/>
        </p:nvSpPr>
        <p:spPr>
          <a:xfrm>
            <a:off x="7589520" y="137160"/>
            <a:ext cx="1371600" cy="274320"/>
          </a:xfrm>
          <a:prstGeom prst="rect">
            <a:avLst/>
          </a:prstGeom>
          <a:noFill/>
          <a:ln/>
        </p:spPr>
        <p:txBody>
          <a:bodyPr wrap="square" lIns="0" tIns="0" rIns="0" bIns="0" rtlCol="0" anchor="ctr"/>
          <a:lstStyle/>
          <a:p>
            <a:pPr marL="0" indent="0" algn="r">
              <a:buNone/>
            </a:pPr>
            <a:r>
              <a:rPr lang="en-US" sz="1200" b="1" kern="0" spc="300" dirty="0">
                <a:solidFill>
                  <a:srgbClr val="3CB371"/>
                </a:solidFill>
                <a:latin typeface="Trebuchet MS" pitchFamily="34" charset="0"/>
                <a:ea typeface="Trebuchet MS" pitchFamily="34" charset="-122"/>
                <a:cs typeface="Trebuchet MS" pitchFamily="34" charset="-120"/>
              </a:rPr>
              <a:t>SECTIGO</a:t>
            </a:r>
            <a:endParaRPr lang="en-US" sz="1200" dirty="0"/>
          </a:p>
        </p:txBody>
      </p:sp>
      <p:sp>
        <p:nvSpPr>
          <p:cNvPr id="3" name="Text 1"/>
          <p:cNvSpPr/>
          <p:nvPr/>
        </p:nvSpPr>
        <p:spPr>
          <a:xfrm>
            <a:off x="457200" y="1097280"/>
            <a:ext cx="1828800" cy="1371600"/>
          </a:xfrm>
          <a:prstGeom prst="rect">
            <a:avLst/>
          </a:prstGeom>
          <a:noFill/>
          <a:ln/>
        </p:spPr>
        <p:txBody>
          <a:bodyPr wrap="square" lIns="0" tIns="0" rIns="0" bIns="0" rtlCol="0" anchor="ctr"/>
          <a:lstStyle/>
          <a:p>
            <a:pPr marL="0" indent="0" algn="l">
              <a:buNone/>
            </a:pPr>
            <a:r>
              <a:rPr lang="en-US" sz="7200" b="1" dirty="0">
                <a:solidFill>
                  <a:srgbClr val="E8751A"/>
                </a:solidFill>
                <a:latin typeface="Georgia" pitchFamily="34" charset="0"/>
                <a:ea typeface="Georgia" pitchFamily="34" charset="-122"/>
                <a:cs typeface="Georgia" pitchFamily="34" charset="-120"/>
              </a:rPr>
              <a:t>03</a:t>
            </a:r>
            <a:endParaRPr lang="en-US" sz="7200" dirty="0"/>
          </a:p>
        </p:txBody>
      </p:sp>
      <p:sp>
        <p:nvSpPr>
          <p:cNvPr id="4" name="Shape 2"/>
          <p:cNvSpPr/>
          <p:nvPr/>
        </p:nvSpPr>
        <p:spPr>
          <a:xfrm>
            <a:off x="457200" y="2560320"/>
            <a:ext cx="2743200" cy="0"/>
          </a:xfrm>
          <a:prstGeom prst="line">
            <a:avLst/>
          </a:prstGeom>
          <a:noFill/>
          <a:ln w="38100">
            <a:solidFill>
              <a:srgbClr val="E8751A"/>
            </a:solidFill>
            <a:prstDash val="solid"/>
          </a:ln>
        </p:spPr>
        <p:txBody>
          <a:bodyPr/>
          <a:lstStyle/>
          <a:p>
            <a:endParaRPr lang="en-US"/>
          </a:p>
        </p:txBody>
      </p:sp>
      <p:sp>
        <p:nvSpPr>
          <p:cNvPr id="5" name="Text 3"/>
          <p:cNvSpPr/>
          <p:nvPr/>
        </p:nvSpPr>
        <p:spPr>
          <a:xfrm>
            <a:off x="457200" y="2743200"/>
            <a:ext cx="8229600" cy="914400"/>
          </a:xfrm>
          <a:prstGeom prst="rect">
            <a:avLst/>
          </a:prstGeom>
          <a:noFill/>
          <a:ln/>
        </p:spPr>
        <p:txBody>
          <a:bodyPr wrap="square" lIns="0" tIns="0" rIns="0" bIns="0" rtlCol="0" anchor="ctr"/>
          <a:lstStyle/>
          <a:p>
            <a:pPr marL="0" indent="0" algn="l">
              <a:buNone/>
            </a:pPr>
            <a:r>
              <a:rPr lang="en-US" sz="3600" b="1" dirty="0">
                <a:latin typeface="Georgia" pitchFamily="34" charset="0"/>
                <a:ea typeface="Georgia" pitchFamily="34" charset="-122"/>
                <a:cs typeface="Georgia" pitchFamily="34" charset="-120"/>
              </a:rPr>
              <a:t>How We Built It</a:t>
            </a:r>
            <a:endParaRPr lang="en-US" sz="3600" dirty="0"/>
          </a:p>
        </p:txBody>
      </p:sp>
      <p:sp>
        <p:nvSpPr>
          <p:cNvPr id="6" name="Text 4"/>
          <p:cNvSpPr/>
          <p:nvPr/>
        </p:nvSpPr>
        <p:spPr>
          <a:xfrm>
            <a:off x="457200" y="3566160"/>
            <a:ext cx="8229600" cy="457200"/>
          </a:xfrm>
          <a:prstGeom prst="rect">
            <a:avLst/>
          </a:prstGeom>
          <a:noFill/>
          <a:ln/>
        </p:spPr>
        <p:txBody>
          <a:bodyPr wrap="square" lIns="0" tIns="0" rIns="0" bIns="0" rtlCol="0" anchor="ctr"/>
          <a:lstStyle/>
          <a:p>
            <a:pPr marL="0" indent="0" algn="l">
              <a:buNone/>
            </a:pPr>
            <a:r>
              <a:rPr lang="en-US" sz="1400" dirty="0">
                <a:solidFill>
                  <a:srgbClr val="999999"/>
                </a:solidFill>
                <a:latin typeface="Calibri" pitchFamily="34" charset="0"/>
                <a:ea typeface="Calibri" pitchFamily="34" charset="-122"/>
                <a:cs typeface="Calibri" pitchFamily="34" charset="-120"/>
              </a:rPr>
              <a:t>Architecture, LangGraph reasoning, and MCP integration</a:t>
            </a:r>
            <a:endParaRPr lang="en-US" sz="1400" dirty="0"/>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589520" y="137160"/>
            <a:ext cx="1371600" cy="274320"/>
          </a:xfrm>
          <a:prstGeom prst="rect">
            <a:avLst/>
          </a:prstGeom>
          <a:noFill/>
        </p:spPr>
        <p:txBody>
          <a:bodyPr wrap="none">
            <a:spAutoFit/>
          </a:bodyPr>
          <a:lstStyle/>
          <a:p>
            <a:r>
              <a:rPr sz="1200" b="1">
                <a:solidFill>
                  <a:srgbClr val="3CB371"/>
                </a:solidFill>
                <a:latin typeface="Trebuchet MS"/>
              </a:rPr>
              <a:t>SECTIGO</a:t>
            </a:r>
          </a:p>
        </p:txBody>
      </p:sp>
      <p:sp>
        <p:nvSpPr>
          <p:cNvPr id="3" name="Rectangle 2"/>
          <p:cNvSpPr/>
          <p:nvPr/>
        </p:nvSpPr>
        <p:spPr>
          <a:xfrm>
            <a:off x="457200" y="182880"/>
            <a:ext cx="1554480" cy="256032"/>
          </a:xfrm>
          <a:prstGeom prst="rect">
            <a:avLst/>
          </a:prstGeom>
          <a:solidFill>
            <a:srgbClr val="3498DB"/>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1000" b="1">
                <a:solidFill>
                  <a:srgbClr val="1A1A1A"/>
                </a:solidFill>
                <a:latin typeface="Trebuchet MS"/>
              </a:rPr>
              <a:t>HOW WE BUILT IT</a:t>
            </a:r>
          </a:p>
        </p:txBody>
      </p:sp>
      <p:sp>
        <p:nvSpPr>
          <p:cNvPr id="4" name="TextBox 3"/>
          <p:cNvSpPr txBox="1"/>
          <p:nvPr/>
        </p:nvSpPr>
        <p:spPr>
          <a:xfrm>
            <a:off x="457200" y="594360"/>
            <a:ext cx="8229600" cy="411480"/>
          </a:xfrm>
          <a:prstGeom prst="rect">
            <a:avLst/>
          </a:prstGeom>
          <a:noFill/>
        </p:spPr>
        <p:txBody>
          <a:bodyPr wrap="square" anchor="t">
            <a:spAutoFit/>
          </a:bodyPr>
          <a:lstStyle/>
          <a:p>
            <a:pPr algn="l"/>
            <a:r>
              <a:rPr sz="2000" b="1" i="0">
                <a:solidFill>
                  <a:srgbClr val="131313"/>
                </a:solidFill>
                <a:latin typeface="Calibri"/>
              </a:rPr>
              <a:t>How a Request Flows — Today, Live</a:t>
            </a:r>
          </a:p>
        </p:txBody>
      </p:sp>
      <p:sp>
        <p:nvSpPr>
          <p:cNvPr id="5" name="Rectangle 4"/>
          <p:cNvSpPr/>
          <p:nvPr/>
        </p:nvSpPr>
        <p:spPr>
          <a:xfrm>
            <a:off x="457200" y="1417320"/>
            <a:ext cx="1536192" cy="1051560"/>
          </a:xfrm>
          <a:prstGeom prst="rect">
            <a:avLst/>
          </a:prstGeom>
          <a:solidFill>
            <a:srgbClr val="2424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457200" y="1417320"/>
            <a:ext cx="1536192" cy="36576"/>
          </a:xfrm>
          <a:prstGeom prst="rect">
            <a:avLst/>
          </a:prstGeom>
          <a:solidFill>
            <a:srgbClr val="1ABC9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30352" y="1600200"/>
            <a:ext cx="1389888" cy="411480"/>
          </a:xfrm>
          <a:prstGeom prst="rect">
            <a:avLst/>
          </a:prstGeom>
          <a:noFill/>
        </p:spPr>
        <p:txBody>
          <a:bodyPr wrap="square" anchor="t">
            <a:spAutoFit/>
          </a:bodyPr>
          <a:lstStyle/>
          <a:p>
            <a:pPr algn="l"/>
            <a:r>
              <a:rPr sz="1150" b="1" i="0">
                <a:solidFill>
                  <a:srgbClr val="FFFFFF"/>
                </a:solidFill>
                <a:latin typeface="Calibri"/>
              </a:rPr>
              <a:t>Invocation</a:t>
            </a:r>
          </a:p>
        </p:txBody>
      </p:sp>
      <p:sp>
        <p:nvSpPr>
          <p:cNvPr id="8" name="TextBox 7"/>
          <p:cNvSpPr txBox="1"/>
          <p:nvPr/>
        </p:nvSpPr>
        <p:spPr>
          <a:xfrm>
            <a:off x="530352" y="1965960"/>
            <a:ext cx="1389888" cy="457200"/>
          </a:xfrm>
          <a:prstGeom prst="rect">
            <a:avLst/>
          </a:prstGeom>
          <a:noFill/>
        </p:spPr>
        <p:txBody>
          <a:bodyPr wrap="square" anchor="t">
            <a:spAutoFit/>
          </a:bodyPr>
          <a:lstStyle/>
          <a:p>
            <a:pPr algn="l"/>
            <a:r>
              <a:rPr sz="900" b="0" i="0">
                <a:solidFill>
                  <a:srgbClr val="999999"/>
                </a:solidFill>
                <a:latin typeface="Calibri"/>
              </a:rPr>
              <a:t>Engineer / CLI</a:t>
            </a:r>
          </a:p>
        </p:txBody>
      </p:sp>
      <p:sp>
        <p:nvSpPr>
          <p:cNvPr id="9" name="TextBox 8"/>
          <p:cNvSpPr txBox="1"/>
          <p:nvPr/>
        </p:nvSpPr>
        <p:spPr>
          <a:xfrm>
            <a:off x="1993391" y="1737360"/>
            <a:ext cx="91440" cy="365760"/>
          </a:xfrm>
          <a:prstGeom prst="rect">
            <a:avLst/>
          </a:prstGeom>
          <a:noFill/>
        </p:spPr>
        <p:txBody>
          <a:bodyPr wrap="square" anchor="t">
            <a:spAutoFit/>
          </a:bodyPr>
          <a:lstStyle/>
          <a:p>
            <a:pPr algn="ctr"/>
            <a:r>
              <a:rPr sz="1600" b="0" i="0">
                <a:solidFill>
                  <a:srgbClr val="999999"/>
                </a:solidFill>
                <a:latin typeface="Calibri"/>
              </a:rPr>
              <a:t>→</a:t>
            </a:r>
          </a:p>
        </p:txBody>
      </p:sp>
      <p:sp>
        <p:nvSpPr>
          <p:cNvPr id="10" name="Rectangle 9"/>
          <p:cNvSpPr/>
          <p:nvPr/>
        </p:nvSpPr>
        <p:spPr>
          <a:xfrm>
            <a:off x="2084832" y="1417320"/>
            <a:ext cx="1536192" cy="1051560"/>
          </a:xfrm>
          <a:prstGeom prst="rect">
            <a:avLst/>
          </a:prstGeom>
          <a:solidFill>
            <a:srgbClr val="2424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2084832" y="1417320"/>
            <a:ext cx="1536192" cy="36576"/>
          </a:xfrm>
          <a:prstGeom prst="rect">
            <a:avLst/>
          </a:prstGeom>
          <a:solidFill>
            <a:srgbClr val="1ABC9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157984" y="1600200"/>
            <a:ext cx="1389888" cy="411480"/>
          </a:xfrm>
          <a:prstGeom prst="rect">
            <a:avLst/>
          </a:prstGeom>
          <a:noFill/>
        </p:spPr>
        <p:txBody>
          <a:bodyPr wrap="square" anchor="t">
            <a:spAutoFit/>
          </a:bodyPr>
          <a:lstStyle/>
          <a:p>
            <a:pPr algn="l"/>
            <a:r>
              <a:rPr sz="1150" b="1" i="0">
                <a:solidFill>
                  <a:srgbClr val="FFFFFF"/>
                </a:solidFill>
                <a:latin typeface="Calibri"/>
              </a:rPr>
              <a:t>Agent Engine</a:t>
            </a:r>
          </a:p>
        </p:txBody>
      </p:sp>
      <p:sp>
        <p:nvSpPr>
          <p:cNvPr id="13" name="TextBox 12"/>
          <p:cNvSpPr txBox="1"/>
          <p:nvPr/>
        </p:nvSpPr>
        <p:spPr>
          <a:xfrm>
            <a:off x="2157984" y="1965960"/>
            <a:ext cx="1389888" cy="457200"/>
          </a:xfrm>
          <a:prstGeom prst="rect">
            <a:avLst/>
          </a:prstGeom>
          <a:noFill/>
        </p:spPr>
        <p:txBody>
          <a:bodyPr wrap="square" anchor="t">
            <a:spAutoFit/>
          </a:bodyPr>
          <a:lstStyle/>
          <a:p>
            <a:pPr algn="l"/>
            <a:r>
              <a:rPr sz="900" b="0" i="0">
                <a:solidFill>
                  <a:srgbClr val="999999"/>
                </a:solidFill>
                <a:latin typeface="Calibri"/>
              </a:rPr>
              <a:t>Vertex AI · LangGraph</a:t>
            </a:r>
          </a:p>
        </p:txBody>
      </p:sp>
      <p:sp>
        <p:nvSpPr>
          <p:cNvPr id="14" name="TextBox 13"/>
          <p:cNvSpPr txBox="1"/>
          <p:nvPr/>
        </p:nvSpPr>
        <p:spPr>
          <a:xfrm>
            <a:off x="3621024" y="1737360"/>
            <a:ext cx="91440" cy="365760"/>
          </a:xfrm>
          <a:prstGeom prst="rect">
            <a:avLst/>
          </a:prstGeom>
          <a:noFill/>
        </p:spPr>
        <p:txBody>
          <a:bodyPr wrap="square" anchor="t">
            <a:spAutoFit/>
          </a:bodyPr>
          <a:lstStyle/>
          <a:p>
            <a:pPr algn="ctr"/>
            <a:r>
              <a:rPr sz="1600" b="0" i="0">
                <a:solidFill>
                  <a:srgbClr val="999999"/>
                </a:solidFill>
                <a:latin typeface="Calibri"/>
              </a:rPr>
              <a:t>→</a:t>
            </a:r>
          </a:p>
        </p:txBody>
      </p:sp>
      <p:sp>
        <p:nvSpPr>
          <p:cNvPr id="15" name="Rectangle 14"/>
          <p:cNvSpPr/>
          <p:nvPr/>
        </p:nvSpPr>
        <p:spPr>
          <a:xfrm>
            <a:off x="3712464" y="1417320"/>
            <a:ext cx="1536192" cy="1051560"/>
          </a:xfrm>
          <a:prstGeom prst="rect">
            <a:avLst/>
          </a:prstGeom>
          <a:solidFill>
            <a:srgbClr val="2424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3712464" y="1417320"/>
            <a:ext cx="1536192" cy="36576"/>
          </a:xfrm>
          <a:prstGeom prst="rect">
            <a:avLst/>
          </a:prstGeom>
          <a:solidFill>
            <a:srgbClr val="1ABC9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785616" y="1600200"/>
            <a:ext cx="1389888" cy="411480"/>
          </a:xfrm>
          <a:prstGeom prst="rect">
            <a:avLst/>
          </a:prstGeom>
          <a:noFill/>
        </p:spPr>
        <p:txBody>
          <a:bodyPr wrap="square" anchor="t">
            <a:spAutoFit/>
          </a:bodyPr>
          <a:lstStyle/>
          <a:p>
            <a:pPr algn="l"/>
            <a:r>
              <a:rPr sz="1150" b="1" i="0">
                <a:solidFill>
                  <a:srgbClr val="FFFFFF"/>
                </a:solidFill>
                <a:latin typeface="Calibri"/>
              </a:rPr>
              <a:t>Agent Gateway</a:t>
            </a:r>
          </a:p>
        </p:txBody>
      </p:sp>
      <p:sp>
        <p:nvSpPr>
          <p:cNvPr id="18" name="TextBox 17"/>
          <p:cNvSpPr txBox="1"/>
          <p:nvPr/>
        </p:nvSpPr>
        <p:spPr>
          <a:xfrm>
            <a:off x="3785616" y="1965960"/>
            <a:ext cx="1389888" cy="457200"/>
          </a:xfrm>
          <a:prstGeom prst="rect">
            <a:avLst/>
          </a:prstGeom>
          <a:noFill/>
        </p:spPr>
        <p:txBody>
          <a:bodyPr wrap="square" anchor="t">
            <a:spAutoFit/>
          </a:bodyPr>
          <a:lstStyle/>
          <a:p>
            <a:pPr algn="l"/>
            <a:r>
              <a:rPr sz="900" b="0" i="0">
                <a:solidFill>
                  <a:srgbClr val="999999"/>
                </a:solidFill>
                <a:latin typeface="Calibri"/>
              </a:rPr>
              <a:t>Scoped identity · IAP</a:t>
            </a:r>
          </a:p>
        </p:txBody>
      </p:sp>
      <p:sp>
        <p:nvSpPr>
          <p:cNvPr id="19" name="TextBox 18"/>
          <p:cNvSpPr txBox="1"/>
          <p:nvPr/>
        </p:nvSpPr>
        <p:spPr>
          <a:xfrm>
            <a:off x="5248656" y="1737360"/>
            <a:ext cx="91440" cy="365760"/>
          </a:xfrm>
          <a:prstGeom prst="rect">
            <a:avLst/>
          </a:prstGeom>
          <a:noFill/>
        </p:spPr>
        <p:txBody>
          <a:bodyPr wrap="square" anchor="t">
            <a:spAutoFit/>
          </a:bodyPr>
          <a:lstStyle/>
          <a:p>
            <a:pPr algn="ctr"/>
            <a:r>
              <a:rPr sz="1600" b="0" i="0">
                <a:solidFill>
                  <a:srgbClr val="999999"/>
                </a:solidFill>
                <a:latin typeface="Calibri"/>
              </a:rPr>
              <a:t>→</a:t>
            </a:r>
          </a:p>
        </p:txBody>
      </p:sp>
      <p:sp>
        <p:nvSpPr>
          <p:cNvPr id="20" name="Rectangle 19"/>
          <p:cNvSpPr/>
          <p:nvPr/>
        </p:nvSpPr>
        <p:spPr>
          <a:xfrm>
            <a:off x="5340096" y="1417320"/>
            <a:ext cx="1536192" cy="1051560"/>
          </a:xfrm>
          <a:prstGeom prst="rect">
            <a:avLst/>
          </a:prstGeom>
          <a:solidFill>
            <a:srgbClr val="2424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5340096" y="1417320"/>
            <a:ext cx="1536192" cy="36576"/>
          </a:xfrm>
          <a:prstGeom prst="rect">
            <a:avLst/>
          </a:prstGeom>
          <a:solidFill>
            <a:srgbClr val="1ABC9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413248" y="1600200"/>
            <a:ext cx="1389888" cy="411480"/>
          </a:xfrm>
          <a:prstGeom prst="rect">
            <a:avLst/>
          </a:prstGeom>
          <a:noFill/>
        </p:spPr>
        <p:txBody>
          <a:bodyPr wrap="square" anchor="t">
            <a:spAutoFit/>
          </a:bodyPr>
          <a:lstStyle/>
          <a:p>
            <a:pPr algn="l"/>
            <a:r>
              <a:rPr sz="1150" b="1" i="0">
                <a:solidFill>
                  <a:srgbClr val="FFFFFF"/>
                </a:solidFill>
                <a:latin typeface="Calibri"/>
              </a:rPr>
              <a:t>GKE Remote MCP</a:t>
            </a:r>
          </a:p>
        </p:txBody>
      </p:sp>
      <p:sp>
        <p:nvSpPr>
          <p:cNvPr id="23" name="TextBox 22"/>
          <p:cNvSpPr txBox="1"/>
          <p:nvPr/>
        </p:nvSpPr>
        <p:spPr>
          <a:xfrm>
            <a:off x="5413248" y="1965960"/>
            <a:ext cx="1389888" cy="457200"/>
          </a:xfrm>
          <a:prstGeom prst="rect">
            <a:avLst/>
          </a:prstGeom>
          <a:noFill/>
        </p:spPr>
        <p:txBody>
          <a:bodyPr wrap="square" anchor="t">
            <a:spAutoFit/>
          </a:bodyPr>
          <a:lstStyle/>
          <a:p>
            <a:pPr algn="l"/>
            <a:r>
              <a:rPr sz="900" b="0" i="0">
                <a:solidFill>
                  <a:srgbClr val="999999"/>
                </a:solidFill>
                <a:latin typeface="Calibri"/>
              </a:rPr>
              <a:t>Google-managed</a:t>
            </a:r>
          </a:p>
        </p:txBody>
      </p:sp>
      <p:sp>
        <p:nvSpPr>
          <p:cNvPr id="24" name="TextBox 23"/>
          <p:cNvSpPr txBox="1"/>
          <p:nvPr/>
        </p:nvSpPr>
        <p:spPr>
          <a:xfrm>
            <a:off x="6876288" y="1737360"/>
            <a:ext cx="91440" cy="365760"/>
          </a:xfrm>
          <a:prstGeom prst="rect">
            <a:avLst/>
          </a:prstGeom>
          <a:noFill/>
        </p:spPr>
        <p:txBody>
          <a:bodyPr wrap="square" anchor="t">
            <a:spAutoFit/>
          </a:bodyPr>
          <a:lstStyle/>
          <a:p>
            <a:pPr algn="ctr"/>
            <a:r>
              <a:rPr sz="1600" b="0" i="0">
                <a:solidFill>
                  <a:srgbClr val="999999"/>
                </a:solidFill>
                <a:latin typeface="Calibri"/>
              </a:rPr>
              <a:t>→</a:t>
            </a:r>
          </a:p>
        </p:txBody>
      </p:sp>
      <p:sp>
        <p:nvSpPr>
          <p:cNvPr id="25" name="Rectangle 24"/>
          <p:cNvSpPr/>
          <p:nvPr/>
        </p:nvSpPr>
        <p:spPr>
          <a:xfrm>
            <a:off x="6967728" y="1417320"/>
            <a:ext cx="1536192" cy="1051560"/>
          </a:xfrm>
          <a:prstGeom prst="rect">
            <a:avLst/>
          </a:prstGeom>
          <a:solidFill>
            <a:srgbClr val="2424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6967728" y="1417320"/>
            <a:ext cx="1536192" cy="36576"/>
          </a:xfrm>
          <a:prstGeom prst="rect">
            <a:avLst/>
          </a:prstGeom>
          <a:solidFill>
            <a:srgbClr val="1ABC9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040880" y="1600200"/>
            <a:ext cx="1389888" cy="411480"/>
          </a:xfrm>
          <a:prstGeom prst="rect">
            <a:avLst/>
          </a:prstGeom>
          <a:noFill/>
        </p:spPr>
        <p:txBody>
          <a:bodyPr wrap="square" anchor="t">
            <a:spAutoFit/>
          </a:bodyPr>
          <a:lstStyle/>
          <a:p>
            <a:pPr algn="l"/>
            <a:r>
              <a:rPr sz="1150" b="1" i="0">
                <a:solidFill>
                  <a:srgbClr val="FFFFFF"/>
                </a:solidFill>
                <a:latin typeface="Calibri"/>
              </a:rPr>
              <a:t>GKE Cluster</a:t>
            </a:r>
          </a:p>
        </p:txBody>
      </p:sp>
      <p:sp>
        <p:nvSpPr>
          <p:cNvPr id="28" name="TextBox 27"/>
          <p:cNvSpPr txBox="1"/>
          <p:nvPr/>
        </p:nvSpPr>
        <p:spPr>
          <a:xfrm>
            <a:off x="7040880" y="1965960"/>
            <a:ext cx="1389888" cy="457200"/>
          </a:xfrm>
          <a:prstGeom prst="rect">
            <a:avLst/>
          </a:prstGeom>
          <a:noFill/>
        </p:spPr>
        <p:txBody>
          <a:bodyPr wrap="square" anchor="t">
            <a:spAutoFit/>
          </a:bodyPr>
          <a:lstStyle/>
          <a:p>
            <a:pPr algn="l"/>
            <a:r>
              <a:rPr sz="900" b="0" i="0">
                <a:solidFill>
                  <a:srgbClr val="999999"/>
                </a:solidFill>
                <a:latin typeface="Calibri"/>
              </a:rPr>
              <a:t>Live pods, logs, events</a:t>
            </a:r>
          </a:p>
        </p:txBody>
      </p:sp>
      <p:sp>
        <p:nvSpPr>
          <p:cNvPr id="29" name="Rectangle 28"/>
          <p:cNvSpPr/>
          <p:nvPr/>
        </p:nvSpPr>
        <p:spPr>
          <a:xfrm>
            <a:off x="457200" y="2697480"/>
            <a:ext cx="8229600" cy="822960"/>
          </a:xfrm>
          <a:prstGeom prst="rect">
            <a:avLst/>
          </a:prstGeom>
          <a:solidFill>
            <a:srgbClr val="2424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457200" y="2697480"/>
            <a:ext cx="54864" cy="822960"/>
          </a:xfrm>
          <a:prstGeom prst="rect">
            <a:avLst/>
          </a:prstGeom>
          <a:solidFill>
            <a:srgbClr val="E875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85800" y="2816352"/>
            <a:ext cx="7772400" cy="640080"/>
          </a:xfrm>
          <a:prstGeom prst="rect">
            <a:avLst/>
          </a:prstGeom>
          <a:noFill/>
        </p:spPr>
        <p:txBody>
          <a:bodyPr wrap="square" anchor="t">
            <a:spAutoFit/>
          </a:bodyPr>
          <a:lstStyle/>
          <a:p>
            <a:pPr algn="l"/>
            <a:r>
              <a:rPr sz="1150" b="0" i="0">
                <a:solidFill>
                  <a:srgbClr val="CCCCCC"/>
                </a:solidFill>
                <a:latin typeface="Calibri"/>
              </a:rPr>
              <a:t>Evidence returns the same path; the agent loops back and re-checks confidence before writing the final RCA. Every hop shown here is live today — nothing is planned/future.</a:t>
            </a:r>
          </a:p>
        </p:txBody>
      </p:sp>
      <p:sp>
        <p:nvSpPr>
          <p:cNvPr id="32" name="TextBox 31"/>
          <p:cNvSpPr txBox="1"/>
          <p:nvPr/>
        </p:nvSpPr>
        <p:spPr>
          <a:xfrm>
            <a:off x="457200" y="3703320"/>
            <a:ext cx="8229600" cy="365760"/>
          </a:xfrm>
          <a:prstGeom prst="rect">
            <a:avLst/>
          </a:prstGeom>
          <a:noFill/>
        </p:spPr>
        <p:txBody>
          <a:bodyPr wrap="square" anchor="t">
            <a:spAutoFit/>
          </a:bodyPr>
          <a:lstStyle/>
          <a:p>
            <a:pPr algn="l"/>
            <a:r>
              <a:rPr sz="1000" b="0" i="1">
                <a:solidFill>
                  <a:srgbClr val="999999"/>
                </a:solidFill>
                <a:latin typeface="Calibri"/>
              </a:rPr>
              <a:t>Agent Gateway reaches Google's APIs over the public backbone — no private/VPC hop, by design.</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589520" y="137160"/>
            <a:ext cx="1371600" cy="274320"/>
          </a:xfrm>
          <a:prstGeom prst="rect">
            <a:avLst/>
          </a:prstGeom>
          <a:noFill/>
        </p:spPr>
        <p:txBody>
          <a:bodyPr wrap="none">
            <a:spAutoFit/>
          </a:bodyPr>
          <a:lstStyle/>
          <a:p>
            <a:r>
              <a:rPr sz="1200" b="1">
                <a:solidFill>
                  <a:srgbClr val="3CB371"/>
                </a:solidFill>
                <a:latin typeface="Trebuchet MS"/>
              </a:rPr>
              <a:t>SECTIGO</a:t>
            </a:r>
          </a:p>
        </p:txBody>
      </p:sp>
      <p:sp>
        <p:nvSpPr>
          <p:cNvPr id="3" name="Rectangle 2"/>
          <p:cNvSpPr/>
          <p:nvPr/>
        </p:nvSpPr>
        <p:spPr>
          <a:xfrm>
            <a:off x="457200" y="182880"/>
            <a:ext cx="1554480" cy="256032"/>
          </a:xfrm>
          <a:prstGeom prst="rect">
            <a:avLst/>
          </a:prstGeom>
          <a:solidFill>
            <a:srgbClr val="9B59B6"/>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1000" b="1">
                <a:solidFill>
                  <a:srgbClr val="1A1A1A"/>
                </a:solidFill>
                <a:latin typeface="Trebuchet MS"/>
              </a:rPr>
              <a:t>HOW WE BUILT IT</a:t>
            </a:r>
          </a:p>
        </p:txBody>
      </p:sp>
      <p:sp>
        <p:nvSpPr>
          <p:cNvPr id="4" name="TextBox 3"/>
          <p:cNvSpPr txBox="1"/>
          <p:nvPr/>
        </p:nvSpPr>
        <p:spPr>
          <a:xfrm>
            <a:off x="457200" y="594360"/>
            <a:ext cx="8229600" cy="411480"/>
          </a:xfrm>
          <a:prstGeom prst="rect">
            <a:avLst/>
          </a:prstGeom>
          <a:noFill/>
        </p:spPr>
        <p:txBody>
          <a:bodyPr wrap="square" anchor="t">
            <a:spAutoFit/>
          </a:bodyPr>
          <a:lstStyle/>
          <a:p>
            <a:pPr algn="l"/>
            <a:r>
              <a:rPr sz="2000" b="1" i="0">
                <a:solidFill>
                  <a:srgbClr val="131313"/>
                </a:solidFill>
                <a:latin typeface="Calibri"/>
              </a:rPr>
              <a:t>The Agent Loop: Route → Investigate → Evaluate → Report</a:t>
            </a:r>
          </a:p>
        </p:txBody>
      </p:sp>
      <p:sp>
        <p:nvSpPr>
          <p:cNvPr id="5" name="Rectangle 4"/>
          <p:cNvSpPr/>
          <p:nvPr/>
        </p:nvSpPr>
        <p:spPr>
          <a:xfrm>
            <a:off x="457200" y="1371600"/>
            <a:ext cx="1938528" cy="2011680"/>
          </a:xfrm>
          <a:prstGeom prst="rect">
            <a:avLst/>
          </a:prstGeom>
          <a:solidFill>
            <a:srgbClr val="2424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457200" y="1371600"/>
            <a:ext cx="1938528" cy="45720"/>
          </a:xfrm>
          <a:prstGeom prst="rect">
            <a:avLst/>
          </a:prstGeom>
          <a:solidFill>
            <a:srgbClr val="3498D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94360" y="1536192"/>
            <a:ext cx="1664208" cy="365760"/>
          </a:xfrm>
          <a:prstGeom prst="rect">
            <a:avLst/>
          </a:prstGeom>
          <a:noFill/>
        </p:spPr>
        <p:txBody>
          <a:bodyPr wrap="square" anchor="t">
            <a:spAutoFit/>
          </a:bodyPr>
          <a:lstStyle/>
          <a:p>
            <a:pPr algn="l"/>
            <a:r>
              <a:rPr sz="1800" b="1" i="0">
                <a:solidFill>
                  <a:srgbClr val="3498DB"/>
                </a:solidFill>
                <a:latin typeface="Georgia"/>
              </a:rPr>
              <a:t>①</a:t>
            </a:r>
          </a:p>
        </p:txBody>
      </p:sp>
      <p:sp>
        <p:nvSpPr>
          <p:cNvPr id="8" name="TextBox 7"/>
          <p:cNvSpPr txBox="1"/>
          <p:nvPr/>
        </p:nvSpPr>
        <p:spPr>
          <a:xfrm>
            <a:off x="594360" y="1920240"/>
            <a:ext cx="1664208" cy="320040"/>
          </a:xfrm>
          <a:prstGeom prst="rect">
            <a:avLst/>
          </a:prstGeom>
          <a:noFill/>
        </p:spPr>
        <p:txBody>
          <a:bodyPr wrap="square" anchor="t">
            <a:spAutoFit/>
          </a:bodyPr>
          <a:lstStyle/>
          <a:p>
            <a:pPr algn="l"/>
            <a:r>
              <a:rPr sz="1400" b="1" i="0">
                <a:solidFill>
                  <a:srgbClr val="FFFFFF"/>
                </a:solidFill>
                <a:latin typeface="Calibri"/>
              </a:rPr>
              <a:t>Route</a:t>
            </a:r>
          </a:p>
        </p:txBody>
      </p:sp>
      <p:sp>
        <p:nvSpPr>
          <p:cNvPr id="9" name="TextBox 8"/>
          <p:cNvSpPr txBox="1"/>
          <p:nvPr/>
        </p:nvSpPr>
        <p:spPr>
          <a:xfrm>
            <a:off x="594360" y="2267712"/>
            <a:ext cx="1664208" cy="1005840"/>
          </a:xfrm>
          <a:prstGeom prst="rect">
            <a:avLst/>
          </a:prstGeom>
          <a:noFill/>
        </p:spPr>
        <p:txBody>
          <a:bodyPr wrap="square" anchor="t">
            <a:spAutoFit/>
          </a:bodyPr>
          <a:lstStyle/>
          <a:p>
            <a:pPr algn="l"/>
            <a:r>
              <a:rPr sz="1000" b="0" i="0">
                <a:solidFill>
                  <a:srgbClr val="999999"/>
                </a:solidFill>
                <a:latin typeface="Calibri"/>
              </a:rPr>
              <a:t>Identify the affected cluster. Select the right MCP source and tool.</a:t>
            </a:r>
          </a:p>
        </p:txBody>
      </p:sp>
      <p:sp>
        <p:nvSpPr>
          <p:cNvPr id="10" name="Rectangle 9"/>
          <p:cNvSpPr/>
          <p:nvPr/>
        </p:nvSpPr>
        <p:spPr>
          <a:xfrm>
            <a:off x="2468880" y="1371600"/>
            <a:ext cx="1938528" cy="2011680"/>
          </a:xfrm>
          <a:prstGeom prst="rect">
            <a:avLst/>
          </a:prstGeom>
          <a:solidFill>
            <a:srgbClr val="2424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2468880" y="1371600"/>
            <a:ext cx="1938528" cy="45720"/>
          </a:xfrm>
          <a:prstGeom prst="rect">
            <a:avLst/>
          </a:prstGeom>
          <a:solidFill>
            <a:srgbClr val="1ABC9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606040" y="1536192"/>
            <a:ext cx="1664208" cy="365760"/>
          </a:xfrm>
          <a:prstGeom prst="rect">
            <a:avLst/>
          </a:prstGeom>
          <a:noFill/>
        </p:spPr>
        <p:txBody>
          <a:bodyPr wrap="square" anchor="t">
            <a:spAutoFit/>
          </a:bodyPr>
          <a:lstStyle/>
          <a:p>
            <a:pPr algn="l"/>
            <a:r>
              <a:rPr sz="1800" b="1" i="0">
                <a:solidFill>
                  <a:srgbClr val="1ABC9C"/>
                </a:solidFill>
                <a:latin typeface="Georgia"/>
              </a:rPr>
              <a:t>②</a:t>
            </a:r>
          </a:p>
        </p:txBody>
      </p:sp>
      <p:sp>
        <p:nvSpPr>
          <p:cNvPr id="13" name="TextBox 12"/>
          <p:cNvSpPr txBox="1"/>
          <p:nvPr/>
        </p:nvSpPr>
        <p:spPr>
          <a:xfrm>
            <a:off x="2606040" y="1920240"/>
            <a:ext cx="1664208" cy="320040"/>
          </a:xfrm>
          <a:prstGeom prst="rect">
            <a:avLst/>
          </a:prstGeom>
          <a:noFill/>
        </p:spPr>
        <p:txBody>
          <a:bodyPr wrap="square" anchor="t">
            <a:spAutoFit/>
          </a:bodyPr>
          <a:lstStyle/>
          <a:p>
            <a:pPr algn="l"/>
            <a:r>
              <a:rPr sz="1400" b="1" i="0">
                <a:solidFill>
                  <a:srgbClr val="FFFFFF"/>
                </a:solidFill>
                <a:latin typeface="Calibri"/>
              </a:rPr>
              <a:t>Investigate</a:t>
            </a:r>
          </a:p>
        </p:txBody>
      </p:sp>
      <p:sp>
        <p:nvSpPr>
          <p:cNvPr id="14" name="TextBox 13"/>
          <p:cNvSpPr txBox="1"/>
          <p:nvPr/>
        </p:nvSpPr>
        <p:spPr>
          <a:xfrm>
            <a:off x="2606040" y="2267712"/>
            <a:ext cx="1664208" cy="1005840"/>
          </a:xfrm>
          <a:prstGeom prst="rect">
            <a:avLst/>
          </a:prstGeom>
          <a:noFill/>
        </p:spPr>
        <p:txBody>
          <a:bodyPr wrap="square" anchor="t">
            <a:spAutoFit/>
          </a:bodyPr>
          <a:lstStyle/>
          <a:p>
            <a:pPr algn="l"/>
            <a:r>
              <a:rPr sz="1000" b="0" i="0">
                <a:solidFill>
                  <a:srgbClr val="999999"/>
                </a:solidFill>
                <a:latin typeface="Calibri"/>
              </a:rPr>
              <a:t>Collect logs, events, pod state, configuration — real evidence.</a:t>
            </a:r>
          </a:p>
        </p:txBody>
      </p:sp>
      <p:sp>
        <p:nvSpPr>
          <p:cNvPr id="15" name="Rectangle 14"/>
          <p:cNvSpPr/>
          <p:nvPr/>
        </p:nvSpPr>
        <p:spPr>
          <a:xfrm>
            <a:off x="4480560" y="1371600"/>
            <a:ext cx="1938528" cy="2011680"/>
          </a:xfrm>
          <a:prstGeom prst="rect">
            <a:avLst/>
          </a:prstGeom>
          <a:solidFill>
            <a:srgbClr val="2424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480560" y="1371600"/>
            <a:ext cx="1938528" cy="45720"/>
          </a:xfrm>
          <a:prstGeom prst="rect">
            <a:avLst/>
          </a:prstGeom>
          <a:solidFill>
            <a:srgbClr val="F4C5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617720" y="1536192"/>
            <a:ext cx="1664208" cy="365760"/>
          </a:xfrm>
          <a:prstGeom prst="rect">
            <a:avLst/>
          </a:prstGeom>
          <a:noFill/>
        </p:spPr>
        <p:txBody>
          <a:bodyPr wrap="square" anchor="t">
            <a:spAutoFit/>
          </a:bodyPr>
          <a:lstStyle/>
          <a:p>
            <a:pPr algn="l"/>
            <a:r>
              <a:rPr sz="1800" b="1" i="0">
                <a:solidFill>
                  <a:srgbClr val="F4C542"/>
                </a:solidFill>
                <a:latin typeface="Georgia"/>
              </a:rPr>
              <a:t>③</a:t>
            </a:r>
          </a:p>
        </p:txBody>
      </p:sp>
      <p:sp>
        <p:nvSpPr>
          <p:cNvPr id="18" name="TextBox 17"/>
          <p:cNvSpPr txBox="1"/>
          <p:nvPr/>
        </p:nvSpPr>
        <p:spPr>
          <a:xfrm>
            <a:off x="4617720" y="1920240"/>
            <a:ext cx="1664208" cy="320040"/>
          </a:xfrm>
          <a:prstGeom prst="rect">
            <a:avLst/>
          </a:prstGeom>
          <a:noFill/>
        </p:spPr>
        <p:txBody>
          <a:bodyPr wrap="square" anchor="t">
            <a:spAutoFit/>
          </a:bodyPr>
          <a:lstStyle/>
          <a:p>
            <a:pPr algn="l"/>
            <a:r>
              <a:rPr sz="1400" b="1" i="0">
                <a:solidFill>
                  <a:srgbClr val="FFFFFF"/>
                </a:solidFill>
                <a:latin typeface="Calibri"/>
              </a:rPr>
              <a:t>Evaluate</a:t>
            </a:r>
          </a:p>
        </p:txBody>
      </p:sp>
      <p:sp>
        <p:nvSpPr>
          <p:cNvPr id="19" name="TextBox 18"/>
          <p:cNvSpPr txBox="1"/>
          <p:nvPr/>
        </p:nvSpPr>
        <p:spPr>
          <a:xfrm>
            <a:off x="4617720" y="2267712"/>
            <a:ext cx="1664208" cy="1005840"/>
          </a:xfrm>
          <a:prstGeom prst="rect">
            <a:avLst/>
          </a:prstGeom>
          <a:noFill/>
        </p:spPr>
        <p:txBody>
          <a:bodyPr wrap="square" anchor="t">
            <a:spAutoFit/>
          </a:bodyPr>
          <a:lstStyle/>
          <a:p>
            <a:pPr algn="l"/>
            <a:r>
              <a:rPr sz="1000" b="0" i="0">
                <a:solidFill>
                  <a:srgbClr val="999999"/>
                </a:solidFill>
                <a:latin typeface="Calibri"/>
              </a:rPr>
              <a:t>Score completeness and confidence. Continue or exit the loop.</a:t>
            </a:r>
          </a:p>
        </p:txBody>
      </p:sp>
      <p:sp>
        <p:nvSpPr>
          <p:cNvPr id="20" name="Rectangle 19"/>
          <p:cNvSpPr/>
          <p:nvPr/>
        </p:nvSpPr>
        <p:spPr>
          <a:xfrm>
            <a:off x="6492240" y="1371600"/>
            <a:ext cx="1938528" cy="2011680"/>
          </a:xfrm>
          <a:prstGeom prst="rect">
            <a:avLst/>
          </a:prstGeom>
          <a:solidFill>
            <a:srgbClr val="2424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492240" y="1371600"/>
            <a:ext cx="1938528" cy="45720"/>
          </a:xfrm>
          <a:prstGeom prst="rect">
            <a:avLst/>
          </a:prstGeom>
          <a:solidFill>
            <a:srgbClr val="E875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629400" y="1536192"/>
            <a:ext cx="1664208" cy="365760"/>
          </a:xfrm>
          <a:prstGeom prst="rect">
            <a:avLst/>
          </a:prstGeom>
          <a:noFill/>
        </p:spPr>
        <p:txBody>
          <a:bodyPr wrap="square" anchor="t">
            <a:spAutoFit/>
          </a:bodyPr>
          <a:lstStyle/>
          <a:p>
            <a:pPr algn="l"/>
            <a:r>
              <a:rPr sz="1800" b="1" i="0">
                <a:solidFill>
                  <a:srgbClr val="E8751A"/>
                </a:solidFill>
                <a:latin typeface="Georgia"/>
              </a:rPr>
              <a:t>④</a:t>
            </a:r>
          </a:p>
        </p:txBody>
      </p:sp>
      <p:sp>
        <p:nvSpPr>
          <p:cNvPr id="23" name="TextBox 22"/>
          <p:cNvSpPr txBox="1"/>
          <p:nvPr/>
        </p:nvSpPr>
        <p:spPr>
          <a:xfrm>
            <a:off x="6629400" y="1920240"/>
            <a:ext cx="1664208" cy="320040"/>
          </a:xfrm>
          <a:prstGeom prst="rect">
            <a:avLst/>
          </a:prstGeom>
          <a:noFill/>
        </p:spPr>
        <p:txBody>
          <a:bodyPr wrap="square" anchor="t">
            <a:spAutoFit/>
          </a:bodyPr>
          <a:lstStyle/>
          <a:p>
            <a:pPr algn="l"/>
            <a:r>
              <a:rPr sz="1400" b="1" i="0">
                <a:solidFill>
                  <a:srgbClr val="FFFFFF"/>
                </a:solidFill>
                <a:latin typeface="Calibri"/>
              </a:rPr>
              <a:t>Report</a:t>
            </a:r>
          </a:p>
        </p:txBody>
      </p:sp>
      <p:sp>
        <p:nvSpPr>
          <p:cNvPr id="24" name="TextBox 23"/>
          <p:cNvSpPr txBox="1"/>
          <p:nvPr/>
        </p:nvSpPr>
        <p:spPr>
          <a:xfrm>
            <a:off x="6629400" y="2267712"/>
            <a:ext cx="1664208" cy="1005840"/>
          </a:xfrm>
          <a:prstGeom prst="rect">
            <a:avLst/>
          </a:prstGeom>
          <a:noFill/>
        </p:spPr>
        <p:txBody>
          <a:bodyPr wrap="square" anchor="t">
            <a:spAutoFit/>
          </a:bodyPr>
          <a:lstStyle/>
          <a:p>
            <a:pPr algn="l"/>
            <a:r>
              <a:rPr sz="1000" b="0" i="0">
                <a:solidFill>
                  <a:srgbClr val="999999"/>
                </a:solidFill>
                <a:latin typeface="Calibri"/>
              </a:rPr>
              <a:t>Evidence-backed RCA, handed to the human for review.</a:t>
            </a:r>
          </a:p>
        </p:txBody>
      </p:sp>
      <p:sp>
        <p:nvSpPr>
          <p:cNvPr id="25" name="TextBox 24"/>
          <p:cNvSpPr txBox="1"/>
          <p:nvPr/>
        </p:nvSpPr>
        <p:spPr>
          <a:xfrm>
            <a:off x="457200" y="3566160"/>
            <a:ext cx="8229600" cy="365760"/>
          </a:xfrm>
          <a:prstGeom prst="rect">
            <a:avLst/>
          </a:prstGeom>
          <a:noFill/>
        </p:spPr>
        <p:txBody>
          <a:bodyPr wrap="square" anchor="t">
            <a:spAutoFit/>
          </a:bodyPr>
          <a:lstStyle/>
          <a:p>
            <a:pPr algn="l"/>
            <a:r>
              <a:rPr sz="1200" b="0" i="1">
                <a:solidFill>
                  <a:srgbClr val="CCCCCC"/>
                </a:solidFill>
                <a:latin typeface="Calibri"/>
              </a:rPr>
              <a:t>This loop is what separates an investigator from a chatbot that just answers.</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589520" y="137160"/>
            <a:ext cx="1371600" cy="274320"/>
          </a:xfrm>
          <a:prstGeom prst="rect">
            <a:avLst/>
          </a:prstGeom>
          <a:noFill/>
        </p:spPr>
        <p:txBody>
          <a:bodyPr wrap="none">
            <a:spAutoFit/>
          </a:bodyPr>
          <a:lstStyle/>
          <a:p>
            <a:r>
              <a:rPr sz="1200" b="1">
                <a:solidFill>
                  <a:srgbClr val="3CB371"/>
                </a:solidFill>
                <a:latin typeface="Trebuchet MS"/>
              </a:rPr>
              <a:t>SECTIGO</a:t>
            </a:r>
          </a:p>
        </p:txBody>
      </p:sp>
      <p:sp>
        <p:nvSpPr>
          <p:cNvPr id="3" name="TextBox 2"/>
          <p:cNvSpPr txBox="1"/>
          <p:nvPr/>
        </p:nvSpPr>
        <p:spPr>
          <a:xfrm>
            <a:off x="457200" y="1097280"/>
            <a:ext cx="1828800" cy="1371600"/>
          </a:xfrm>
          <a:prstGeom prst="rect">
            <a:avLst/>
          </a:prstGeom>
          <a:noFill/>
        </p:spPr>
        <p:txBody>
          <a:bodyPr wrap="square" anchor="t">
            <a:spAutoFit/>
          </a:bodyPr>
          <a:lstStyle/>
          <a:p>
            <a:pPr algn="l"/>
            <a:r>
              <a:rPr sz="7200" b="1" i="0">
                <a:solidFill>
                  <a:srgbClr val="E8751A"/>
                </a:solidFill>
                <a:latin typeface="Georgia"/>
              </a:rPr>
              <a:t>04</a:t>
            </a:r>
          </a:p>
        </p:txBody>
      </p:sp>
      <p:sp>
        <p:nvSpPr>
          <p:cNvPr id="4" name="TextBox 3"/>
          <p:cNvSpPr txBox="1"/>
          <p:nvPr/>
        </p:nvSpPr>
        <p:spPr>
          <a:xfrm>
            <a:off x="457200" y="2743200"/>
            <a:ext cx="8229600" cy="914400"/>
          </a:xfrm>
          <a:prstGeom prst="rect">
            <a:avLst/>
          </a:prstGeom>
          <a:noFill/>
        </p:spPr>
        <p:txBody>
          <a:bodyPr wrap="square" anchor="t">
            <a:spAutoFit/>
          </a:bodyPr>
          <a:lstStyle/>
          <a:p>
            <a:pPr algn="l"/>
            <a:r>
              <a:rPr sz="3600" b="1" i="0">
                <a:solidFill>
                  <a:srgbClr val="131313"/>
                </a:solidFill>
                <a:latin typeface="Georgia"/>
              </a:rPr>
              <a:t>Security &amp; Trust</a:t>
            </a:r>
          </a:p>
        </p:txBody>
      </p:sp>
      <p:sp>
        <p:nvSpPr>
          <p:cNvPr id="5" name="TextBox 4"/>
          <p:cNvSpPr txBox="1"/>
          <p:nvPr/>
        </p:nvSpPr>
        <p:spPr>
          <a:xfrm>
            <a:off x="457200" y="3566160"/>
            <a:ext cx="8229600" cy="457200"/>
          </a:xfrm>
          <a:prstGeom prst="rect">
            <a:avLst/>
          </a:prstGeom>
          <a:noFill/>
        </p:spPr>
        <p:txBody>
          <a:bodyPr wrap="square" anchor="t">
            <a:spAutoFit/>
          </a:bodyPr>
          <a:lstStyle/>
          <a:p>
            <a:pPr algn="l"/>
            <a:r>
              <a:rPr sz="1400" b="0" i="0">
                <a:solidFill>
                  <a:srgbClr val="999999"/>
                </a:solidFill>
                <a:latin typeface="Calibri"/>
              </a:rPr>
              <a:t>Authentication, governance &amp; data handling</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589520" y="137160"/>
            <a:ext cx="1371600" cy="274320"/>
          </a:xfrm>
          <a:prstGeom prst="rect">
            <a:avLst/>
          </a:prstGeom>
          <a:noFill/>
        </p:spPr>
        <p:txBody>
          <a:bodyPr wrap="none">
            <a:spAutoFit/>
          </a:bodyPr>
          <a:lstStyle/>
          <a:p>
            <a:r>
              <a:rPr sz="1200" b="1">
                <a:solidFill>
                  <a:srgbClr val="3CB371"/>
                </a:solidFill>
                <a:latin typeface="Trebuchet MS"/>
              </a:rPr>
              <a:t>SECTIGO</a:t>
            </a:r>
          </a:p>
        </p:txBody>
      </p:sp>
      <p:sp>
        <p:nvSpPr>
          <p:cNvPr id="3" name="Rectangle 2"/>
          <p:cNvSpPr/>
          <p:nvPr/>
        </p:nvSpPr>
        <p:spPr>
          <a:xfrm>
            <a:off x="457200" y="182880"/>
            <a:ext cx="1554480" cy="256032"/>
          </a:xfrm>
          <a:prstGeom prst="rect">
            <a:avLst/>
          </a:prstGeom>
          <a:solidFill>
            <a:srgbClr val="E74C3C"/>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1000" b="1">
                <a:solidFill>
                  <a:srgbClr val="1A1A1A"/>
                </a:solidFill>
                <a:latin typeface="Trebuchet MS"/>
              </a:rPr>
              <a:t>SECURITY &amp; TRUST</a:t>
            </a:r>
          </a:p>
        </p:txBody>
      </p:sp>
      <p:sp>
        <p:nvSpPr>
          <p:cNvPr id="4" name="TextBox 3"/>
          <p:cNvSpPr txBox="1"/>
          <p:nvPr/>
        </p:nvSpPr>
        <p:spPr>
          <a:xfrm>
            <a:off x="457200" y="594360"/>
            <a:ext cx="8229600" cy="411480"/>
          </a:xfrm>
          <a:prstGeom prst="rect">
            <a:avLst/>
          </a:prstGeom>
          <a:noFill/>
        </p:spPr>
        <p:txBody>
          <a:bodyPr wrap="square" anchor="t">
            <a:spAutoFit/>
          </a:bodyPr>
          <a:lstStyle/>
          <a:p>
            <a:pPr algn="l"/>
            <a:r>
              <a:rPr sz="2000" b="1" i="0">
                <a:solidFill>
                  <a:srgbClr val="131313"/>
                </a:solidFill>
                <a:latin typeface="Calibri"/>
              </a:rPr>
              <a:t>Security, Authentication &amp; Governance</a:t>
            </a:r>
          </a:p>
        </p:txBody>
      </p:sp>
      <p:sp>
        <p:nvSpPr>
          <p:cNvPr id="5" name="Rectangle 4"/>
          <p:cNvSpPr/>
          <p:nvPr/>
        </p:nvSpPr>
        <p:spPr>
          <a:xfrm>
            <a:off x="457200" y="1371600"/>
            <a:ext cx="1572768" cy="2103120"/>
          </a:xfrm>
          <a:prstGeom prst="rect">
            <a:avLst/>
          </a:prstGeom>
          <a:solidFill>
            <a:srgbClr val="2424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457200" y="1371600"/>
            <a:ext cx="1572768" cy="45720"/>
          </a:xfrm>
          <a:prstGeom prst="rect">
            <a:avLst/>
          </a:prstGeom>
          <a:solidFill>
            <a:srgbClr val="1ABC9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1536192"/>
            <a:ext cx="1389888" cy="502920"/>
          </a:xfrm>
          <a:prstGeom prst="rect">
            <a:avLst/>
          </a:prstGeom>
          <a:noFill/>
        </p:spPr>
        <p:txBody>
          <a:bodyPr wrap="square" anchor="t">
            <a:spAutoFit/>
          </a:bodyPr>
          <a:lstStyle/>
          <a:p>
            <a:pPr algn="l"/>
            <a:r>
              <a:rPr sz="1100" b="1" i="0">
                <a:solidFill>
                  <a:srgbClr val="FFFFFF"/>
                </a:solidFill>
                <a:latin typeface="Calibri"/>
              </a:rPr>
              <a:t>Least-Privilege Access</a:t>
            </a:r>
          </a:p>
        </p:txBody>
      </p:sp>
      <p:sp>
        <p:nvSpPr>
          <p:cNvPr id="8" name="TextBox 7"/>
          <p:cNvSpPr txBox="1"/>
          <p:nvPr/>
        </p:nvSpPr>
        <p:spPr>
          <a:xfrm>
            <a:off x="548640" y="2057400"/>
            <a:ext cx="1389888" cy="457200"/>
          </a:xfrm>
          <a:prstGeom prst="rect">
            <a:avLst/>
          </a:prstGeom>
          <a:noFill/>
        </p:spPr>
        <p:txBody>
          <a:bodyPr wrap="square" anchor="t">
            <a:spAutoFit/>
          </a:bodyPr>
          <a:lstStyle/>
          <a:p>
            <a:pPr algn="l"/>
            <a:r>
              <a:rPr sz="850" b="0" i="0">
                <a:solidFill>
                  <a:srgbClr val="CCCCCC"/>
                </a:solidFill>
                <a:latin typeface="Calibri"/>
              </a:rPr>
              <a:t>✓ Model Armor filters input &amp; output</a:t>
            </a:r>
          </a:p>
        </p:txBody>
      </p:sp>
      <p:sp>
        <p:nvSpPr>
          <p:cNvPr id="9" name="TextBox 8"/>
          <p:cNvSpPr txBox="1"/>
          <p:nvPr/>
        </p:nvSpPr>
        <p:spPr>
          <a:xfrm>
            <a:off x="548640" y="2514600"/>
            <a:ext cx="1389888" cy="457200"/>
          </a:xfrm>
          <a:prstGeom prst="rect">
            <a:avLst/>
          </a:prstGeom>
          <a:noFill/>
        </p:spPr>
        <p:txBody>
          <a:bodyPr wrap="square" anchor="t">
            <a:spAutoFit/>
          </a:bodyPr>
          <a:lstStyle/>
          <a:p>
            <a:pPr algn="l"/>
            <a:r>
              <a:rPr sz="850" b="0" i="0">
                <a:solidFill>
                  <a:srgbClr val="CCCCCC"/>
                </a:solidFill>
                <a:latin typeface="Calibri"/>
              </a:rPr>
              <a:t>✓ Scoped IAM roles — no broad grants</a:t>
            </a:r>
          </a:p>
        </p:txBody>
      </p:sp>
      <p:sp>
        <p:nvSpPr>
          <p:cNvPr id="10" name="Rectangle 9"/>
          <p:cNvSpPr/>
          <p:nvPr/>
        </p:nvSpPr>
        <p:spPr>
          <a:xfrm>
            <a:off x="2084832" y="1371600"/>
            <a:ext cx="1572768" cy="2103120"/>
          </a:xfrm>
          <a:prstGeom prst="rect">
            <a:avLst/>
          </a:prstGeom>
          <a:solidFill>
            <a:srgbClr val="2424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2084832" y="1371600"/>
            <a:ext cx="1572768" cy="45720"/>
          </a:xfrm>
          <a:prstGeom prst="rect">
            <a:avLst/>
          </a:prstGeom>
          <a:solidFill>
            <a:srgbClr val="E875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176272" y="1536192"/>
            <a:ext cx="1389888" cy="502920"/>
          </a:xfrm>
          <a:prstGeom prst="rect">
            <a:avLst/>
          </a:prstGeom>
          <a:noFill/>
        </p:spPr>
        <p:txBody>
          <a:bodyPr wrap="square" anchor="t">
            <a:spAutoFit/>
          </a:bodyPr>
          <a:lstStyle/>
          <a:p>
            <a:pPr algn="l"/>
            <a:r>
              <a:rPr sz="1100" b="1" i="0">
                <a:solidFill>
                  <a:srgbClr val="FFFFFF"/>
                </a:solidFill>
                <a:latin typeface="Calibri"/>
              </a:rPr>
              <a:t>Scoped Identity</a:t>
            </a:r>
          </a:p>
        </p:txBody>
      </p:sp>
      <p:sp>
        <p:nvSpPr>
          <p:cNvPr id="13" name="TextBox 12"/>
          <p:cNvSpPr txBox="1"/>
          <p:nvPr/>
        </p:nvSpPr>
        <p:spPr>
          <a:xfrm>
            <a:off x="2176272" y="2057400"/>
            <a:ext cx="1389888" cy="457200"/>
          </a:xfrm>
          <a:prstGeom prst="rect">
            <a:avLst/>
          </a:prstGeom>
          <a:noFill/>
        </p:spPr>
        <p:txBody>
          <a:bodyPr wrap="square" anchor="t">
            <a:spAutoFit/>
          </a:bodyPr>
          <a:lstStyle/>
          <a:p>
            <a:pPr algn="l"/>
            <a:r>
              <a:rPr sz="850" b="0" i="0">
                <a:solidFill>
                  <a:srgbClr val="CCCCCC"/>
                </a:solidFill>
                <a:latin typeface="Calibri"/>
              </a:rPr>
              <a:t>✓ Workload Identity (SPIFFE)</a:t>
            </a:r>
          </a:p>
        </p:txBody>
      </p:sp>
      <p:sp>
        <p:nvSpPr>
          <p:cNvPr id="14" name="TextBox 13"/>
          <p:cNvSpPr txBox="1"/>
          <p:nvPr/>
        </p:nvSpPr>
        <p:spPr>
          <a:xfrm>
            <a:off x="2176272" y="2514600"/>
            <a:ext cx="1389888" cy="457200"/>
          </a:xfrm>
          <a:prstGeom prst="rect">
            <a:avLst/>
          </a:prstGeom>
          <a:noFill/>
        </p:spPr>
        <p:txBody>
          <a:bodyPr wrap="square" anchor="t">
            <a:spAutoFit/>
          </a:bodyPr>
          <a:lstStyle/>
          <a:p>
            <a:pPr algn="l"/>
            <a:r>
              <a:rPr sz="850" b="0" i="0">
                <a:solidFill>
                  <a:srgbClr val="CCCCCC"/>
                </a:solidFill>
                <a:latin typeface="Calibri"/>
              </a:rPr>
              <a:t>✓ No static service-account keys</a:t>
            </a:r>
          </a:p>
        </p:txBody>
      </p:sp>
      <p:sp>
        <p:nvSpPr>
          <p:cNvPr id="15" name="Rectangle 14"/>
          <p:cNvSpPr/>
          <p:nvPr/>
        </p:nvSpPr>
        <p:spPr>
          <a:xfrm>
            <a:off x="3712464" y="1371600"/>
            <a:ext cx="1572768" cy="2103120"/>
          </a:xfrm>
          <a:prstGeom prst="rect">
            <a:avLst/>
          </a:prstGeom>
          <a:solidFill>
            <a:srgbClr val="2424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3712464" y="1371600"/>
            <a:ext cx="1572768" cy="45720"/>
          </a:xfrm>
          <a:prstGeom prst="rect">
            <a:avLst/>
          </a:prstGeom>
          <a:solidFill>
            <a:srgbClr val="3CB3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803904" y="1536192"/>
            <a:ext cx="1389888" cy="502920"/>
          </a:xfrm>
          <a:prstGeom prst="rect">
            <a:avLst/>
          </a:prstGeom>
          <a:noFill/>
        </p:spPr>
        <p:txBody>
          <a:bodyPr wrap="square" anchor="t">
            <a:spAutoFit/>
          </a:bodyPr>
          <a:lstStyle/>
          <a:p>
            <a:pPr algn="l"/>
            <a:r>
              <a:rPr sz="1100" b="1" i="0">
                <a:solidFill>
                  <a:srgbClr val="FFFFFF"/>
                </a:solidFill>
                <a:latin typeface="Calibri"/>
              </a:rPr>
              <a:t>Read-Only Investigation</a:t>
            </a:r>
          </a:p>
        </p:txBody>
      </p:sp>
      <p:sp>
        <p:nvSpPr>
          <p:cNvPr id="18" name="TextBox 17"/>
          <p:cNvSpPr txBox="1"/>
          <p:nvPr/>
        </p:nvSpPr>
        <p:spPr>
          <a:xfrm>
            <a:off x="3803904" y="2057400"/>
            <a:ext cx="1389888" cy="457200"/>
          </a:xfrm>
          <a:prstGeom prst="rect">
            <a:avLst/>
          </a:prstGeom>
          <a:noFill/>
        </p:spPr>
        <p:txBody>
          <a:bodyPr wrap="square" anchor="t">
            <a:spAutoFit/>
          </a:bodyPr>
          <a:lstStyle/>
          <a:p>
            <a:pPr algn="l"/>
            <a:r>
              <a:rPr sz="850" b="0" i="0">
                <a:solidFill>
                  <a:srgbClr val="CCCCCC"/>
                </a:solidFill>
                <a:latin typeface="Calibri"/>
              </a:rPr>
              <a:t>✓ GKE Remote MCP tools are GET-only</a:t>
            </a:r>
          </a:p>
        </p:txBody>
      </p:sp>
      <p:sp>
        <p:nvSpPr>
          <p:cNvPr id="19" name="TextBox 18"/>
          <p:cNvSpPr txBox="1"/>
          <p:nvPr/>
        </p:nvSpPr>
        <p:spPr>
          <a:xfrm>
            <a:off x="3803904" y="2514600"/>
            <a:ext cx="1389888" cy="457200"/>
          </a:xfrm>
          <a:prstGeom prst="rect">
            <a:avLst/>
          </a:prstGeom>
          <a:noFill/>
        </p:spPr>
        <p:txBody>
          <a:bodyPr wrap="square" anchor="t">
            <a:spAutoFit/>
          </a:bodyPr>
          <a:lstStyle/>
          <a:p>
            <a:pPr algn="l"/>
            <a:r>
              <a:rPr sz="850" b="0" i="0">
                <a:solidFill>
                  <a:srgbClr val="CCCCCC"/>
                </a:solidFill>
                <a:latin typeface="Calibri"/>
              </a:rPr>
              <a:t>✓ No write/exec on the cluster</a:t>
            </a:r>
          </a:p>
        </p:txBody>
      </p:sp>
      <p:sp>
        <p:nvSpPr>
          <p:cNvPr id="20" name="Rectangle 19"/>
          <p:cNvSpPr/>
          <p:nvPr/>
        </p:nvSpPr>
        <p:spPr>
          <a:xfrm>
            <a:off x="5340096" y="1371600"/>
            <a:ext cx="1572768" cy="2103120"/>
          </a:xfrm>
          <a:prstGeom prst="rect">
            <a:avLst/>
          </a:prstGeom>
          <a:solidFill>
            <a:srgbClr val="2424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5340096" y="1371600"/>
            <a:ext cx="1572768" cy="45720"/>
          </a:xfrm>
          <a:prstGeom prst="rect">
            <a:avLst/>
          </a:prstGeom>
          <a:solidFill>
            <a:srgbClr val="3498D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431536" y="1536192"/>
            <a:ext cx="1389888" cy="502920"/>
          </a:xfrm>
          <a:prstGeom prst="rect">
            <a:avLst/>
          </a:prstGeom>
          <a:noFill/>
        </p:spPr>
        <p:txBody>
          <a:bodyPr wrap="square" anchor="t">
            <a:spAutoFit/>
          </a:bodyPr>
          <a:lstStyle/>
          <a:p>
            <a:pPr algn="l"/>
            <a:r>
              <a:rPr sz="1100" b="1" i="0">
                <a:solidFill>
                  <a:srgbClr val="FFFFFF"/>
                </a:solidFill>
                <a:latin typeface="Calibri"/>
              </a:rPr>
              <a:t>Gateway Governance</a:t>
            </a:r>
          </a:p>
        </p:txBody>
      </p:sp>
      <p:sp>
        <p:nvSpPr>
          <p:cNvPr id="23" name="TextBox 22"/>
          <p:cNvSpPr txBox="1"/>
          <p:nvPr/>
        </p:nvSpPr>
        <p:spPr>
          <a:xfrm>
            <a:off x="5431536" y="2057400"/>
            <a:ext cx="1389888" cy="457200"/>
          </a:xfrm>
          <a:prstGeom prst="rect">
            <a:avLst/>
          </a:prstGeom>
          <a:noFill/>
        </p:spPr>
        <p:txBody>
          <a:bodyPr wrap="square" anchor="t">
            <a:spAutoFit/>
          </a:bodyPr>
          <a:lstStyle/>
          <a:p>
            <a:pPr algn="l"/>
            <a:r>
              <a:rPr sz="850" b="0" i="0">
                <a:solidFill>
                  <a:srgbClr val="CCCCCC"/>
                </a:solidFill>
                <a:latin typeface="Calibri"/>
              </a:rPr>
              <a:t>✓ Agent Gateway routes every call</a:t>
            </a:r>
          </a:p>
        </p:txBody>
      </p:sp>
      <p:sp>
        <p:nvSpPr>
          <p:cNvPr id="24" name="TextBox 23"/>
          <p:cNvSpPr txBox="1"/>
          <p:nvPr/>
        </p:nvSpPr>
        <p:spPr>
          <a:xfrm>
            <a:off x="5431536" y="2514600"/>
            <a:ext cx="1389888" cy="457200"/>
          </a:xfrm>
          <a:prstGeom prst="rect">
            <a:avLst/>
          </a:prstGeom>
          <a:noFill/>
        </p:spPr>
        <p:txBody>
          <a:bodyPr wrap="square" anchor="t">
            <a:spAutoFit/>
          </a:bodyPr>
          <a:lstStyle/>
          <a:p>
            <a:pPr algn="l"/>
            <a:r>
              <a:rPr sz="850" b="0" i="0">
                <a:solidFill>
                  <a:srgbClr val="CCCCCC"/>
                </a:solidFill>
                <a:latin typeface="Calibri"/>
              </a:rPr>
              <a:t>✓ IAP-authorized, not open network</a:t>
            </a:r>
          </a:p>
        </p:txBody>
      </p:sp>
      <p:sp>
        <p:nvSpPr>
          <p:cNvPr id="25" name="Rectangle 24"/>
          <p:cNvSpPr/>
          <p:nvPr/>
        </p:nvSpPr>
        <p:spPr>
          <a:xfrm>
            <a:off x="6967728" y="1371600"/>
            <a:ext cx="1572768" cy="2103120"/>
          </a:xfrm>
          <a:prstGeom prst="rect">
            <a:avLst/>
          </a:prstGeom>
          <a:solidFill>
            <a:srgbClr val="2424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6967728" y="1371600"/>
            <a:ext cx="1572768" cy="45720"/>
          </a:xfrm>
          <a:prstGeom prst="rect">
            <a:avLst/>
          </a:prstGeom>
          <a:solidFill>
            <a:srgbClr val="9B59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059168" y="1536192"/>
            <a:ext cx="1389888" cy="502920"/>
          </a:xfrm>
          <a:prstGeom prst="rect">
            <a:avLst/>
          </a:prstGeom>
          <a:noFill/>
        </p:spPr>
        <p:txBody>
          <a:bodyPr wrap="square" anchor="t">
            <a:spAutoFit/>
          </a:bodyPr>
          <a:lstStyle/>
          <a:p>
            <a:pPr algn="l"/>
            <a:r>
              <a:rPr sz="1100" b="1" i="0">
                <a:solidFill>
                  <a:srgbClr val="FFFFFF"/>
                </a:solidFill>
                <a:latin typeface="Calibri"/>
              </a:rPr>
              <a:t>Human-in-the-Loop</a:t>
            </a:r>
          </a:p>
        </p:txBody>
      </p:sp>
      <p:sp>
        <p:nvSpPr>
          <p:cNvPr id="28" name="TextBox 27"/>
          <p:cNvSpPr txBox="1"/>
          <p:nvPr/>
        </p:nvSpPr>
        <p:spPr>
          <a:xfrm>
            <a:off x="7059168" y="2057400"/>
            <a:ext cx="1389888" cy="457200"/>
          </a:xfrm>
          <a:prstGeom prst="rect">
            <a:avLst/>
          </a:prstGeom>
          <a:noFill/>
        </p:spPr>
        <p:txBody>
          <a:bodyPr wrap="square" anchor="t">
            <a:spAutoFit/>
          </a:bodyPr>
          <a:lstStyle/>
          <a:p>
            <a:pPr algn="l"/>
            <a:r>
              <a:rPr sz="850" b="0" i="0">
                <a:solidFill>
                  <a:srgbClr val="CCCCCC"/>
                </a:solidFill>
                <a:latin typeface="Calibri"/>
              </a:rPr>
              <a:t>✓ Agent recommends, engineer approves</a:t>
            </a:r>
          </a:p>
        </p:txBody>
      </p:sp>
      <p:sp>
        <p:nvSpPr>
          <p:cNvPr id="29" name="TextBox 28"/>
          <p:cNvSpPr txBox="1"/>
          <p:nvPr/>
        </p:nvSpPr>
        <p:spPr>
          <a:xfrm>
            <a:off x="7059168" y="2514600"/>
            <a:ext cx="1389888" cy="457200"/>
          </a:xfrm>
          <a:prstGeom prst="rect">
            <a:avLst/>
          </a:prstGeom>
          <a:noFill/>
        </p:spPr>
        <p:txBody>
          <a:bodyPr wrap="square" anchor="t">
            <a:spAutoFit/>
          </a:bodyPr>
          <a:lstStyle/>
          <a:p>
            <a:pPr algn="l"/>
            <a:r>
              <a:rPr sz="850" b="0" i="0">
                <a:solidFill>
                  <a:srgbClr val="CCCCCC"/>
                </a:solidFill>
                <a:latin typeface="Calibri"/>
              </a:rPr>
              <a:t>✓ Full audit trail via Cloud Logging</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8">
    <p:bg>
      <p:bgPr>
        <a:solidFill>
          <a:schemeClr val="bg1"/>
        </a:solidFill>
        <a:effectLst/>
      </p:bgPr>
    </p:bg>
    <p:spTree>
      <p:nvGrpSpPr>
        <p:cNvPr id="1" name=""/>
        <p:cNvGrpSpPr/>
        <p:nvPr/>
      </p:nvGrpSpPr>
      <p:grpSpPr>
        <a:xfrm>
          <a:off x="0" y="0"/>
          <a:ext cx="0" cy="0"/>
          <a:chOff x="0" y="0"/>
          <a:chExt cx="0" cy="0"/>
        </a:xfrm>
      </p:grpSpPr>
      <p:sp>
        <p:nvSpPr>
          <p:cNvPr id="2" name="Text 0"/>
          <p:cNvSpPr/>
          <p:nvPr/>
        </p:nvSpPr>
        <p:spPr>
          <a:xfrm>
            <a:off x="7589520" y="137160"/>
            <a:ext cx="1371600" cy="274320"/>
          </a:xfrm>
          <a:prstGeom prst="rect">
            <a:avLst/>
          </a:prstGeom>
          <a:noFill/>
          <a:ln/>
        </p:spPr>
        <p:txBody>
          <a:bodyPr wrap="square" lIns="0" tIns="0" rIns="0" bIns="0" rtlCol="0" anchor="ctr"/>
          <a:lstStyle/>
          <a:p>
            <a:pPr marL="0" indent="0" algn="r">
              <a:buNone/>
            </a:pPr>
            <a:r>
              <a:rPr lang="en-US" sz="1200" b="1" kern="0" spc="300" dirty="0">
                <a:solidFill>
                  <a:srgbClr val="3CB371"/>
                </a:solidFill>
                <a:latin typeface="Trebuchet MS" pitchFamily="34" charset="0"/>
                <a:ea typeface="Trebuchet MS" pitchFamily="34" charset="-122"/>
                <a:cs typeface="Trebuchet MS" pitchFamily="34" charset="-120"/>
              </a:rPr>
              <a:t>SECTIGO</a:t>
            </a:r>
            <a:endParaRPr lang="en-US" sz="1200" dirty="0"/>
          </a:p>
        </p:txBody>
      </p:sp>
      <p:sp>
        <p:nvSpPr>
          <p:cNvPr id="3" name="Text 1"/>
          <p:cNvSpPr/>
          <p:nvPr/>
        </p:nvSpPr>
        <p:spPr>
          <a:xfrm>
            <a:off x="457200" y="1097280"/>
            <a:ext cx="1828800" cy="1371600"/>
          </a:xfrm>
          <a:prstGeom prst="rect">
            <a:avLst/>
          </a:prstGeom>
          <a:noFill/>
          <a:ln/>
        </p:spPr>
        <p:txBody>
          <a:bodyPr wrap="square" lIns="0" tIns="0" rIns="0" bIns="0" rtlCol="0" anchor="ctr"/>
          <a:lstStyle/>
          <a:p>
            <a:pPr marL="0" indent="0" algn="l">
              <a:buNone/>
            </a:pPr>
            <a:r>
              <a:rPr lang="en-US" sz="7200" b="1" dirty="0">
                <a:solidFill>
                  <a:srgbClr val="E8751A"/>
                </a:solidFill>
                <a:latin typeface="Georgia" pitchFamily="34" charset="0"/>
                <a:ea typeface="Georgia" pitchFamily="34" charset="-122"/>
                <a:cs typeface="Georgia" pitchFamily="34" charset="-120"/>
              </a:rPr>
              <a:t>05</a:t>
            </a:r>
            <a:endParaRPr lang="en-US" sz="7200" dirty="0"/>
          </a:p>
        </p:txBody>
      </p:sp>
      <p:sp>
        <p:nvSpPr>
          <p:cNvPr id="4" name="Shape 2"/>
          <p:cNvSpPr/>
          <p:nvPr/>
        </p:nvSpPr>
        <p:spPr>
          <a:xfrm>
            <a:off x="457200" y="2560320"/>
            <a:ext cx="2743200" cy="0"/>
          </a:xfrm>
          <a:prstGeom prst="line">
            <a:avLst/>
          </a:prstGeom>
          <a:noFill/>
          <a:ln w="38100">
            <a:solidFill>
              <a:srgbClr val="E8751A"/>
            </a:solidFill>
            <a:prstDash val="solid"/>
          </a:ln>
        </p:spPr>
        <p:txBody>
          <a:bodyPr/>
          <a:lstStyle/>
          <a:p>
            <a:endParaRPr lang="en-US"/>
          </a:p>
        </p:txBody>
      </p:sp>
      <p:sp>
        <p:nvSpPr>
          <p:cNvPr id="5" name="Text 3"/>
          <p:cNvSpPr/>
          <p:nvPr/>
        </p:nvSpPr>
        <p:spPr>
          <a:xfrm>
            <a:off x="457200" y="2743200"/>
            <a:ext cx="8229600" cy="914400"/>
          </a:xfrm>
          <a:prstGeom prst="rect">
            <a:avLst/>
          </a:prstGeom>
          <a:noFill/>
          <a:ln/>
        </p:spPr>
        <p:txBody>
          <a:bodyPr wrap="square" lIns="0" tIns="0" rIns="0" bIns="0" rtlCol="0" anchor="ctr"/>
          <a:lstStyle/>
          <a:p>
            <a:pPr marL="0" indent="0" algn="l">
              <a:buNone/>
            </a:pPr>
            <a:r>
              <a:rPr lang="en-US" sz="3600" b="1" dirty="0">
                <a:latin typeface="Georgia" pitchFamily="34" charset="0"/>
                <a:ea typeface="Georgia" pitchFamily="34" charset="-122"/>
                <a:cs typeface="Georgia" pitchFamily="34" charset="-120"/>
              </a:rPr>
              <a:t>Proof It Works</a:t>
            </a:r>
            <a:endParaRPr lang="en-US" sz="3600" dirty="0"/>
          </a:p>
        </p:txBody>
      </p:sp>
      <p:sp>
        <p:nvSpPr>
          <p:cNvPr id="6" name="Text 4"/>
          <p:cNvSpPr/>
          <p:nvPr/>
        </p:nvSpPr>
        <p:spPr>
          <a:xfrm>
            <a:off x="457200" y="3566160"/>
            <a:ext cx="8229600" cy="457200"/>
          </a:xfrm>
          <a:prstGeom prst="rect">
            <a:avLst/>
          </a:prstGeom>
          <a:noFill/>
          <a:ln/>
        </p:spPr>
        <p:txBody>
          <a:bodyPr wrap="square" lIns="0" tIns="0" rIns="0" bIns="0" rtlCol="0" anchor="ctr"/>
          <a:lstStyle/>
          <a:p>
            <a:pPr marL="0" indent="0" algn="l">
              <a:buNone/>
            </a:pPr>
            <a:r>
              <a:rPr lang="en-US" sz="1400" dirty="0">
                <a:solidFill>
                  <a:srgbClr val="999999"/>
                </a:solidFill>
                <a:latin typeface="Calibri" pitchFamily="34" charset="0"/>
                <a:ea typeface="Calibri" pitchFamily="34" charset="-122"/>
                <a:cs typeface="Calibri" pitchFamily="34" charset="-120"/>
              </a:rPr>
              <a:t>Live demo &amp; observability</a:t>
            </a:r>
            <a:endParaRPr lang="en-US" sz="14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9">
    <p:bg>
      <p:bgPr>
        <a:solidFill>
          <a:schemeClr val="bg1"/>
        </a:solidFill>
        <a:effectLst/>
      </p:bgPr>
    </p:bg>
    <p:spTree>
      <p:nvGrpSpPr>
        <p:cNvPr id="1" name=""/>
        <p:cNvGrpSpPr/>
        <p:nvPr/>
      </p:nvGrpSpPr>
      <p:grpSpPr>
        <a:xfrm>
          <a:off x="0" y="0"/>
          <a:ext cx="0" cy="0"/>
          <a:chOff x="0" y="0"/>
          <a:chExt cx="0" cy="0"/>
        </a:xfrm>
      </p:grpSpPr>
      <p:sp>
        <p:nvSpPr>
          <p:cNvPr id="2" name="Text 0"/>
          <p:cNvSpPr/>
          <p:nvPr/>
        </p:nvSpPr>
        <p:spPr>
          <a:xfrm>
            <a:off x="7589520" y="137160"/>
            <a:ext cx="1371600" cy="274320"/>
          </a:xfrm>
          <a:prstGeom prst="rect">
            <a:avLst/>
          </a:prstGeom>
          <a:noFill/>
          <a:ln/>
        </p:spPr>
        <p:txBody>
          <a:bodyPr wrap="square" lIns="0" tIns="0" rIns="0" bIns="0" rtlCol="0" anchor="ctr"/>
          <a:lstStyle/>
          <a:p>
            <a:pPr marL="0" indent="0" algn="r">
              <a:buNone/>
            </a:pPr>
            <a:r>
              <a:rPr lang="en-US" sz="1200" b="1" kern="0" spc="300" dirty="0">
                <a:solidFill>
                  <a:srgbClr val="3CB371"/>
                </a:solidFill>
                <a:latin typeface="Trebuchet MS" pitchFamily="34" charset="0"/>
                <a:ea typeface="Trebuchet MS" pitchFamily="34" charset="-122"/>
                <a:cs typeface="Trebuchet MS" pitchFamily="34" charset="-120"/>
              </a:rPr>
              <a:t>SECTIGO</a:t>
            </a:r>
            <a:endParaRPr lang="en-US" sz="1200" dirty="0"/>
          </a:p>
        </p:txBody>
      </p:sp>
      <p:sp>
        <p:nvSpPr>
          <p:cNvPr id="3" name="Shape 1"/>
          <p:cNvSpPr/>
          <p:nvPr/>
        </p:nvSpPr>
        <p:spPr>
          <a:xfrm>
            <a:off x="457200" y="182880"/>
            <a:ext cx="1138428" cy="256032"/>
          </a:xfrm>
          <a:prstGeom prst="roundRect">
            <a:avLst>
              <a:gd name="adj" fmla="val 14286"/>
            </a:avLst>
          </a:prstGeom>
          <a:solidFill>
            <a:srgbClr val="E8751A"/>
          </a:solidFill>
          <a:ln/>
        </p:spPr>
        <p:txBody>
          <a:bodyPr/>
          <a:lstStyle/>
          <a:p>
            <a:endParaRPr lang="en-US"/>
          </a:p>
        </p:txBody>
      </p:sp>
      <p:sp>
        <p:nvSpPr>
          <p:cNvPr id="4" name="Text 2"/>
          <p:cNvSpPr/>
          <p:nvPr/>
        </p:nvSpPr>
        <p:spPr>
          <a:xfrm>
            <a:off x="457200" y="182880"/>
            <a:ext cx="1138428" cy="256032"/>
          </a:xfrm>
          <a:prstGeom prst="rect">
            <a:avLst/>
          </a:prstGeom>
          <a:noFill/>
          <a:ln/>
        </p:spPr>
        <p:txBody>
          <a:bodyPr wrap="square" lIns="0" tIns="0" rIns="0" bIns="0" rtlCol="0" anchor="ctr"/>
          <a:lstStyle/>
          <a:p>
            <a:pPr marL="0" indent="0" algn="ctr">
              <a:buNone/>
            </a:pPr>
            <a:r>
              <a:rPr lang="en-US" sz="800" b="1" kern="0" spc="200" dirty="0">
                <a:solidFill>
                  <a:srgbClr val="FFFFFF"/>
                </a:solidFill>
                <a:latin typeface="Trebuchet MS" pitchFamily="34" charset="0"/>
                <a:ea typeface="Trebuchet MS" pitchFamily="34" charset="-122"/>
                <a:cs typeface="Trebuchet MS" pitchFamily="34" charset="-120"/>
              </a:rPr>
              <a:t>LIVE DEMO</a:t>
            </a:r>
            <a:endParaRPr lang="en-US" sz="800" dirty="0"/>
          </a:p>
        </p:txBody>
      </p:sp>
      <p:sp>
        <p:nvSpPr>
          <p:cNvPr id="5" name="Text 3"/>
          <p:cNvSpPr/>
          <p:nvPr/>
        </p:nvSpPr>
        <p:spPr>
          <a:xfrm>
            <a:off x="457200" y="594360"/>
            <a:ext cx="8229600" cy="411480"/>
          </a:xfrm>
          <a:prstGeom prst="rect">
            <a:avLst/>
          </a:prstGeom>
          <a:noFill/>
          <a:ln/>
        </p:spPr>
        <p:txBody>
          <a:bodyPr wrap="square" lIns="0" tIns="0" rIns="0" bIns="0" rtlCol="0" anchor="ctr"/>
          <a:lstStyle/>
          <a:p>
            <a:pPr marL="0" indent="0">
              <a:buNone/>
            </a:pPr>
            <a:r>
              <a:rPr lang="en-US" sz="2400" b="1" dirty="0">
                <a:latin typeface="Georgia" pitchFamily="34" charset="0"/>
                <a:ea typeface="Georgia" pitchFamily="34" charset="-122"/>
                <a:cs typeface="Georgia" pitchFamily="34" charset="-120"/>
              </a:rPr>
              <a:t>Test Cases: Real Kubernetes Failure Scenarios</a:t>
            </a:r>
            <a:endParaRPr lang="en-US" sz="2400" dirty="0"/>
          </a:p>
        </p:txBody>
      </p:sp>
      <p:sp>
        <p:nvSpPr>
          <p:cNvPr id="6" name="Shape 4"/>
          <p:cNvSpPr/>
          <p:nvPr/>
        </p:nvSpPr>
        <p:spPr>
          <a:xfrm>
            <a:off x="457200" y="1143000"/>
            <a:ext cx="8229600" cy="1170432"/>
          </a:xfrm>
          <a:prstGeom prst="rect">
            <a:avLst/>
          </a:prstGeom>
          <a:solidFill>
            <a:srgbClr val="242424"/>
          </a:solidFill>
          <a:ln w="12700">
            <a:solidFill>
              <a:srgbClr val="333333"/>
            </a:solidFill>
            <a:prstDash val="solid"/>
          </a:ln>
        </p:spPr>
        <p:txBody>
          <a:bodyPr/>
          <a:lstStyle/>
          <a:p>
            <a:endParaRPr lang="en-US"/>
          </a:p>
        </p:txBody>
      </p:sp>
      <p:sp>
        <p:nvSpPr>
          <p:cNvPr id="7" name="Shape 5"/>
          <p:cNvSpPr/>
          <p:nvPr/>
        </p:nvSpPr>
        <p:spPr>
          <a:xfrm>
            <a:off x="457200" y="1143000"/>
            <a:ext cx="54864" cy="1170432"/>
          </a:xfrm>
          <a:prstGeom prst="rect">
            <a:avLst/>
          </a:prstGeom>
          <a:solidFill>
            <a:srgbClr val="E74C3C"/>
          </a:solidFill>
          <a:ln/>
        </p:spPr>
        <p:txBody>
          <a:bodyPr/>
          <a:lstStyle/>
          <a:p>
            <a:endParaRPr lang="en-US"/>
          </a:p>
        </p:txBody>
      </p:sp>
      <p:sp>
        <p:nvSpPr>
          <p:cNvPr id="8" name="Shape 6"/>
          <p:cNvSpPr/>
          <p:nvPr/>
        </p:nvSpPr>
        <p:spPr>
          <a:xfrm>
            <a:off x="640080" y="1216152"/>
            <a:ext cx="502920" cy="201168"/>
          </a:xfrm>
          <a:prstGeom prst="rect">
            <a:avLst/>
          </a:prstGeom>
          <a:solidFill>
            <a:srgbClr val="E74C3C"/>
          </a:solidFill>
          <a:ln/>
        </p:spPr>
        <p:txBody>
          <a:bodyPr/>
          <a:lstStyle/>
          <a:p>
            <a:endParaRPr lang="en-US"/>
          </a:p>
        </p:txBody>
      </p:sp>
      <p:sp>
        <p:nvSpPr>
          <p:cNvPr id="9" name="Text 7"/>
          <p:cNvSpPr/>
          <p:nvPr/>
        </p:nvSpPr>
        <p:spPr>
          <a:xfrm>
            <a:off x="640080" y="1216152"/>
            <a:ext cx="502920" cy="201168"/>
          </a:xfrm>
          <a:prstGeom prst="rect">
            <a:avLst/>
          </a:prstGeom>
          <a:noFill/>
          <a:ln/>
        </p:spPr>
        <p:txBody>
          <a:bodyPr wrap="square" lIns="0" tIns="0" rIns="0" bIns="0" rtlCol="0" anchor="ctr"/>
          <a:lstStyle/>
          <a:p>
            <a:pPr marL="0" indent="0" algn="ctr">
              <a:buNone/>
            </a:pPr>
            <a:r>
              <a:rPr lang="en-US" sz="800" b="1" dirty="0">
                <a:solidFill>
                  <a:srgbClr val="FFFFFF"/>
                </a:solidFill>
                <a:latin typeface="Trebuchet MS" pitchFamily="34" charset="0"/>
                <a:ea typeface="Trebuchet MS" pitchFamily="34" charset="-122"/>
                <a:cs typeface="Trebuchet MS" pitchFamily="34" charset="-120"/>
              </a:rPr>
              <a:t>TC-01</a:t>
            </a:r>
            <a:endParaRPr lang="en-US" sz="800" dirty="0"/>
          </a:p>
        </p:txBody>
      </p:sp>
      <p:sp>
        <p:nvSpPr>
          <p:cNvPr id="10" name="Text 8"/>
          <p:cNvSpPr/>
          <p:nvPr/>
        </p:nvSpPr>
        <p:spPr>
          <a:xfrm>
            <a:off x="1234440" y="1188720"/>
            <a:ext cx="7132320" cy="256032"/>
          </a:xfrm>
          <a:prstGeom prst="rect">
            <a:avLst/>
          </a:prstGeom>
          <a:noFill/>
          <a:ln/>
        </p:spPr>
        <p:txBody>
          <a:bodyPr wrap="square" lIns="0" tIns="0" rIns="0" bIns="0" rtlCol="0" anchor="ctr"/>
          <a:lstStyle/>
          <a:p>
            <a:pPr marL="0" indent="0" algn="l">
              <a:buNone/>
            </a:pPr>
            <a:r>
              <a:rPr lang="en-US" sz="1300" b="1" dirty="0">
                <a:solidFill>
                  <a:srgbClr val="FFFFFF"/>
                </a:solidFill>
                <a:latin typeface="Trebuchet MS" pitchFamily="34" charset="0"/>
                <a:ea typeface="Trebuchet MS" pitchFamily="34" charset="-122"/>
                <a:cs typeface="Trebuchet MS" pitchFamily="34" charset="-120"/>
              </a:rPr>
              <a:t>CreateContainerConfigError — Missing ConfigMap</a:t>
            </a:r>
            <a:endParaRPr lang="en-US" sz="1300" dirty="0"/>
          </a:p>
        </p:txBody>
      </p:sp>
      <p:sp>
        <p:nvSpPr>
          <p:cNvPr id="11" name="Text 9"/>
          <p:cNvSpPr/>
          <p:nvPr/>
        </p:nvSpPr>
        <p:spPr>
          <a:xfrm>
            <a:off x="685800" y="1463040"/>
            <a:ext cx="7772400" cy="201168"/>
          </a:xfrm>
          <a:prstGeom prst="rect">
            <a:avLst/>
          </a:prstGeom>
          <a:noFill/>
          <a:ln/>
        </p:spPr>
        <p:txBody>
          <a:bodyPr wrap="square" lIns="0" tIns="0" rIns="0" bIns="0" rtlCol="0" anchor="ctr"/>
          <a:lstStyle/>
          <a:p>
            <a:pPr marL="0" indent="0" algn="l">
              <a:buNone/>
            </a:pPr>
            <a:r>
              <a:rPr lang="en-US" sz="900" i="1" dirty="0">
                <a:solidFill>
                  <a:srgbClr val="3CB371"/>
                </a:solidFill>
                <a:latin typeface="Consolas" pitchFamily="34" charset="0"/>
                <a:ea typeface="Consolas" pitchFamily="34" charset="-122"/>
                <a:cs typeface="Consolas" pitchFamily="34" charset="-120"/>
              </a:rPr>
              <a:t>"Pod missing-configmap-pod in sre-agent-poc won't start. Investigate."</a:t>
            </a:r>
            <a:endParaRPr lang="en-US" sz="900" dirty="0"/>
          </a:p>
        </p:txBody>
      </p:sp>
      <p:sp>
        <p:nvSpPr>
          <p:cNvPr id="12" name="Text 10"/>
          <p:cNvSpPr/>
          <p:nvPr/>
        </p:nvSpPr>
        <p:spPr>
          <a:xfrm>
            <a:off x="685800" y="1691640"/>
            <a:ext cx="7772400" cy="228600"/>
          </a:xfrm>
          <a:prstGeom prst="rect">
            <a:avLst/>
          </a:prstGeom>
          <a:noFill/>
          <a:ln/>
        </p:spPr>
        <p:txBody>
          <a:bodyPr wrap="square" lIns="0" tIns="0" rIns="0" bIns="0" rtlCol="0" anchor="ctr"/>
          <a:lstStyle/>
          <a:p>
            <a:pPr marL="0" indent="0" algn="l">
              <a:buNone/>
            </a:pPr>
            <a:r>
              <a:rPr lang="en-US" sz="900" dirty="0">
                <a:solidFill>
                  <a:srgbClr val="CCCCCC"/>
                </a:solidFill>
                <a:latin typeface="Calibri" pitchFamily="34" charset="0"/>
                <a:ea typeface="Calibri" pitchFamily="34" charset="-122"/>
                <a:cs typeface="Calibri" pitchFamily="34" charset="-120"/>
              </a:rPr>
              <a:t>Agent describes the pod -&gt; finds the missing ConfigMap reference -&gt; confirms via events -&gt; returns root cause.</a:t>
            </a:r>
            <a:endParaRPr lang="en-US" sz="900" dirty="0"/>
          </a:p>
        </p:txBody>
      </p:sp>
      <p:sp>
        <p:nvSpPr>
          <p:cNvPr id="13" name="Text 11"/>
          <p:cNvSpPr/>
          <p:nvPr/>
        </p:nvSpPr>
        <p:spPr>
          <a:xfrm>
            <a:off x="685800" y="1965960"/>
            <a:ext cx="7772400" cy="274320"/>
          </a:xfrm>
          <a:prstGeom prst="rect">
            <a:avLst/>
          </a:prstGeom>
          <a:noFill/>
          <a:ln/>
        </p:spPr>
        <p:txBody>
          <a:bodyPr wrap="square" lIns="0" tIns="0" rIns="0" bIns="0" rtlCol="0" anchor="ctr"/>
          <a:lstStyle/>
          <a:p>
            <a:pPr marL="0" indent="0" algn="l">
              <a:buNone/>
            </a:pPr>
            <a:r>
              <a:rPr lang="en-US" sz="800" b="1" dirty="0">
                <a:solidFill>
                  <a:srgbClr val="1ABC9C"/>
                </a:solidFill>
                <a:latin typeface="Calibri" pitchFamily="34" charset="0"/>
                <a:ea typeface="Calibri" pitchFamily="34" charset="-122"/>
                <a:cs typeface="Calibri" pitchFamily="34" charset="-120"/>
              </a:rPr>
              <a:t>Tools: describe_k8s_resource - list_k8s_events   * Passed, confidence 0.80-0.90 (real eval run)</a:t>
            </a:r>
            <a:r>
              <a:rPr lang="en-US" sz="800" dirty="0">
                <a:solidFill>
                  <a:srgbClr val="999999"/>
                </a:solidFill>
                <a:latin typeface="Calibri" pitchFamily="34" charset="0"/>
                <a:ea typeface="Calibri" pitchFamily="34" charset="-122"/>
                <a:cs typeface="Calibri" pitchFamily="34" charset="-120"/>
              </a:rPr>
              <a:t>get_pod_status · get_previous_pod_logs · get_pod_events</a:t>
            </a:r>
            <a:r>
              <a:rPr lang="en-US" sz="800" i="1" dirty="0">
                <a:solidFill>
                  <a:srgbClr val="666666"/>
                </a:solidFill>
                <a:latin typeface="Calibri" pitchFamily="34" charset="0"/>
                <a:ea typeface="Calibri" pitchFamily="34" charset="-122"/>
                <a:cs typeface="Calibri" pitchFamily="34" charset="-120"/>
              </a:rPr>
              <a:t>   ★  Most common production incident — demonstrates multi-step evidence gathering</a:t>
            </a:r>
            <a:endParaRPr lang="en-US" sz="800" dirty="0"/>
          </a:p>
        </p:txBody>
      </p:sp>
      <p:sp>
        <p:nvSpPr>
          <p:cNvPr id="14" name="Shape 12"/>
          <p:cNvSpPr/>
          <p:nvPr/>
        </p:nvSpPr>
        <p:spPr>
          <a:xfrm>
            <a:off x="457200" y="2423160"/>
            <a:ext cx="8229600" cy="1170432"/>
          </a:xfrm>
          <a:prstGeom prst="rect">
            <a:avLst/>
          </a:prstGeom>
          <a:solidFill>
            <a:srgbClr val="242424"/>
          </a:solidFill>
          <a:ln w="12700">
            <a:solidFill>
              <a:srgbClr val="333333"/>
            </a:solidFill>
            <a:prstDash val="solid"/>
          </a:ln>
        </p:spPr>
        <p:txBody>
          <a:bodyPr/>
          <a:lstStyle/>
          <a:p>
            <a:endParaRPr lang="en-US"/>
          </a:p>
        </p:txBody>
      </p:sp>
      <p:sp>
        <p:nvSpPr>
          <p:cNvPr id="15" name="Shape 13"/>
          <p:cNvSpPr/>
          <p:nvPr/>
        </p:nvSpPr>
        <p:spPr>
          <a:xfrm>
            <a:off x="457200" y="2423160"/>
            <a:ext cx="54864" cy="1170432"/>
          </a:xfrm>
          <a:prstGeom prst="rect">
            <a:avLst/>
          </a:prstGeom>
          <a:solidFill>
            <a:srgbClr val="E8751A"/>
          </a:solidFill>
          <a:ln/>
        </p:spPr>
        <p:txBody>
          <a:bodyPr/>
          <a:lstStyle/>
          <a:p>
            <a:endParaRPr lang="en-US"/>
          </a:p>
        </p:txBody>
      </p:sp>
      <p:sp>
        <p:nvSpPr>
          <p:cNvPr id="16" name="Shape 14"/>
          <p:cNvSpPr/>
          <p:nvPr/>
        </p:nvSpPr>
        <p:spPr>
          <a:xfrm>
            <a:off x="640080" y="2496312"/>
            <a:ext cx="502920" cy="201168"/>
          </a:xfrm>
          <a:prstGeom prst="rect">
            <a:avLst/>
          </a:prstGeom>
          <a:solidFill>
            <a:srgbClr val="E8751A"/>
          </a:solidFill>
          <a:ln/>
        </p:spPr>
        <p:txBody>
          <a:bodyPr/>
          <a:lstStyle/>
          <a:p>
            <a:endParaRPr lang="en-US"/>
          </a:p>
        </p:txBody>
      </p:sp>
      <p:sp>
        <p:nvSpPr>
          <p:cNvPr id="17" name="Text 15"/>
          <p:cNvSpPr/>
          <p:nvPr/>
        </p:nvSpPr>
        <p:spPr>
          <a:xfrm>
            <a:off x="640080" y="2496312"/>
            <a:ext cx="502920" cy="201168"/>
          </a:xfrm>
          <a:prstGeom prst="rect">
            <a:avLst/>
          </a:prstGeom>
          <a:noFill/>
          <a:ln/>
        </p:spPr>
        <p:txBody>
          <a:bodyPr wrap="square" lIns="0" tIns="0" rIns="0" bIns="0" rtlCol="0" anchor="ctr"/>
          <a:lstStyle/>
          <a:p>
            <a:pPr marL="0" indent="0" algn="ctr">
              <a:buNone/>
            </a:pPr>
            <a:r>
              <a:rPr lang="en-US" sz="800" b="1" dirty="0">
                <a:solidFill>
                  <a:srgbClr val="FFFFFF"/>
                </a:solidFill>
                <a:latin typeface="Trebuchet MS" pitchFamily="34" charset="0"/>
                <a:ea typeface="Trebuchet MS" pitchFamily="34" charset="-122"/>
                <a:cs typeface="Trebuchet MS" pitchFamily="34" charset="-120"/>
              </a:rPr>
              <a:t>TC-02</a:t>
            </a:r>
            <a:endParaRPr lang="en-US" sz="800" dirty="0"/>
          </a:p>
        </p:txBody>
      </p:sp>
      <p:sp>
        <p:nvSpPr>
          <p:cNvPr id="18" name="Text 16"/>
          <p:cNvSpPr/>
          <p:nvPr/>
        </p:nvSpPr>
        <p:spPr>
          <a:xfrm>
            <a:off x="1234440" y="2468880"/>
            <a:ext cx="7132320" cy="256032"/>
          </a:xfrm>
          <a:prstGeom prst="rect">
            <a:avLst/>
          </a:prstGeom>
          <a:noFill/>
          <a:ln/>
        </p:spPr>
        <p:txBody>
          <a:bodyPr wrap="square" lIns="0" tIns="0" rIns="0" bIns="0" rtlCol="0" anchor="ctr"/>
          <a:lstStyle/>
          <a:p>
            <a:pPr marL="0" indent="0" algn="l">
              <a:buNone/>
            </a:pPr>
            <a:r>
              <a:rPr lang="en-US" sz="1300" b="1" dirty="0">
                <a:solidFill>
                  <a:srgbClr val="FFFFFF"/>
                </a:solidFill>
                <a:latin typeface="Trebuchet MS" pitchFamily="34" charset="0"/>
                <a:ea typeface="Trebuchet MS" pitchFamily="34" charset="-122"/>
                <a:cs typeface="Trebuchet MS" pitchFamily="34" charset="-120"/>
              </a:rPr>
              <a:t>Stuck Pending — Missing PersistentVolumeClaim</a:t>
            </a:r>
            <a:endParaRPr lang="en-US" sz="1300" dirty="0"/>
          </a:p>
        </p:txBody>
      </p:sp>
      <p:sp>
        <p:nvSpPr>
          <p:cNvPr id="19" name="Text 17"/>
          <p:cNvSpPr/>
          <p:nvPr/>
        </p:nvSpPr>
        <p:spPr>
          <a:xfrm>
            <a:off x="685800" y="2743200"/>
            <a:ext cx="7772400" cy="201168"/>
          </a:xfrm>
          <a:prstGeom prst="rect">
            <a:avLst/>
          </a:prstGeom>
          <a:noFill/>
          <a:ln/>
        </p:spPr>
        <p:txBody>
          <a:bodyPr wrap="square" lIns="0" tIns="0" rIns="0" bIns="0" rtlCol="0" anchor="ctr"/>
          <a:lstStyle/>
          <a:p>
            <a:pPr marL="0" indent="0" algn="l">
              <a:buNone/>
            </a:pPr>
            <a:r>
              <a:rPr lang="en-US" sz="900" i="1" dirty="0">
                <a:solidFill>
                  <a:srgbClr val="3CB371"/>
                </a:solidFill>
                <a:latin typeface="Consolas" pitchFamily="34" charset="0"/>
                <a:ea typeface="Consolas" pitchFamily="34" charset="-122"/>
                <a:cs typeface="Consolas" pitchFamily="34" charset="-120"/>
              </a:rPr>
              <a:t>"Pod pvc-pending-pod in sre-agent-poc has been stuck Pending. Investigate."</a:t>
            </a:r>
            <a:endParaRPr lang="en-US" sz="900" dirty="0"/>
          </a:p>
        </p:txBody>
      </p:sp>
      <p:sp>
        <p:nvSpPr>
          <p:cNvPr id="20" name="Text 18"/>
          <p:cNvSpPr/>
          <p:nvPr/>
        </p:nvSpPr>
        <p:spPr>
          <a:xfrm>
            <a:off x="685800" y="2971800"/>
            <a:ext cx="7772400" cy="228600"/>
          </a:xfrm>
          <a:prstGeom prst="rect">
            <a:avLst/>
          </a:prstGeom>
          <a:noFill/>
          <a:ln/>
        </p:spPr>
        <p:txBody>
          <a:bodyPr wrap="square" lIns="0" tIns="0" rIns="0" bIns="0" rtlCol="0" anchor="ctr"/>
          <a:lstStyle/>
          <a:p>
            <a:pPr marL="0" indent="0" algn="l">
              <a:buNone/>
            </a:pPr>
            <a:r>
              <a:rPr lang="en-US" sz="900" dirty="0">
                <a:solidFill>
                  <a:srgbClr val="CCCCCC"/>
                </a:solidFill>
                <a:latin typeface="Calibri" pitchFamily="34" charset="0"/>
                <a:ea typeface="Calibri" pitchFamily="34" charset="-122"/>
                <a:cs typeface="Calibri" pitchFamily="34" charset="-120"/>
              </a:rPr>
              <a:t>Agent checks pod status -&gt; finds FailedScheduling event -&gt; traces to the missing PVC -&gt; returns root cause.</a:t>
            </a:r>
            <a:endParaRPr lang="en-US" sz="900" dirty="0"/>
          </a:p>
        </p:txBody>
      </p:sp>
      <p:sp>
        <p:nvSpPr>
          <p:cNvPr id="21" name="Text 19"/>
          <p:cNvSpPr/>
          <p:nvPr/>
        </p:nvSpPr>
        <p:spPr>
          <a:xfrm>
            <a:off x="685800" y="3246120"/>
            <a:ext cx="7772400" cy="274320"/>
          </a:xfrm>
          <a:prstGeom prst="rect">
            <a:avLst/>
          </a:prstGeom>
          <a:noFill/>
          <a:ln/>
        </p:spPr>
        <p:txBody>
          <a:bodyPr wrap="square" lIns="0" tIns="0" rIns="0" bIns="0" rtlCol="0" anchor="ctr"/>
          <a:lstStyle/>
          <a:p>
            <a:pPr marL="0" indent="0" algn="l">
              <a:buNone/>
            </a:pPr>
            <a:r>
              <a:rPr lang="en-US" sz="800" b="1" dirty="0">
                <a:solidFill>
                  <a:srgbClr val="1ABC9C"/>
                </a:solidFill>
                <a:latin typeface="Calibri" pitchFamily="34" charset="0"/>
                <a:ea typeface="Calibri" pitchFamily="34" charset="-122"/>
                <a:cs typeface="Calibri" pitchFamily="34" charset="-120"/>
              </a:rPr>
              <a:t>Tools: describe_k8s_resource - list_k8s_events   * Passed, confidence 0.90, keyword match 1.00 (real eval run)</a:t>
            </a:r>
            <a:r>
              <a:rPr lang="en-US" sz="800" dirty="0">
                <a:solidFill>
                  <a:srgbClr val="999999"/>
                </a:solidFill>
                <a:latin typeface="Calibri" pitchFamily="34" charset="0"/>
                <a:ea typeface="Calibri" pitchFamily="34" charset="-122"/>
                <a:cs typeface="Calibri" pitchFamily="34" charset="-120"/>
              </a:rPr>
              <a:t>get_pod_events · get_pod_status · describe_pod</a:t>
            </a:r>
            <a:r>
              <a:rPr lang="en-US" sz="800" i="1" dirty="0">
                <a:solidFill>
                  <a:srgbClr val="666666"/>
                </a:solidFill>
                <a:latin typeface="Calibri" pitchFamily="34" charset="0"/>
                <a:ea typeface="Calibri" pitchFamily="34" charset="-122"/>
                <a:cs typeface="Calibri" pitchFamily="34" charset="-120"/>
              </a:rPr>
              <a:t>   ★  Common misconfiguration — shows agent reasoning about config rather than runtime errors</a:t>
            </a:r>
            <a:endParaRPr lang="en-US" sz="800" dirty="0"/>
          </a:p>
        </p:txBody>
      </p:sp>
      <p:sp>
        <p:nvSpPr>
          <p:cNvPr id="22" name="Shape 20"/>
          <p:cNvSpPr/>
          <p:nvPr/>
        </p:nvSpPr>
        <p:spPr>
          <a:xfrm>
            <a:off x="457200" y="3703320"/>
            <a:ext cx="8229600" cy="1170432"/>
          </a:xfrm>
          <a:prstGeom prst="rect">
            <a:avLst/>
          </a:prstGeom>
          <a:solidFill>
            <a:srgbClr val="242424"/>
          </a:solidFill>
          <a:ln w="12700">
            <a:solidFill>
              <a:srgbClr val="333333"/>
            </a:solidFill>
            <a:prstDash val="solid"/>
          </a:ln>
        </p:spPr>
        <p:txBody>
          <a:bodyPr/>
          <a:lstStyle/>
          <a:p>
            <a:endParaRPr lang="en-US"/>
          </a:p>
        </p:txBody>
      </p:sp>
      <p:sp>
        <p:nvSpPr>
          <p:cNvPr id="23" name="Shape 21"/>
          <p:cNvSpPr/>
          <p:nvPr/>
        </p:nvSpPr>
        <p:spPr>
          <a:xfrm>
            <a:off x="457200" y="3703320"/>
            <a:ext cx="54864" cy="1170432"/>
          </a:xfrm>
          <a:prstGeom prst="rect">
            <a:avLst/>
          </a:prstGeom>
          <a:solidFill>
            <a:srgbClr val="F4C542"/>
          </a:solidFill>
          <a:ln/>
        </p:spPr>
        <p:txBody>
          <a:bodyPr/>
          <a:lstStyle/>
          <a:p>
            <a:endParaRPr lang="en-US"/>
          </a:p>
        </p:txBody>
      </p:sp>
      <p:sp>
        <p:nvSpPr>
          <p:cNvPr id="24" name="Shape 22"/>
          <p:cNvSpPr/>
          <p:nvPr/>
        </p:nvSpPr>
        <p:spPr>
          <a:xfrm>
            <a:off x="640080" y="3776472"/>
            <a:ext cx="502920" cy="201168"/>
          </a:xfrm>
          <a:prstGeom prst="rect">
            <a:avLst/>
          </a:prstGeom>
          <a:solidFill>
            <a:srgbClr val="F4C542"/>
          </a:solidFill>
          <a:ln/>
        </p:spPr>
        <p:txBody>
          <a:bodyPr/>
          <a:lstStyle/>
          <a:p>
            <a:endParaRPr lang="en-US"/>
          </a:p>
        </p:txBody>
      </p:sp>
      <p:sp>
        <p:nvSpPr>
          <p:cNvPr id="25" name="Text 23"/>
          <p:cNvSpPr/>
          <p:nvPr/>
        </p:nvSpPr>
        <p:spPr>
          <a:xfrm>
            <a:off x="640080" y="3776472"/>
            <a:ext cx="502920" cy="201168"/>
          </a:xfrm>
          <a:prstGeom prst="rect">
            <a:avLst/>
          </a:prstGeom>
          <a:noFill/>
          <a:ln/>
        </p:spPr>
        <p:txBody>
          <a:bodyPr wrap="square" lIns="0" tIns="0" rIns="0" bIns="0" rtlCol="0" anchor="ctr"/>
          <a:lstStyle/>
          <a:p>
            <a:pPr marL="0" indent="0" algn="ctr">
              <a:buNone/>
            </a:pPr>
            <a:r>
              <a:rPr lang="en-US" sz="800" b="1" dirty="0">
                <a:solidFill>
                  <a:srgbClr val="FFFFFF"/>
                </a:solidFill>
                <a:latin typeface="Trebuchet MS" pitchFamily="34" charset="0"/>
                <a:ea typeface="Trebuchet MS" pitchFamily="34" charset="-122"/>
                <a:cs typeface="Trebuchet MS" pitchFamily="34" charset="-120"/>
              </a:rPr>
              <a:t>TC-03</a:t>
            </a:r>
            <a:endParaRPr lang="en-US" sz="800" dirty="0"/>
          </a:p>
        </p:txBody>
      </p:sp>
      <p:sp>
        <p:nvSpPr>
          <p:cNvPr id="26" name="Text 24"/>
          <p:cNvSpPr/>
          <p:nvPr/>
        </p:nvSpPr>
        <p:spPr>
          <a:xfrm>
            <a:off x="1234440" y="3749040"/>
            <a:ext cx="7132320" cy="256032"/>
          </a:xfrm>
          <a:prstGeom prst="rect">
            <a:avLst/>
          </a:prstGeom>
          <a:noFill/>
          <a:ln/>
        </p:spPr>
        <p:txBody>
          <a:bodyPr wrap="square" lIns="0" tIns="0" rIns="0" bIns="0" rtlCol="0" anchor="ctr"/>
          <a:lstStyle/>
          <a:p>
            <a:pPr marL="0" indent="0" algn="l">
              <a:buNone/>
            </a:pPr>
            <a:r>
              <a:rPr lang="en-US" sz="1300" b="1" dirty="0">
                <a:solidFill>
                  <a:srgbClr val="FFFFFF"/>
                </a:solidFill>
                <a:latin typeface="Trebuchet MS" pitchFamily="34" charset="0"/>
                <a:ea typeface="Trebuchet MS" pitchFamily="34" charset="-122"/>
                <a:cs typeface="Trebuchet MS" pitchFamily="34" charset="-120"/>
              </a:rPr>
              <a:t>Liveness Probe Failure — Repeated Restarts</a:t>
            </a:r>
            <a:endParaRPr lang="en-US" sz="1300" dirty="0"/>
          </a:p>
        </p:txBody>
      </p:sp>
      <p:sp>
        <p:nvSpPr>
          <p:cNvPr id="27" name="Text 25"/>
          <p:cNvSpPr/>
          <p:nvPr/>
        </p:nvSpPr>
        <p:spPr>
          <a:xfrm>
            <a:off x="685800" y="4023360"/>
            <a:ext cx="7772400" cy="201168"/>
          </a:xfrm>
          <a:prstGeom prst="rect">
            <a:avLst/>
          </a:prstGeom>
          <a:noFill/>
          <a:ln/>
        </p:spPr>
        <p:txBody>
          <a:bodyPr wrap="square" lIns="0" tIns="0" rIns="0" bIns="0" rtlCol="0" anchor="ctr"/>
          <a:lstStyle/>
          <a:p>
            <a:pPr marL="0" indent="0" algn="l">
              <a:buNone/>
            </a:pPr>
            <a:r>
              <a:rPr lang="en-US" sz="900" i="1" dirty="0">
                <a:solidFill>
                  <a:srgbClr val="3CB371"/>
                </a:solidFill>
                <a:latin typeface="Consolas" pitchFamily="34" charset="0"/>
                <a:ea typeface="Consolas" pitchFamily="34" charset="-122"/>
                <a:cs typeface="Consolas" pitchFamily="34" charset="-120"/>
              </a:rPr>
              <a:t>"Pod liveness-fail-pod in sre-agent-poc keeps restarting. Investigate."</a:t>
            </a:r>
            <a:endParaRPr lang="en-US" sz="900" dirty="0"/>
          </a:p>
        </p:txBody>
      </p:sp>
      <p:sp>
        <p:nvSpPr>
          <p:cNvPr id="28" name="Text 26"/>
          <p:cNvSpPr/>
          <p:nvPr/>
        </p:nvSpPr>
        <p:spPr>
          <a:xfrm>
            <a:off x="685800" y="4251960"/>
            <a:ext cx="7772400" cy="228600"/>
          </a:xfrm>
          <a:prstGeom prst="rect">
            <a:avLst/>
          </a:prstGeom>
          <a:noFill/>
          <a:ln/>
        </p:spPr>
        <p:txBody>
          <a:bodyPr wrap="square" lIns="0" tIns="0" rIns="0" bIns="0" rtlCol="0" anchor="ctr"/>
          <a:lstStyle/>
          <a:p>
            <a:pPr marL="0" indent="0" algn="l">
              <a:buNone/>
            </a:pPr>
            <a:r>
              <a:rPr lang="en-US" sz="900" dirty="0">
                <a:solidFill>
                  <a:srgbClr val="CCCCCC"/>
                </a:solidFill>
                <a:latin typeface="Calibri" pitchFamily="34" charset="0"/>
                <a:ea typeface="Calibri" pitchFamily="34" charset="-122"/>
                <a:cs typeface="Calibri" pitchFamily="34" charset="-120"/>
              </a:rPr>
              <a:t>Agent checks events -&gt; finds liveness probe failures -&gt; correlates with restart count -&gt; returns root cause.</a:t>
            </a:r>
            <a:endParaRPr lang="en-US" sz="900" dirty="0"/>
          </a:p>
        </p:txBody>
      </p:sp>
      <p:sp>
        <p:nvSpPr>
          <p:cNvPr id="29" name="Text 27"/>
          <p:cNvSpPr/>
          <p:nvPr/>
        </p:nvSpPr>
        <p:spPr>
          <a:xfrm>
            <a:off x="685800" y="4526280"/>
            <a:ext cx="7772400" cy="274320"/>
          </a:xfrm>
          <a:prstGeom prst="rect">
            <a:avLst/>
          </a:prstGeom>
          <a:noFill/>
          <a:ln/>
        </p:spPr>
        <p:txBody>
          <a:bodyPr wrap="square" lIns="0" tIns="0" rIns="0" bIns="0" rtlCol="0" anchor="ctr"/>
          <a:lstStyle/>
          <a:p>
            <a:pPr marL="0" indent="0" algn="l">
              <a:buNone/>
            </a:pPr>
            <a:r>
              <a:rPr lang="en-US" sz="800" b="1" dirty="0">
                <a:solidFill>
                  <a:srgbClr val="1ABC9C"/>
                </a:solidFill>
                <a:latin typeface="Calibri" pitchFamily="34" charset="0"/>
                <a:ea typeface="Calibri" pitchFamily="34" charset="-122"/>
                <a:cs typeface="Calibri" pitchFamily="34" charset="-120"/>
              </a:rPr>
              <a:t>Tools: list_k8s_events - describe_k8s_resource   * Passed, confidence 0.90 (real eval run)</a:t>
            </a:r>
            <a:r>
              <a:rPr lang="en-US" sz="800" dirty="0">
                <a:solidFill>
                  <a:srgbClr val="999999"/>
                </a:solidFill>
                <a:latin typeface="Calibri" pitchFamily="34" charset="0"/>
                <a:ea typeface="Calibri" pitchFamily="34" charset="-122"/>
                <a:cs typeface="Calibri" pitchFamily="34" charset="-120"/>
              </a:rPr>
              <a:t>get_pod_logs · get_previous_pod_logs · get_pod_status</a:t>
            </a:r>
            <a:r>
              <a:rPr lang="en-US" sz="800" i="1" dirty="0">
                <a:solidFill>
                  <a:srgbClr val="666666"/>
                </a:solidFill>
                <a:latin typeface="Calibri" pitchFamily="34" charset="0"/>
                <a:ea typeface="Calibri" pitchFamily="34" charset="-122"/>
                <a:cs typeface="Calibri" pitchFamily="34" charset="-120"/>
              </a:rPr>
              <a:t>   ★  Shows iterative log analysis across multiple restarts — highlights loop value</a:t>
            </a:r>
            <a:endParaRPr lang="en-US" sz="800" dirty="0"/>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589520" y="137160"/>
            <a:ext cx="1371600" cy="274320"/>
          </a:xfrm>
          <a:prstGeom prst="rect">
            <a:avLst/>
          </a:prstGeom>
          <a:noFill/>
        </p:spPr>
        <p:txBody>
          <a:bodyPr wrap="none">
            <a:spAutoFit/>
          </a:bodyPr>
          <a:lstStyle/>
          <a:p>
            <a:r>
              <a:rPr sz="1200" b="1">
                <a:solidFill>
                  <a:srgbClr val="3CB371"/>
                </a:solidFill>
                <a:latin typeface="Trebuchet MS"/>
              </a:rPr>
              <a:t>SECTIGO</a:t>
            </a:r>
          </a:p>
        </p:txBody>
      </p:sp>
      <p:sp>
        <p:nvSpPr>
          <p:cNvPr id="3" name="Rectangle 2"/>
          <p:cNvSpPr/>
          <p:nvPr/>
        </p:nvSpPr>
        <p:spPr>
          <a:xfrm>
            <a:off x="457200" y="182880"/>
            <a:ext cx="1554480" cy="256032"/>
          </a:xfrm>
          <a:prstGeom prst="rect">
            <a:avLst/>
          </a:prstGeom>
          <a:solidFill>
            <a:srgbClr val="F4C542"/>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1000" b="1">
                <a:solidFill>
                  <a:srgbClr val="1A1A1A"/>
                </a:solidFill>
                <a:latin typeface="Trebuchet MS"/>
              </a:rPr>
              <a:t>PROOF IT WORKS</a:t>
            </a:r>
          </a:p>
        </p:txBody>
      </p:sp>
      <p:sp>
        <p:nvSpPr>
          <p:cNvPr id="4" name="TextBox 3"/>
          <p:cNvSpPr txBox="1"/>
          <p:nvPr/>
        </p:nvSpPr>
        <p:spPr>
          <a:xfrm>
            <a:off x="457200" y="594360"/>
            <a:ext cx="8229600" cy="411480"/>
          </a:xfrm>
          <a:prstGeom prst="rect">
            <a:avLst/>
          </a:prstGeom>
          <a:noFill/>
        </p:spPr>
        <p:txBody>
          <a:bodyPr wrap="square" anchor="t">
            <a:spAutoFit/>
          </a:bodyPr>
          <a:lstStyle/>
          <a:p>
            <a:pPr algn="l"/>
            <a:r>
              <a:rPr sz="2000" b="1" i="0">
                <a:solidFill>
                  <a:srgbClr val="131313"/>
                </a:solidFill>
                <a:latin typeface="Calibri"/>
              </a:rPr>
              <a:t>Evaluation Results — 10 Real Scenarios, Live Cluster</a:t>
            </a:r>
          </a:p>
        </p:txBody>
      </p:sp>
      <p:sp>
        <p:nvSpPr>
          <p:cNvPr id="5" name="Rectangle 4"/>
          <p:cNvSpPr/>
          <p:nvPr/>
        </p:nvSpPr>
        <p:spPr>
          <a:xfrm>
            <a:off x="457200" y="1234440"/>
            <a:ext cx="1938528" cy="914400"/>
          </a:xfrm>
          <a:prstGeom prst="rect">
            <a:avLst/>
          </a:prstGeom>
          <a:solidFill>
            <a:srgbClr val="2424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66928" y="1325880"/>
            <a:ext cx="1719072" cy="457200"/>
          </a:xfrm>
          <a:prstGeom prst="rect">
            <a:avLst/>
          </a:prstGeom>
          <a:noFill/>
        </p:spPr>
        <p:txBody>
          <a:bodyPr wrap="square">
            <a:spAutoFit/>
          </a:bodyPr>
          <a:lstStyle/>
          <a:p>
            <a:pPr algn="l"/>
            <a:r>
              <a:rPr sz="2000" b="1" i="0">
                <a:solidFill>
                  <a:srgbClr val="1ABC9C"/>
                </a:solidFill>
                <a:latin typeface="Calibri"/>
              </a:rPr>
              <a:t>7/10</a:t>
            </a:r>
          </a:p>
        </p:txBody>
      </p:sp>
      <p:sp>
        <p:nvSpPr>
          <p:cNvPr id="7" name="TextBox 6"/>
          <p:cNvSpPr txBox="1"/>
          <p:nvPr/>
        </p:nvSpPr>
        <p:spPr>
          <a:xfrm>
            <a:off x="566928" y="1783080"/>
            <a:ext cx="1719072" cy="320040"/>
          </a:xfrm>
          <a:prstGeom prst="rect">
            <a:avLst/>
          </a:prstGeom>
          <a:noFill/>
        </p:spPr>
        <p:txBody>
          <a:bodyPr wrap="square">
            <a:spAutoFit/>
          </a:bodyPr>
          <a:lstStyle/>
          <a:p>
            <a:pPr algn="l"/>
            <a:r>
              <a:rPr sz="900" b="0" i="0">
                <a:solidFill>
                  <a:srgbClr val="999999"/>
                </a:solidFill>
                <a:latin typeface="Calibri"/>
              </a:rPr>
              <a:t>Correct root cause</a:t>
            </a:r>
          </a:p>
        </p:txBody>
      </p:sp>
      <p:sp>
        <p:nvSpPr>
          <p:cNvPr id="8" name="Rectangle 7"/>
          <p:cNvSpPr/>
          <p:nvPr/>
        </p:nvSpPr>
        <p:spPr>
          <a:xfrm>
            <a:off x="2468880" y="1234440"/>
            <a:ext cx="1938528" cy="914400"/>
          </a:xfrm>
          <a:prstGeom prst="rect">
            <a:avLst/>
          </a:prstGeom>
          <a:solidFill>
            <a:srgbClr val="2424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578608" y="1325880"/>
            <a:ext cx="1719072" cy="457200"/>
          </a:xfrm>
          <a:prstGeom prst="rect">
            <a:avLst/>
          </a:prstGeom>
          <a:noFill/>
        </p:spPr>
        <p:txBody>
          <a:bodyPr wrap="square">
            <a:spAutoFit/>
          </a:bodyPr>
          <a:lstStyle/>
          <a:p>
            <a:pPr algn="l"/>
            <a:r>
              <a:rPr sz="2000" b="1" i="0">
                <a:solidFill>
                  <a:srgbClr val="F4C542"/>
                </a:solidFill>
                <a:latin typeface="Calibri"/>
              </a:rPr>
              <a:t>1 issue</a:t>
            </a:r>
          </a:p>
        </p:txBody>
      </p:sp>
      <p:sp>
        <p:nvSpPr>
          <p:cNvPr id="10" name="TextBox 9"/>
          <p:cNvSpPr txBox="1"/>
          <p:nvPr/>
        </p:nvSpPr>
        <p:spPr>
          <a:xfrm>
            <a:off x="2578608" y="1783080"/>
            <a:ext cx="1719072" cy="320040"/>
          </a:xfrm>
          <a:prstGeom prst="rect">
            <a:avLst/>
          </a:prstGeom>
          <a:noFill/>
        </p:spPr>
        <p:txBody>
          <a:bodyPr wrap="square">
            <a:spAutoFit/>
          </a:bodyPr>
          <a:lstStyle/>
          <a:p>
            <a:pPr algn="l"/>
            <a:r>
              <a:rPr sz="900" b="0" i="0">
                <a:solidFill>
                  <a:srgbClr val="999999"/>
                </a:solidFill>
                <a:latin typeface="Calibri"/>
              </a:rPr>
              <a:t>Root-caused, not 3 mysteries</a:t>
            </a:r>
          </a:p>
        </p:txBody>
      </p:sp>
      <p:sp>
        <p:nvSpPr>
          <p:cNvPr id="11" name="Rectangle 10"/>
          <p:cNvSpPr/>
          <p:nvPr/>
        </p:nvSpPr>
        <p:spPr>
          <a:xfrm>
            <a:off x="4480560" y="1234440"/>
            <a:ext cx="1938528" cy="914400"/>
          </a:xfrm>
          <a:prstGeom prst="rect">
            <a:avLst/>
          </a:prstGeom>
          <a:solidFill>
            <a:srgbClr val="2424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90288" y="1325880"/>
            <a:ext cx="1719072" cy="457200"/>
          </a:xfrm>
          <a:prstGeom prst="rect">
            <a:avLst/>
          </a:prstGeom>
          <a:noFill/>
        </p:spPr>
        <p:txBody>
          <a:bodyPr wrap="square">
            <a:spAutoFit/>
          </a:bodyPr>
          <a:lstStyle/>
          <a:p>
            <a:pPr algn="l"/>
            <a:r>
              <a:rPr sz="2000" b="1" i="0">
                <a:solidFill>
                  <a:srgbClr val="E8751A"/>
                </a:solidFill>
                <a:latin typeface="Calibri"/>
              </a:rPr>
              <a:t>$0.0025</a:t>
            </a:r>
          </a:p>
        </p:txBody>
      </p:sp>
      <p:sp>
        <p:nvSpPr>
          <p:cNvPr id="13" name="TextBox 12"/>
          <p:cNvSpPr txBox="1"/>
          <p:nvPr/>
        </p:nvSpPr>
        <p:spPr>
          <a:xfrm>
            <a:off x="4590288" y="1783080"/>
            <a:ext cx="1719072" cy="320040"/>
          </a:xfrm>
          <a:prstGeom prst="rect">
            <a:avLst/>
          </a:prstGeom>
          <a:noFill/>
        </p:spPr>
        <p:txBody>
          <a:bodyPr wrap="square">
            <a:spAutoFit/>
          </a:bodyPr>
          <a:lstStyle/>
          <a:p>
            <a:pPr algn="l"/>
            <a:r>
              <a:rPr sz="900" b="0" i="0">
                <a:solidFill>
                  <a:srgbClr val="999999"/>
                </a:solidFill>
                <a:latin typeface="Calibri"/>
              </a:rPr>
              <a:t>Avg cost / investigation</a:t>
            </a:r>
          </a:p>
        </p:txBody>
      </p:sp>
      <p:sp>
        <p:nvSpPr>
          <p:cNvPr id="14" name="Rectangle 13"/>
          <p:cNvSpPr/>
          <p:nvPr/>
        </p:nvSpPr>
        <p:spPr>
          <a:xfrm>
            <a:off x="6492240" y="1234440"/>
            <a:ext cx="1938528" cy="914400"/>
          </a:xfrm>
          <a:prstGeom prst="rect">
            <a:avLst/>
          </a:prstGeom>
          <a:solidFill>
            <a:srgbClr val="2424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601968" y="1325880"/>
            <a:ext cx="1719072" cy="457200"/>
          </a:xfrm>
          <a:prstGeom prst="rect">
            <a:avLst/>
          </a:prstGeom>
          <a:noFill/>
        </p:spPr>
        <p:txBody>
          <a:bodyPr wrap="square">
            <a:spAutoFit/>
          </a:bodyPr>
          <a:lstStyle/>
          <a:p>
            <a:pPr algn="l"/>
            <a:r>
              <a:rPr sz="2000" b="1" i="0">
                <a:solidFill>
                  <a:srgbClr val="F4C542"/>
                </a:solidFill>
                <a:latin typeface="Calibri"/>
              </a:rPr>
              <a:t>20.2s</a:t>
            </a:r>
          </a:p>
        </p:txBody>
      </p:sp>
      <p:sp>
        <p:nvSpPr>
          <p:cNvPr id="16" name="TextBox 15"/>
          <p:cNvSpPr txBox="1"/>
          <p:nvPr/>
        </p:nvSpPr>
        <p:spPr>
          <a:xfrm>
            <a:off x="6601968" y="1783080"/>
            <a:ext cx="1719072" cy="320040"/>
          </a:xfrm>
          <a:prstGeom prst="rect">
            <a:avLst/>
          </a:prstGeom>
          <a:noFill/>
        </p:spPr>
        <p:txBody>
          <a:bodyPr wrap="square">
            <a:spAutoFit/>
          </a:bodyPr>
          <a:lstStyle/>
          <a:p>
            <a:pPr algn="l"/>
            <a:r>
              <a:rPr sz="900" b="0" i="0">
                <a:solidFill>
                  <a:srgbClr val="999999"/>
                </a:solidFill>
                <a:latin typeface="Calibri"/>
              </a:rPr>
              <a:t>Avg latency</a:t>
            </a:r>
          </a:p>
        </p:txBody>
      </p:sp>
      <p:sp>
        <p:nvSpPr>
          <p:cNvPr id="17" name="Rectangle 16"/>
          <p:cNvSpPr/>
          <p:nvPr/>
        </p:nvSpPr>
        <p:spPr>
          <a:xfrm>
            <a:off x="457200" y="2331720"/>
            <a:ext cx="8229600" cy="777240"/>
          </a:xfrm>
          <a:prstGeom prst="rect">
            <a:avLst/>
          </a:prstGeom>
          <a:solidFill>
            <a:srgbClr val="2424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457200" y="2331720"/>
            <a:ext cx="54864" cy="777240"/>
          </a:xfrm>
          <a:prstGeom prst="rect">
            <a:avLst/>
          </a:prstGeom>
          <a:solidFill>
            <a:srgbClr val="E74C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58368" y="2404872"/>
            <a:ext cx="7863840" cy="640080"/>
          </a:xfrm>
          <a:prstGeom prst="rect">
            <a:avLst/>
          </a:prstGeom>
          <a:noFill/>
        </p:spPr>
        <p:txBody>
          <a:bodyPr wrap="square">
            <a:spAutoFit/>
          </a:bodyPr>
          <a:lstStyle/>
          <a:p>
            <a:pPr algn="l"/>
            <a:r>
              <a:rPr sz="1050" b="0" i="0">
                <a:solidFill>
                  <a:srgbClr val="FFFFFF"/>
                </a:solidFill>
                <a:latin typeface="Calibri"/>
              </a:rPr>
              <a:t>All 3 failures trace to ONE root cause: the agent's identity can't read pod logs in this namespace (a missing/misconfigured RoleBinding — "sre-agent-poc-rolebinding" not found). Not 3 separate bugs — 1 diagnosed, fixable permissions gap.</a:t>
            </a:r>
          </a:p>
        </p:txBody>
      </p:sp>
      <p:sp>
        <p:nvSpPr>
          <p:cNvPr id="20" name="TextBox 19"/>
          <p:cNvSpPr txBox="1"/>
          <p:nvPr/>
        </p:nvSpPr>
        <p:spPr>
          <a:xfrm>
            <a:off x="457200" y="3246120"/>
            <a:ext cx="8229600" cy="274320"/>
          </a:xfrm>
          <a:prstGeom prst="rect">
            <a:avLst/>
          </a:prstGeom>
          <a:noFill/>
        </p:spPr>
        <p:txBody>
          <a:bodyPr wrap="square">
            <a:spAutoFit/>
          </a:bodyPr>
          <a:lstStyle/>
          <a:p>
            <a:pPr algn="l"/>
            <a:r>
              <a:rPr sz="1100" b="1" i="0">
                <a:solidFill>
                  <a:srgbClr val="131313"/>
                </a:solidFill>
                <a:latin typeface="Calibri"/>
              </a:rPr>
              <a:t>What still passed despite this:</a:t>
            </a:r>
          </a:p>
        </p:txBody>
      </p:sp>
      <p:sp>
        <p:nvSpPr>
          <p:cNvPr id="21" name="TextBox 20"/>
          <p:cNvSpPr txBox="1"/>
          <p:nvPr/>
        </p:nvSpPr>
        <p:spPr>
          <a:xfrm>
            <a:off x="457200" y="3520440"/>
            <a:ext cx="8229600" cy="457200"/>
          </a:xfrm>
          <a:prstGeom prst="rect">
            <a:avLst/>
          </a:prstGeom>
          <a:noFill/>
        </p:spPr>
        <p:txBody>
          <a:bodyPr wrap="square">
            <a:spAutoFit/>
          </a:bodyPr>
          <a:lstStyle/>
          <a:p>
            <a:pPr algn="l"/>
            <a:r>
              <a:rPr sz="1000" b="0" i="0">
                <a:solidFill>
                  <a:srgbClr val="CCCCCC"/>
                </a:solidFill>
                <a:latin typeface="Calibri"/>
              </a:rPr>
              <a:t>All 7 cases that didn't need log access (config, secrets, scheduling, probes) passed cleanly with real evidence-backed reasoning — the gap is specific, not systemic.</a:t>
            </a:r>
          </a:p>
        </p:txBody>
      </p:sp>
      <p:sp>
        <p:nvSpPr>
          <p:cNvPr id="22" name="TextBox 21"/>
          <p:cNvSpPr txBox="1"/>
          <p:nvPr/>
        </p:nvSpPr>
        <p:spPr>
          <a:xfrm>
            <a:off x="457200" y="4069080"/>
            <a:ext cx="8229600" cy="365760"/>
          </a:xfrm>
          <a:prstGeom prst="rect">
            <a:avLst/>
          </a:prstGeom>
          <a:noFill/>
        </p:spPr>
        <p:txBody>
          <a:bodyPr wrap="square">
            <a:spAutoFit/>
          </a:bodyPr>
          <a:lstStyle/>
          <a:p>
            <a:pPr algn="l"/>
            <a:r>
              <a:rPr sz="950" b="0" i="1">
                <a:solidFill>
                  <a:srgbClr val="999999"/>
                </a:solidFill>
                <a:latin typeface="Calibri"/>
              </a:rPr>
              <a:t>This is a focused validation set (10 of 21 scenarios) — the remaining 11 are flagged for the next testing pass before wider rollout. More testing is required.</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589520" y="137160"/>
            <a:ext cx="1371600" cy="274320"/>
          </a:xfrm>
          <a:prstGeom prst="rect">
            <a:avLst/>
          </a:prstGeom>
          <a:noFill/>
        </p:spPr>
        <p:txBody>
          <a:bodyPr wrap="none">
            <a:spAutoFit/>
          </a:bodyPr>
          <a:lstStyle/>
          <a:p>
            <a:r>
              <a:rPr sz="1200" b="1">
                <a:solidFill>
                  <a:srgbClr val="3CB371"/>
                </a:solidFill>
                <a:latin typeface="Trebuchet MS"/>
              </a:rPr>
              <a:t>SECTIGO</a:t>
            </a:r>
          </a:p>
        </p:txBody>
      </p:sp>
      <p:sp>
        <p:nvSpPr>
          <p:cNvPr id="3" name="Rectangle 2"/>
          <p:cNvSpPr/>
          <p:nvPr/>
        </p:nvSpPr>
        <p:spPr>
          <a:xfrm>
            <a:off x="457200" y="182880"/>
            <a:ext cx="1554480" cy="256032"/>
          </a:xfrm>
          <a:prstGeom prst="rect">
            <a:avLst/>
          </a:prstGeom>
          <a:solidFill>
            <a:srgbClr val="E8751A"/>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000" b="1">
                <a:solidFill>
                  <a:srgbClr val="FFFFFF"/>
                </a:solidFill>
                <a:latin typeface="Calibri"/>
              </a:rPr>
              <a:t>PROOF IT WORKS</a:t>
            </a:r>
          </a:p>
        </p:txBody>
      </p:sp>
      <p:sp>
        <p:nvSpPr>
          <p:cNvPr id="4" name="TextBox 3"/>
          <p:cNvSpPr txBox="1"/>
          <p:nvPr/>
        </p:nvSpPr>
        <p:spPr>
          <a:xfrm>
            <a:off x="457200" y="594360"/>
            <a:ext cx="8229600" cy="365760"/>
          </a:xfrm>
          <a:prstGeom prst="rect">
            <a:avLst/>
          </a:prstGeom>
          <a:noFill/>
        </p:spPr>
        <p:txBody>
          <a:bodyPr wrap="square">
            <a:spAutoFit/>
          </a:bodyPr>
          <a:lstStyle/>
          <a:p>
            <a:pPr algn="l"/>
            <a:r>
              <a:rPr sz="2000" b="1" i="0">
                <a:solidFill>
                  <a:srgbClr val="131313"/>
                </a:solidFill>
                <a:latin typeface="Calibri"/>
              </a:rPr>
              <a:t>Individual Investigation Validation</a:t>
            </a:r>
          </a:p>
        </p:txBody>
      </p:sp>
      <p:graphicFrame>
        <p:nvGraphicFramePr>
          <p:cNvPr id="5" name="Table 4"/>
          <p:cNvGraphicFramePr>
            <a:graphicFrameLocks noGrp="1"/>
          </p:cNvGraphicFramePr>
          <p:nvPr/>
        </p:nvGraphicFramePr>
        <p:xfrm>
          <a:off x="457200" y="1051560"/>
          <a:ext cx="8229600" cy="3246120"/>
        </p:xfrm>
        <a:graphic>
          <a:graphicData uri="http://schemas.openxmlformats.org/drawingml/2006/table">
            <a:tbl>
              <a:tblPr firstRow="0" bandRow="0">
                <a:tableStyleId>{5C22544A-7EE6-4342-B048-85BDC9FD1C3A}</a:tableStyleId>
              </a:tblPr>
              <a:tblGrid>
                <a:gridCol w="1417320"/>
                <a:gridCol w="3337560"/>
                <a:gridCol w="1417320"/>
                <a:gridCol w="1143000"/>
                <a:gridCol w="914400"/>
              </a:tblGrid>
              <a:tr h="295101">
                <a:tc>
                  <a:txBody>
                    <a:bodyPr/>
                    <a:lstStyle/>
                    <a:p>
                      <a:pPr algn="l"/>
                      <a:r>
                        <a:rPr sz="900" b="1">
                          <a:solidFill>
                            <a:srgbClr val="E8751A"/>
                          </a:solidFill>
                          <a:latin typeface="Calibri"/>
                        </a:rPr>
                        <a:t>Case</a:t>
                      </a:r>
                    </a:p>
                  </a:txBody>
                  <a:tcPr anchor="ctr" marT="25400" marB="25400" marL="50800" marR="50800">
                    <a:solidFill>
                      <a:srgbClr val="333333"/>
                    </a:solidFill>
                  </a:tcPr>
                </a:tc>
                <a:tc>
                  <a:txBody>
                    <a:bodyPr/>
                    <a:lstStyle/>
                    <a:p>
                      <a:pPr algn="l"/>
                      <a:r>
                        <a:rPr sz="900" b="1">
                          <a:solidFill>
                            <a:srgbClr val="E8751A"/>
                          </a:solidFill>
                          <a:latin typeface="Calibri"/>
                        </a:rPr>
                        <a:t>Root cause the agent found</a:t>
                      </a:r>
                    </a:p>
                  </a:txBody>
                  <a:tcPr anchor="ctr" marT="25400" marB="25400" marL="50800" marR="50800">
                    <a:solidFill>
                      <a:srgbClr val="333333"/>
                    </a:solidFill>
                  </a:tcPr>
                </a:tc>
                <a:tc>
                  <a:txBody>
                    <a:bodyPr/>
                    <a:lstStyle/>
                    <a:p>
                      <a:pPr algn="l"/>
                      <a:r>
                        <a:rPr sz="900" b="1">
                          <a:solidFill>
                            <a:srgbClr val="E8751A"/>
                          </a:solidFill>
                          <a:latin typeface="Calibri"/>
                        </a:rPr>
                        <a:t>Diagnosis</a:t>
                      </a:r>
                    </a:p>
                  </a:txBody>
                  <a:tcPr anchor="ctr" marT="25400" marB="25400" marL="50800" marR="50800">
                    <a:solidFill>
                      <a:srgbClr val="333333"/>
                    </a:solidFill>
                  </a:tcPr>
                </a:tc>
                <a:tc>
                  <a:txBody>
                    <a:bodyPr/>
                    <a:lstStyle/>
                    <a:p>
                      <a:pPr algn="l"/>
                      <a:r>
                        <a:rPr sz="900" b="1">
                          <a:solidFill>
                            <a:srgbClr val="E8751A"/>
                          </a:solidFill>
                          <a:latin typeface="Calibri"/>
                        </a:rPr>
                        <a:t>Confidence</a:t>
                      </a:r>
                    </a:p>
                  </a:txBody>
                  <a:tcPr anchor="ctr" marT="25400" marB="25400" marL="50800" marR="50800">
                    <a:solidFill>
                      <a:srgbClr val="333333"/>
                    </a:solidFill>
                  </a:tcPr>
                </a:tc>
                <a:tc>
                  <a:txBody>
                    <a:bodyPr/>
                    <a:lstStyle/>
                    <a:p>
                      <a:pPr algn="l"/>
                      <a:r>
                        <a:rPr sz="900" b="1">
                          <a:solidFill>
                            <a:srgbClr val="E8751A"/>
                          </a:solidFill>
                          <a:latin typeface="Calibri"/>
                        </a:rPr>
                        <a:t>Score</a:t>
                      </a:r>
                    </a:p>
                  </a:txBody>
                  <a:tcPr anchor="ctr" marT="25400" marB="25400" marL="50800" marR="50800">
                    <a:solidFill>
                      <a:srgbClr val="333333"/>
                    </a:solidFill>
                  </a:tcPr>
                </a:tc>
              </a:tr>
              <a:tr h="295101">
                <a:tc>
                  <a:txBody>
                    <a:bodyPr/>
                    <a:lstStyle/>
                    <a:p>
                      <a:pPr algn="l"/>
                      <a:r>
                        <a:rPr sz="800" b="0">
                          <a:solidFill>
                            <a:srgbClr val="FFFFFF"/>
                          </a:solidFill>
                          <a:latin typeface="Calibri"/>
                        </a:rPr>
                        <a:t>imagepull</a:t>
                      </a:r>
                    </a:p>
                  </a:txBody>
                  <a:tcPr anchor="ctr" marT="19050" marB="19050" marL="50800" marR="50800">
                    <a:solidFill>
                      <a:srgbClr val="242424"/>
                    </a:solidFill>
                  </a:tcPr>
                </a:tc>
                <a:tc>
                  <a:txBody>
                    <a:bodyPr/>
                    <a:lstStyle/>
                    <a:p>
                      <a:pPr algn="l"/>
                      <a:r>
                        <a:rPr sz="800" b="0">
                          <a:solidFill>
                            <a:srgbClr val="FFFFFF"/>
                          </a:solidFill>
                          <a:latin typeface="Calibri"/>
                        </a:rPr>
                        <a:t>Bad image ref -- DNS lookup failure ("no such host")</a:t>
                      </a:r>
                    </a:p>
                  </a:txBody>
                  <a:tcPr anchor="ctr" marT="19050" marB="19050" marL="50800" marR="50800">
                    <a:solidFill>
                      <a:srgbClr val="242424"/>
                    </a:solidFill>
                  </a:tcPr>
                </a:tc>
                <a:tc>
                  <a:txBody>
                    <a:bodyPr/>
                    <a:lstStyle/>
                    <a:p>
                      <a:pPr algn="l"/>
                      <a:r>
                        <a:rPr sz="800" b="0">
                          <a:solidFill>
                            <a:srgbClr val="CCCCCC"/>
                          </a:solidFill>
                          <a:latin typeface="Calibri"/>
                        </a:rPr>
                        <a:t>Correct</a:t>
                      </a:r>
                    </a:p>
                  </a:txBody>
                  <a:tcPr anchor="ctr" marT="19050" marB="19050" marL="50800" marR="50800">
                    <a:solidFill>
                      <a:srgbClr val="242424"/>
                    </a:solidFill>
                  </a:tcPr>
                </a:tc>
                <a:tc>
                  <a:txBody>
                    <a:bodyPr/>
                    <a:lstStyle/>
                    <a:p>
                      <a:pPr algn="l"/>
                      <a:r>
                        <a:rPr sz="800" b="0">
                          <a:solidFill>
                            <a:srgbClr val="CCCCCC"/>
                          </a:solidFill>
                          <a:latin typeface="Calibri"/>
                        </a:rPr>
                        <a:t>0.90 auto</a:t>
                      </a:r>
                    </a:p>
                  </a:txBody>
                  <a:tcPr anchor="ctr" marT="19050" marB="19050" marL="50800" marR="50800">
                    <a:solidFill>
                      <a:srgbClr val="242424"/>
                    </a:solidFill>
                  </a:tcPr>
                </a:tc>
                <a:tc>
                  <a:txBody>
                    <a:bodyPr/>
                    <a:lstStyle/>
                    <a:p>
                      <a:pPr algn="l"/>
                      <a:r>
                        <a:rPr sz="800" b="1">
                          <a:solidFill>
                            <a:srgbClr val="1ABC9C"/>
                          </a:solidFill>
                          <a:latin typeface="Calibri"/>
                        </a:rPr>
                        <a:t>Passed</a:t>
                      </a:r>
                    </a:p>
                  </a:txBody>
                  <a:tcPr anchor="ctr" marT="19050" marB="19050" marL="50800" marR="50800">
                    <a:solidFill>
                      <a:srgbClr val="242424"/>
                    </a:solidFill>
                  </a:tcPr>
                </a:tc>
              </a:tr>
              <a:tr h="295101">
                <a:tc>
                  <a:txBody>
                    <a:bodyPr/>
                    <a:lstStyle/>
                    <a:p>
                      <a:pPr algn="l"/>
                      <a:r>
                        <a:rPr sz="800" b="0">
                          <a:solidFill>
                            <a:srgbClr val="FFFFFF"/>
                          </a:solidFill>
                          <a:latin typeface="Calibri"/>
                        </a:rPr>
                        <a:t>missing-configmap</a:t>
                      </a:r>
                    </a:p>
                  </a:txBody>
                  <a:tcPr anchor="ctr" marT="19050" marB="19050" marL="50800" marR="50800">
                    <a:solidFill>
                      <a:srgbClr val="2A2A2A"/>
                    </a:solidFill>
                  </a:tcPr>
                </a:tc>
                <a:tc>
                  <a:txBody>
                    <a:bodyPr/>
                    <a:lstStyle/>
                    <a:p>
                      <a:pPr algn="l"/>
                      <a:r>
                        <a:rPr sz="800" b="0">
                          <a:solidFill>
                            <a:srgbClr val="FFFFFF"/>
                          </a:solidFill>
                          <a:latin typeface="Calibri"/>
                        </a:rPr>
                        <a:t>ConfigMap "nonexistent-app-config" not found</a:t>
                      </a:r>
                    </a:p>
                  </a:txBody>
                  <a:tcPr anchor="ctr" marT="19050" marB="19050" marL="50800" marR="50800">
                    <a:solidFill>
                      <a:srgbClr val="2A2A2A"/>
                    </a:solidFill>
                  </a:tcPr>
                </a:tc>
                <a:tc>
                  <a:txBody>
                    <a:bodyPr/>
                    <a:lstStyle/>
                    <a:p>
                      <a:pPr algn="l"/>
                      <a:r>
                        <a:rPr sz="800" b="0">
                          <a:solidFill>
                            <a:srgbClr val="CCCCCC"/>
                          </a:solidFill>
                          <a:latin typeface="Calibri"/>
                        </a:rPr>
                        <a:t>Correct</a:t>
                      </a:r>
                    </a:p>
                  </a:txBody>
                  <a:tcPr anchor="ctr" marT="19050" marB="19050" marL="50800" marR="50800">
                    <a:solidFill>
                      <a:srgbClr val="2A2A2A"/>
                    </a:solidFill>
                  </a:tcPr>
                </a:tc>
                <a:tc>
                  <a:txBody>
                    <a:bodyPr/>
                    <a:lstStyle/>
                    <a:p>
                      <a:pPr algn="l"/>
                      <a:r>
                        <a:rPr sz="800" b="0">
                          <a:solidFill>
                            <a:srgbClr val="CCCCCC"/>
                          </a:solidFill>
                          <a:latin typeface="Calibri"/>
                        </a:rPr>
                        <a:t>0.80 review</a:t>
                      </a:r>
                    </a:p>
                  </a:txBody>
                  <a:tcPr anchor="ctr" marT="19050" marB="19050" marL="50800" marR="50800">
                    <a:solidFill>
                      <a:srgbClr val="2A2A2A"/>
                    </a:solidFill>
                  </a:tcPr>
                </a:tc>
                <a:tc>
                  <a:txBody>
                    <a:bodyPr/>
                    <a:lstStyle/>
                    <a:p>
                      <a:pPr algn="l"/>
                      <a:r>
                        <a:rPr sz="800" b="1">
                          <a:solidFill>
                            <a:srgbClr val="1ABC9C"/>
                          </a:solidFill>
                          <a:latin typeface="Calibri"/>
                        </a:rPr>
                        <a:t>Passed</a:t>
                      </a:r>
                    </a:p>
                  </a:txBody>
                  <a:tcPr anchor="ctr" marT="19050" marB="19050" marL="50800" marR="50800">
                    <a:solidFill>
                      <a:srgbClr val="2A2A2A"/>
                    </a:solidFill>
                  </a:tcPr>
                </a:tc>
              </a:tr>
              <a:tr h="295101">
                <a:tc>
                  <a:txBody>
                    <a:bodyPr/>
                    <a:lstStyle/>
                    <a:p>
                      <a:pPr algn="l"/>
                      <a:r>
                        <a:rPr sz="800" b="0">
                          <a:solidFill>
                            <a:srgbClr val="FFFFFF"/>
                          </a:solidFill>
                          <a:latin typeface="Calibri"/>
                        </a:rPr>
                        <a:t>missing-secret</a:t>
                      </a:r>
                    </a:p>
                  </a:txBody>
                  <a:tcPr anchor="ctr" marT="19050" marB="19050" marL="50800" marR="50800">
                    <a:solidFill>
                      <a:srgbClr val="242424"/>
                    </a:solidFill>
                  </a:tcPr>
                </a:tc>
                <a:tc>
                  <a:txBody>
                    <a:bodyPr/>
                    <a:lstStyle/>
                    <a:p>
                      <a:pPr algn="l"/>
                      <a:r>
                        <a:rPr sz="800" b="0">
                          <a:solidFill>
                            <a:srgbClr val="FFFFFF"/>
                          </a:solidFill>
                          <a:latin typeface="Calibri"/>
                        </a:rPr>
                        <a:t>Secret "nonexistent-app-secret" not found</a:t>
                      </a:r>
                    </a:p>
                  </a:txBody>
                  <a:tcPr anchor="ctr" marT="19050" marB="19050" marL="50800" marR="50800">
                    <a:solidFill>
                      <a:srgbClr val="242424"/>
                    </a:solidFill>
                  </a:tcPr>
                </a:tc>
                <a:tc>
                  <a:txBody>
                    <a:bodyPr/>
                    <a:lstStyle/>
                    <a:p>
                      <a:pPr algn="l"/>
                      <a:r>
                        <a:rPr sz="800" b="0">
                          <a:solidFill>
                            <a:srgbClr val="CCCCCC"/>
                          </a:solidFill>
                          <a:latin typeface="Calibri"/>
                        </a:rPr>
                        <a:t>Correct</a:t>
                      </a:r>
                    </a:p>
                  </a:txBody>
                  <a:tcPr anchor="ctr" marT="19050" marB="19050" marL="50800" marR="50800">
                    <a:solidFill>
                      <a:srgbClr val="242424"/>
                    </a:solidFill>
                  </a:tcPr>
                </a:tc>
                <a:tc>
                  <a:txBody>
                    <a:bodyPr/>
                    <a:lstStyle/>
                    <a:p>
                      <a:pPr algn="l"/>
                      <a:r>
                        <a:rPr sz="800" b="0">
                          <a:solidFill>
                            <a:srgbClr val="CCCCCC"/>
                          </a:solidFill>
                          <a:latin typeface="Calibri"/>
                        </a:rPr>
                        <a:t>0.90 auto</a:t>
                      </a:r>
                    </a:p>
                  </a:txBody>
                  <a:tcPr anchor="ctr" marT="19050" marB="19050" marL="50800" marR="50800">
                    <a:solidFill>
                      <a:srgbClr val="242424"/>
                    </a:solidFill>
                  </a:tcPr>
                </a:tc>
                <a:tc>
                  <a:txBody>
                    <a:bodyPr/>
                    <a:lstStyle/>
                    <a:p>
                      <a:pPr algn="l"/>
                      <a:r>
                        <a:rPr sz="800" b="1">
                          <a:solidFill>
                            <a:srgbClr val="1ABC9C"/>
                          </a:solidFill>
                          <a:latin typeface="Calibri"/>
                        </a:rPr>
                        <a:t>Passed</a:t>
                      </a:r>
                    </a:p>
                  </a:txBody>
                  <a:tcPr anchor="ctr" marT="19050" marB="19050" marL="50800" marR="50800">
                    <a:solidFill>
                      <a:srgbClr val="242424"/>
                    </a:solidFill>
                  </a:tcPr>
                </a:tc>
              </a:tr>
              <a:tr h="295101">
                <a:tc>
                  <a:txBody>
                    <a:bodyPr/>
                    <a:lstStyle/>
                    <a:p>
                      <a:pPr algn="l"/>
                      <a:r>
                        <a:rPr sz="800" b="0">
                          <a:solidFill>
                            <a:srgbClr val="FFFFFF"/>
                          </a:solidFill>
                          <a:latin typeface="Calibri"/>
                        </a:rPr>
                        <a:t>bad-config-key</a:t>
                      </a:r>
                    </a:p>
                  </a:txBody>
                  <a:tcPr anchor="ctr" marT="19050" marB="19050" marL="50800" marR="50800">
                    <a:solidFill>
                      <a:srgbClr val="2A2A2A"/>
                    </a:solidFill>
                  </a:tcPr>
                </a:tc>
                <a:tc>
                  <a:txBody>
                    <a:bodyPr/>
                    <a:lstStyle/>
                    <a:p>
                      <a:pPr algn="l"/>
                      <a:r>
                        <a:rPr sz="800" b="0">
                          <a:solidFill>
                            <a:srgbClr val="FFFFFF"/>
                          </a:solidFill>
                          <a:latin typeface="Calibri"/>
                        </a:rPr>
                        <a:t>Missing "DB_HOST" key in ConfigMap</a:t>
                      </a:r>
                    </a:p>
                  </a:txBody>
                  <a:tcPr anchor="ctr" marT="19050" marB="19050" marL="50800" marR="50800">
                    <a:solidFill>
                      <a:srgbClr val="2A2A2A"/>
                    </a:solidFill>
                  </a:tcPr>
                </a:tc>
                <a:tc>
                  <a:txBody>
                    <a:bodyPr/>
                    <a:lstStyle/>
                    <a:p>
                      <a:pPr algn="l"/>
                      <a:r>
                        <a:rPr sz="800" b="0">
                          <a:solidFill>
                            <a:srgbClr val="CCCCCC"/>
                          </a:solidFill>
                          <a:latin typeface="Calibri"/>
                        </a:rPr>
                        <a:t>Correct</a:t>
                      </a:r>
                    </a:p>
                  </a:txBody>
                  <a:tcPr anchor="ctr" marT="19050" marB="19050" marL="50800" marR="50800">
                    <a:solidFill>
                      <a:srgbClr val="2A2A2A"/>
                    </a:solidFill>
                  </a:tcPr>
                </a:tc>
                <a:tc>
                  <a:txBody>
                    <a:bodyPr/>
                    <a:lstStyle/>
                    <a:p>
                      <a:pPr algn="l"/>
                      <a:r>
                        <a:rPr sz="800" b="0">
                          <a:solidFill>
                            <a:srgbClr val="CCCCCC"/>
                          </a:solidFill>
                          <a:latin typeface="Calibri"/>
                        </a:rPr>
                        <a:t>0.80 review</a:t>
                      </a:r>
                    </a:p>
                  </a:txBody>
                  <a:tcPr anchor="ctr" marT="19050" marB="19050" marL="50800" marR="50800">
                    <a:solidFill>
                      <a:srgbClr val="2A2A2A"/>
                    </a:solidFill>
                  </a:tcPr>
                </a:tc>
                <a:tc>
                  <a:txBody>
                    <a:bodyPr/>
                    <a:lstStyle/>
                    <a:p>
                      <a:pPr algn="l"/>
                      <a:r>
                        <a:rPr sz="800" b="1">
                          <a:solidFill>
                            <a:srgbClr val="1ABC9C"/>
                          </a:solidFill>
                          <a:latin typeface="Calibri"/>
                        </a:rPr>
                        <a:t>Passed</a:t>
                      </a:r>
                    </a:p>
                  </a:txBody>
                  <a:tcPr anchor="ctr" marT="19050" marB="19050" marL="50800" marR="50800">
                    <a:solidFill>
                      <a:srgbClr val="2A2A2A"/>
                    </a:solidFill>
                  </a:tcPr>
                </a:tc>
              </a:tr>
              <a:tr h="295101">
                <a:tc>
                  <a:txBody>
                    <a:bodyPr/>
                    <a:lstStyle/>
                    <a:p>
                      <a:pPr algn="l"/>
                      <a:r>
                        <a:rPr sz="800" b="0">
                          <a:solidFill>
                            <a:srgbClr val="FFFFFF"/>
                          </a:solidFill>
                          <a:latin typeface="Calibri"/>
                        </a:rPr>
                        <a:t>liveness-fail</a:t>
                      </a:r>
                    </a:p>
                  </a:txBody>
                  <a:tcPr anchor="ctr" marT="19050" marB="19050" marL="50800" marR="50800">
                    <a:solidFill>
                      <a:srgbClr val="242424"/>
                    </a:solidFill>
                  </a:tcPr>
                </a:tc>
                <a:tc>
                  <a:txBody>
                    <a:bodyPr/>
                    <a:lstStyle/>
                    <a:p>
                      <a:pPr algn="l"/>
                      <a:r>
                        <a:rPr sz="800" b="0">
                          <a:solidFill>
                            <a:srgbClr val="FFFFFF"/>
                          </a:solidFill>
                          <a:latin typeface="Calibri"/>
                        </a:rPr>
                        <a:t>Liveness (HTTP 500) + readiness probe failures</a:t>
                      </a:r>
                    </a:p>
                  </a:txBody>
                  <a:tcPr anchor="ctr" marT="19050" marB="19050" marL="50800" marR="50800">
                    <a:solidFill>
                      <a:srgbClr val="242424"/>
                    </a:solidFill>
                  </a:tcPr>
                </a:tc>
                <a:tc>
                  <a:txBody>
                    <a:bodyPr/>
                    <a:lstStyle/>
                    <a:p>
                      <a:pPr algn="l"/>
                      <a:r>
                        <a:rPr sz="800" b="0">
                          <a:solidFill>
                            <a:srgbClr val="CCCCCC"/>
                          </a:solidFill>
                          <a:latin typeface="Calibri"/>
                        </a:rPr>
                        <a:t>Correct</a:t>
                      </a:r>
                    </a:p>
                  </a:txBody>
                  <a:tcPr anchor="ctr" marT="19050" marB="19050" marL="50800" marR="50800">
                    <a:solidFill>
                      <a:srgbClr val="242424"/>
                    </a:solidFill>
                  </a:tcPr>
                </a:tc>
                <a:tc>
                  <a:txBody>
                    <a:bodyPr/>
                    <a:lstStyle/>
                    <a:p>
                      <a:pPr algn="l"/>
                      <a:r>
                        <a:rPr sz="800" b="0">
                          <a:solidFill>
                            <a:srgbClr val="CCCCCC"/>
                          </a:solidFill>
                          <a:latin typeface="Calibri"/>
                        </a:rPr>
                        <a:t>0.90 auto</a:t>
                      </a:r>
                    </a:p>
                  </a:txBody>
                  <a:tcPr anchor="ctr" marT="19050" marB="19050" marL="50800" marR="50800">
                    <a:solidFill>
                      <a:srgbClr val="242424"/>
                    </a:solidFill>
                  </a:tcPr>
                </a:tc>
                <a:tc>
                  <a:txBody>
                    <a:bodyPr/>
                    <a:lstStyle/>
                    <a:p>
                      <a:pPr algn="l"/>
                      <a:r>
                        <a:rPr sz="800" b="1">
                          <a:solidFill>
                            <a:srgbClr val="1ABC9C"/>
                          </a:solidFill>
                          <a:latin typeface="Calibri"/>
                        </a:rPr>
                        <a:t>Passed</a:t>
                      </a:r>
                    </a:p>
                  </a:txBody>
                  <a:tcPr anchor="ctr" marT="19050" marB="19050" marL="50800" marR="50800">
                    <a:solidFill>
                      <a:srgbClr val="242424"/>
                    </a:solidFill>
                  </a:tcPr>
                </a:tc>
              </a:tr>
              <a:tr h="295101">
                <a:tc>
                  <a:txBody>
                    <a:bodyPr/>
                    <a:lstStyle/>
                    <a:p>
                      <a:pPr algn="l"/>
                      <a:r>
                        <a:rPr sz="800" b="0">
                          <a:solidFill>
                            <a:srgbClr val="FFFFFF"/>
                          </a:solidFill>
                          <a:latin typeface="Calibri"/>
                        </a:rPr>
                        <a:t>node-selector</a:t>
                      </a:r>
                    </a:p>
                  </a:txBody>
                  <a:tcPr anchor="ctr" marT="19050" marB="19050" marL="50800" marR="50800">
                    <a:solidFill>
                      <a:srgbClr val="2A2A2A"/>
                    </a:solidFill>
                  </a:tcPr>
                </a:tc>
                <a:tc>
                  <a:txBody>
                    <a:bodyPr/>
                    <a:lstStyle/>
                    <a:p>
                      <a:pPr algn="l"/>
                      <a:r>
                        <a:rPr sz="800" b="0">
                          <a:solidFill>
                            <a:srgbClr val="FFFFFF"/>
                          </a:solidFill>
                          <a:latin typeface="Calibri"/>
                        </a:rPr>
                        <a:t>Node selector matches zero nodes</a:t>
                      </a:r>
                    </a:p>
                  </a:txBody>
                  <a:tcPr anchor="ctr" marT="19050" marB="19050" marL="50800" marR="50800">
                    <a:solidFill>
                      <a:srgbClr val="2A2A2A"/>
                    </a:solidFill>
                  </a:tcPr>
                </a:tc>
                <a:tc>
                  <a:txBody>
                    <a:bodyPr/>
                    <a:lstStyle/>
                    <a:p>
                      <a:pPr algn="l"/>
                      <a:r>
                        <a:rPr sz="800" b="0">
                          <a:solidFill>
                            <a:srgbClr val="CCCCCC"/>
                          </a:solidFill>
                          <a:latin typeface="Calibri"/>
                        </a:rPr>
                        <a:t>Correct</a:t>
                      </a:r>
                    </a:p>
                  </a:txBody>
                  <a:tcPr anchor="ctr" marT="19050" marB="19050" marL="50800" marR="50800">
                    <a:solidFill>
                      <a:srgbClr val="2A2A2A"/>
                    </a:solidFill>
                  </a:tcPr>
                </a:tc>
                <a:tc>
                  <a:txBody>
                    <a:bodyPr/>
                    <a:lstStyle/>
                    <a:p>
                      <a:pPr algn="l"/>
                      <a:r>
                        <a:rPr sz="800" b="0">
                          <a:solidFill>
                            <a:srgbClr val="CCCCCC"/>
                          </a:solidFill>
                          <a:latin typeface="Calibri"/>
                        </a:rPr>
                        <a:t>0.90 auto</a:t>
                      </a:r>
                    </a:p>
                  </a:txBody>
                  <a:tcPr anchor="ctr" marT="19050" marB="19050" marL="50800" marR="50800">
                    <a:solidFill>
                      <a:srgbClr val="2A2A2A"/>
                    </a:solidFill>
                  </a:tcPr>
                </a:tc>
                <a:tc>
                  <a:txBody>
                    <a:bodyPr/>
                    <a:lstStyle/>
                    <a:p>
                      <a:pPr algn="l"/>
                      <a:r>
                        <a:rPr sz="800" b="1">
                          <a:solidFill>
                            <a:srgbClr val="1ABC9C"/>
                          </a:solidFill>
                          <a:latin typeface="Calibri"/>
                        </a:rPr>
                        <a:t>Passed</a:t>
                      </a:r>
                    </a:p>
                  </a:txBody>
                  <a:tcPr anchor="ctr" marT="19050" marB="19050" marL="50800" marR="50800">
                    <a:solidFill>
                      <a:srgbClr val="2A2A2A"/>
                    </a:solidFill>
                  </a:tcPr>
                </a:tc>
              </a:tr>
              <a:tr h="295101">
                <a:tc>
                  <a:txBody>
                    <a:bodyPr/>
                    <a:lstStyle/>
                    <a:p>
                      <a:pPr algn="l"/>
                      <a:r>
                        <a:rPr sz="800" b="0">
                          <a:solidFill>
                            <a:srgbClr val="FFFFFF"/>
                          </a:solidFill>
                          <a:latin typeface="Calibri"/>
                        </a:rPr>
                        <a:t>pvc-pending</a:t>
                      </a:r>
                    </a:p>
                  </a:txBody>
                  <a:tcPr anchor="ctr" marT="19050" marB="19050" marL="50800" marR="50800">
                    <a:solidFill>
                      <a:srgbClr val="242424"/>
                    </a:solidFill>
                  </a:tcPr>
                </a:tc>
                <a:tc>
                  <a:txBody>
                    <a:bodyPr/>
                    <a:lstStyle/>
                    <a:p>
                      <a:pPr algn="l"/>
                      <a:r>
                        <a:rPr sz="800" b="0">
                          <a:solidFill>
                            <a:srgbClr val="FFFFFF"/>
                          </a:solidFill>
                          <a:latin typeface="Calibri"/>
                        </a:rPr>
                        <a:t>Required PVC missing -- can't schedule</a:t>
                      </a:r>
                    </a:p>
                  </a:txBody>
                  <a:tcPr anchor="ctr" marT="19050" marB="19050" marL="50800" marR="50800">
                    <a:solidFill>
                      <a:srgbClr val="242424"/>
                    </a:solidFill>
                  </a:tcPr>
                </a:tc>
                <a:tc>
                  <a:txBody>
                    <a:bodyPr/>
                    <a:lstStyle/>
                    <a:p>
                      <a:pPr algn="l"/>
                      <a:r>
                        <a:rPr sz="800" b="0">
                          <a:solidFill>
                            <a:srgbClr val="CCCCCC"/>
                          </a:solidFill>
                          <a:latin typeface="Calibri"/>
                        </a:rPr>
                        <a:t>Correct</a:t>
                      </a:r>
                    </a:p>
                  </a:txBody>
                  <a:tcPr anchor="ctr" marT="19050" marB="19050" marL="50800" marR="50800">
                    <a:solidFill>
                      <a:srgbClr val="242424"/>
                    </a:solidFill>
                  </a:tcPr>
                </a:tc>
                <a:tc>
                  <a:txBody>
                    <a:bodyPr/>
                    <a:lstStyle/>
                    <a:p>
                      <a:pPr algn="l"/>
                      <a:r>
                        <a:rPr sz="800" b="0">
                          <a:solidFill>
                            <a:srgbClr val="CCCCCC"/>
                          </a:solidFill>
                          <a:latin typeface="Calibri"/>
                        </a:rPr>
                        <a:t>0.90 auto</a:t>
                      </a:r>
                    </a:p>
                  </a:txBody>
                  <a:tcPr anchor="ctr" marT="19050" marB="19050" marL="50800" marR="50800">
                    <a:solidFill>
                      <a:srgbClr val="242424"/>
                    </a:solidFill>
                  </a:tcPr>
                </a:tc>
                <a:tc>
                  <a:txBody>
                    <a:bodyPr/>
                    <a:lstStyle/>
                    <a:p>
                      <a:pPr algn="l"/>
                      <a:r>
                        <a:rPr sz="800" b="1">
                          <a:solidFill>
                            <a:srgbClr val="1ABC9C"/>
                          </a:solidFill>
                          <a:latin typeface="Calibri"/>
                        </a:rPr>
                        <a:t>Passed</a:t>
                      </a:r>
                    </a:p>
                  </a:txBody>
                  <a:tcPr anchor="ctr" marT="19050" marB="19050" marL="50800" marR="50800">
                    <a:solidFill>
                      <a:srgbClr val="242424"/>
                    </a:solidFill>
                  </a:tcPr>
                </a:tc>
              </a:tr>
              <a:tr h="295101">
                <a:tc>
                  <a:txBody>
                    <a:bodyPr/>
                    <a:lstStyle/>
                    <a:p>
                      <a:pPr algn="l"/>
                      <a:r>
                        <a:rPr sz="800" b="0">
                          <a:solidFill>
                            <a:srgbClr val="FFFFFF"/>
                          </a:solidFill>
                          <a:latin typeface="Calibri"/>
                        </a:rPr>
                        <a:t>cascading</a:t>
                      </a:r>
                    </a:p>
                  </a:txBody>
                  <a:tcPr anchor="ctr" marT="19050" marB="19050" marL="50800" marR="50800">
                    <a:solidFill>
                      <a:srgbClr val="2A2A2A"/>
                    </a:solidFill>
                  </a:tcPr>
                </a:tc>
                <a:tc>
                  <a:txBody>
                    <a:bodyPr/>
                    <a:lstStyle/>
                    <a:p>
                      <a:pPr algn="l"/>
                      <a:r>
                        <a:rPr sz="800" b="0">
                          <a:solidFill>
                            <a:srgbClr val="FFFFFF"/>
                          </a:solidFill>
                          <a:latin typeface="Calibri"/>
                        </a:rPr>
                        <a:t>Escalated honestly -- logs blocked by permissions</a:t>
                      </a:r>
                    </a:p>
                  </a:txBody>
                  <a:tcPr anchor="ctr" marT="19050" marB="19050" marL="50800" marR="50800">
                    <a:solidFill>
                      <a:srgbClr val="2A2A2A"/>
                    </a:solidFill>
                  </a:tcPr>
                </a:tc>
                <a:tc>
                  <a:txBody>
                    <a:bodyPr/>
                    <a:lstStyle/>
                    <a:p>
                      <a:pPr algn="l"/>
                      <a:r>
                        <a:rPr sz="800" b="0">
                          <a:solidFill>
                            <a:srgbClr val="CCCCCC"/>
                          </a:solidFill>
                          <a:latin typeface="Calibri"/>
                        </a:rPr>
                        <a:t>Honest escalation</a:t>
                      </a:r>
                    </a:p>
                  </a:txBody>
                  <a:tcPr anchor="ctr" marT="19050" marB="19050" marL="50800" marR="50800">
                    <a:solidFill>
                      <a:srgbClr val="2A2A2A"/>
                    </a:solidFill>
                  </a:tcPr>
                </a:tc>
                <a:tc>
                  <a:txBody>
                    <a:bodyPr/>
                    <a:lstStyle/>
                    <a:p>
                      <a:pPr algn="l"/>
                      <a:r>
                        <a:rPr sz="800" b="0">
                          <a:solidFill>
                            <a:srgbClr val="CCCCCC"/>
                          </a:solidFill>
                          <a:latin typeface="Calibri"/>
                        </a:rPr>
                        <a:t>0.20 escalate</a:t>
                      </a:r>
                    </a:p>
                  </a:txBody>
                  <a:tcPr anchor="ctr" marT="19050" marB="19050" marL="50800" marR="50800">
                    <a:solidFill>
                      <a:srgbClr val="2A2A2A"/>
                    </a:solidFill>
                  </a:tcPr>
                </a:tc>
                <a:tc>
                  <a:txBody>
                    <a:bodyPr/>
                    <a:lstStyle/>
                    <a:p>
                      <a:pPr algn="l"/>
                      <a:r>
                        <a:rPr sz="800" b="1">
                          <a:solidFill>
                            <a:srgbClr val="F4C542"/>
                          </a:solidFill>
                          <a:latin typeface="Calibri"/>
                        </a:rPr>
                        <a:t>Scored fail*</a:t>
                      </a:r>
                    </a:p>
                  </a:txBody>
                  <a:tcPr anchor="ctr" marT="19050" marB="19050" marL="50800" marR="50800">
                    <a:solidFill>
                      <a:srgbClr val="2A2A2A"/>
                    </a:solidFill>
                  </a:tcPr>
                </a:tc>
              </a:tr>
              <a:tr h="295101">
                <a:tc>
                  <a:txBody>
                    <a:bodyPr/>
                    <a:lstStyle/>
                    <a:p>
                      <a:pPr algn="l"/>
                      <a:r>
                        <a:rPr sz="800" b="0">
                          <a:solidFill>
                            <a:srgbClr val="FFFFFF"/>
                          </a:solidFill>
                          <a:latin typeface="Calibri"/>
                        </a:rPr>
                        <a:t>already-resolved</a:t>
                      </a:r>
                    </a:p>
                  </a:txBody>
                  <a:tcPr anchor="ctr" marT="19050" marB="19050" marL="50800" marR="50800">
                    <a:solidFill>
                      <a:srgbClr val="242424"/>
                    </a:solidFill>
                  </a:tcPr>
                </a:tc>
                <a:tc>
                  <a:txBody>
                    <a:bodyPr/>
                    <a:lstStyle/>
                    <a:p>
                      <a:pPr algn="l"/>
                      <a:r>
                        <a:rPr sz="800" b="0">
                          <a:solidFill>
                            <a:srgbClr val="FFFFFF"/>
                          </a:solidFill>
                          <a:latin typeface="Calibri"/>
                        </a:rPr>
                        <a:t>Self-diagnosed the exact missing RoleBinding</a:t>
                      </a:r>
                    </a:p>
                  </a:txBody>
                  <a:tcPr anchor="ctr" marT="19050" marB="19050" marL="50800" marR="50800">
                    <a:solidFill>
                      <a:srgbClr val="242424"/>
                    </a:solidFill>
                  </a:tcPr>
                </a:tc>
                <a:tc>
                  <a:txBody>
                    <a:bodyPr/>
                    <a:lstStyle/>
                    <a:p>
                      <a:pPr algn="l"/>
                      <a:r>
                        <a:rPr sz="800" b="0">
                          <a:solidFill>
                            <a:srgbClr val="CCCCCC"/>
                          </a:solidFill>
                          <a:latin typeface="Calibri"/>
                        </a:rPr>
                        <a:t>Honest diagnosis</a:t>
                      </a:r>
                    </a:p>
                  </a:txBody>
                  <a:tcPr anchor="ctr" marT="19050" marB="19050" marL="50800" marR="50800">
                    <a:solidFill>
                      <a:srgbClr val="242424"/>
                    </a:solidFill>
                  </a:tcPr>
                </a:tc>
                <a:tc>
                  <a:txBody>
                    <a:bodyPr/>
                    <a:lstStyle/>
                    <a:p>
                      <a:pPr algn="l"/>
                      <a:r>
                        <a:rPr sz="800" b="0">
                          <a:solidFill>
                            <a:srgbClr val="CCCCCC"/>
                          </a:solidFill>
                          <a:latin typeface="Calibri"/>
                        </a:rPr>
                        <a:t>0.80 review</a:t>
                      </a:r>
                    </a:p>
                  </a:txBody>
                  <a:tcPr anchor="ctr" marT="19050" marB="19050" marL="50800" marR="50800">
                    <a:solidFill>
                      <a:srgbClr val="242424"/>
                    </a:solidFill>
                  </a:tcPr>
                </a:tc>
                <a:tc>
                  <a:txBody>
                    <a:bodyPr/>
                    <a:lstStyle/>
                    <a:p>
                      <a:pPr algn="l"/>
                      <a:r>
                        <a:rPr sz="800" b="1">
                          <a:solidFill>
                            <a:srgbClr val="F4C542"/>
                          </a:solidFill>
                          <a:latin typeface="Calibri"/>
                        </a:rPr>
                        <a:t>Scored fail*</a:t>
                      </a:r>
                    </a:p>
                  </a:txBody>
                  <a:tcPr anchor="ctr" marT="19050" marB="19050" marL="50800" marR="50800">
                    <a:solidFill>
                      <a:srgbClr val="242424"/>
                    </a:solidFill>
                  </a:tcPr>
                </a:tc>
              </a:tr>
              <a:tr h="295110">
                <a:tc>
                  <a:txBody>
                    <a:bodyPr/>
                    <a:lstStyle/>
                    <a:p>
                      <a:pPr algn="l"/>
                      <a:r>
                        <a:rPr sz="800" b="0">
                          <a:solidFill>
                            <a:srgbClr val="FFFFFF"/>
                          </a:solidFill>
                          <a:latin typeface="Calibri"/>
                        </a:rPr>
                        <a:t>bad-command</a:t>
                      </a:r>
                    </a:p>
                  </a:txBody>
                  <a:tcPr anchor="ctr" marT="19050" marB="19050" marL="50800" marR="50800">
                    <a:solidFill>
                      <a:srgbClr val="2A2A2A"/>
                    </a:solidFill>
                  </a:tcPr>
                </a:tc>
                <a:tc>
                  <a:txBody>
                    <a:bodyPr/>
                    <a:lstStyle/>
                    <a:p>
                      <a:pPr algn="l"/>
                      <a:r>
                        <a:rPr sz="800" b="0">
                          <a:solidFill>
                            <a:srgbClr val="FFFFFF"/>
                          </a:solidFill>
                          <a:latin typeface="Calibri"/>
                        </a:rPr>
                        <a:t>Escalated honestly -- logs blocked by permissions</a:t>
                      </a:r>
                    </a:p>
                  </a:txBody>
                  <a:tcPr anchor="ctr" marT="19050" marB="19050" marL="50800" marR="50800">
                    <a:solidFill>
                      <a:srgbClr val="2A2A2A"/>
                    </a:solidFill>
                  </a:tcPr>
                </a:tc>
                <a:tc>
                  <a:txBody>
                    <a:bodyPr/>
                    <a:lstStyle/>
                    <a:p>
                      <a:pPr algn="l"/>
                      <a:r>
                        <a:rPr sz="800" b="0">
                          <a:solidFill>
                            <a:srgbClr val="CCCCCC"/>
                          </a:solidFill>
                          <a:latin typeface="Calibri"/>
                        </a:rPr>
                        <a:t>Honest escalation</a:t>
                      </a:r>
                    </a:p>
                  </a:txBody>
                  <a:tcPr anchor="ctr" marT="19050" marB="19050" marL="50800" marR="50800">
                    <a:solidFill>
                      <a:srgbClr val="2A2A2A"/>
                    </a:solidFill>
                  </a:tcPr>
                </a:tc>
                <a:tc>
                  <a:txBody>
                    <a:bodyPr/>
                    <a:lstStyle/>
                    <a:p>
                      <a:pPr algn="l"/>
                      <a:r>
                        <a:rPr sz="800" b="0">
                          <a:solidFill>
                            <a:srgbClr val="CCCCCC"/>
                          </a:solidFill>
                          <a:latin typeface="Calibri"/>
                        </a:rPr>
                        <a:t>0.20 escalate</a:t>
                      </a:r>
                    </a:p>
                  </a:txBody>
                  <a:tcPr anchor="ctr" marT="19050" marB="19050" marL="50800" marR="50800">
                    <a:solidFill>
                      <a:srgbClr val="2A2A2A"/>
                    </a:solidFill>
                  </a:tcPr>
                </a:tc>
                <a:tc>
                  <a:txBody>
                    <a:bodyPr/>
                    <a:lstStyle/>
                    <a:p>
                      <a:pPr algn="l"/>
                      <a:r>
                        <a:rPr sz="800" b="1">
                          <a:solidFill>
                            <a:srgbClr val="F4C542"/>
                          </a:solidFill>
                          <a:latin typeface="Calibri"/>
                        </a:rPr>
                        <a:t>Scored fail*</a:t>
                      </a:r>
                    </a:p>
                  </a:txBody>
                  <a:tcPr anchor="ctr" marT="19050" marB="19050" marL="50800" marR="50800">
                    <a:solidFill>
                      <a:srgbClr val="2A2A2A"/>
                    </a:solidFill>
                  </a:tcPr>
                </a:tc>
              </a:tr>
            </a:tbl>
          </a:graphicData>
        </a:graphic>
      </p:graphicFrame>
      <p:sp>
        <p:nvSpPr>
          <p:cNvPr id="6" name="TextBox 5"/>
          <p:cNvSpPr txBox="1"/>
          <p:nvPr/>
        </p:nvSpPr>
        <p:spPr>
          <a:xfrm>
            <a:off x="457200" y="4389120"/>
            <a:ext cx="8229600" cy="320040"/>
          </a:xfrm>
          <a:prstGeom prst="rect">
            <a:avLst/>
          </a:prstGeom>
          <a:noFill/>
        </p:spPr>
        <p:txBody>
          <a:bodyPr wrap="square">
            <a:spAutoFit/>
          </a:bodyPr>
          <a:lstStyle/>
          <a:p>
            <a:pPr algn="l"/>
            <a:r>
              <a:rPr sz="950" b="0" i="1">
                <a:solidFill>
                  <a:srgbClr val="999999"/>
                </a:solidFill>
                <a:latin typeface="Calibri"/>
              </a:rPr>
              <a:t>*Scored "fail" by the strict keyword-match formula, not because the answer was wrong -- zero hallucinated root causes across all 10 investigations.</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21">
    <p:bg>
      <p:bgPr>
        <a:solidFill>
          <a:schemeClr val="bg1"/>
        </a:solidFill>
        <a:effectLst/>
      </p:bgPr>
    </p:bg>
    <p:spTree>
      <p:nvGrpSpPr>
        <p:cNvPr id="1" name=""/>
        <p:cNvGrpSpPr/>
        <p:nvPr/>
      </p:nvGrpSpPr>
      <p:grpSpPr>
        <a:xfrm>
          <a:off x="0" y="0"/>
          <a:ext cx="0" cy="0"/>
          <a:chOff x="0" y="0"/>
          <a:chExt cx="0" cy="0"/>
        </a:xfrm>
      </p:grpSpPr>
      <p:sp>
        <p:nvSpPr>
          <p:cNvPr id="2" name="Text 0"/>
          <p:cNvSpPr/>
          <p:nvPr/>
        </p:nvSpPr>
        <p:spPr>
          <a:xfrm>
            <a:off x="7589520" y="137160"/>
            <a:ext cx="1371600" cy="274320"/>
          </a:xfrm>
          <a:prstGeom prst="rect">
            <a:avLst/>
          </a:prstGeom>
          <a:noFill/>
          <a:ln/>
        </p:spPr>
        <p:txBody>
          <a:bodyPr wrap="square" lIns="0" tIns="0" rIns="0" bIns="0" rtlCol="0" anchor="ctr"/>
          <a:lstStyle/>
          <a:p>
            <a:pPr marL="0" indent="0" algn="r">
              <a:buNone/>
            </a:pPr>
            <a:r>
              <a:rPr lang="en-US" sz="1200" b="1" kern="0" spc="300" dirty="0">
                <a:solidFill>
                  <a:srgbClr val="3CB371"/>
                </a:solidFill>
                <a:latin typeface="Trebuchet MS" pitchFamily="34" charset="0"/>
                <a:ea typeface="Trebuchet MS" pitchFamily="34" charset="-122"/>
                <a:cs typeface="Trebuchet MS" pitchFamily="34" charset="-120"/>
              </a:rPr>
              <a:t>SECTIGO</a:t>
            </a:r>
            <a:endParaRPr lang="en-US" sz="1200" dirty="0"/>
          </a:p>
        </p:txBody>
      </p:sp>
      <p:sp>
        <p:nvSpPr>
          <p:cNvPr id="3" name="Text 1"/>
          <p:cNvSpPr/>
          <p:nvPr/>
        </p:nvSpPr>
        <p:spPr>
          <a:xfrm>
            <a:off x="457200" y="1097280"/>
            <a:ext cx="1828800" cy="1371600"/>
          </a:xfrm>
          <a:prstGeom prst="rect">
            <a:avLst/>
          </a:prstGeom>
          <a:noFill/>
          <a:ln/>
        </p:spPr>
        <p:txBody>
          <a:bodyPr wrap="square" lIns="0" tIns="0" rIns="0" bIns="0" rtlCol="0" anchor="ctr"/>
          <a:lstStyle/>
          <a:p>
            <a:pPr marL="0" indent="0" algn="l">
              <a:buNone/>
            </a:pPr>
            <a:r>
              <a:rPr lang="en-US" sz="7200" b="1" dirty="0">
                <a:solidFill>
                  <a:srgbClr val="E8751A"/>
                </a:solidFill>
                <a:latin typeface="Georgia" pitchFamily="34" charset="0"/>
                <a:ea typeface="Georgia" pitchFamily="34" charset="-122"/>
                <a:cs typeface="Georgia" pitchFamily="34" charset="-120"/>
              </a:rPr>
              <a:t>06</a:t>
            </a:r>
            <a:endParaRPr lang="en-US" sz="7200" dirty="0"/>
          </a:p>
        </p:txBody>
      </p:sp>
      <p:sp>
        <p:nvSpPr>
          <p:cNvPr id="4" name="Shape 2"/>
          <p:cNvSpPr/>
          <p:nvPr/>
        </p:nvSpPr>
        <p:spPr>
          <a:xfrm>
            <a:off x="457200" y="2560320"/>
            <a:ext cx="2743200" cy="0"/>
          </a:xfrm>
          <a:prstGeom prst="line">
            <a:avLst/>
          </a:prstGeom>
          <a:noFill/>
          <a:ln w="38100">
            <a:solidFill>
              <a:srgbClr val="E8751A"/>
            </a:solidFill>
            <a:prstDash val="solid"/>
          </a:ln>
        </p:spPr>
        <p:txBody>
          <a:bodyPr/>
          <a:lstStyle/>
          <a:p>
            <a:endParaRPr lang="en-US"/>
          </a:p>
        </p:txBody>
      </p:sp>
      <p:sp>
        <p:nvSpPr>
          <p:cNvPr id="5" name="Text 3"/>
          <p:cNvSpPr/>
          <p:nvPr/>
        </p:nvSpPr>
        <p:spPr>
          <a:xfrm>
            <a:off x="457200" y="2743200"/>
            <a:ext cx="8229600" cy="914400"/>
          </a:xfrm>
          <a:prstGeom prst="rect">
            <a:avLst/>
          </a:prstGeom>
          <a:noFill/>
          <a:ln/>
        </p:spPr>
        <p:txBody>
          <a:bodyPr wrap="square" lIns="0" tIns="0" rIns="0" bIns="0" rtlCol="0" anchor="ctr"/>
          <a:lstStyle/>
          <a:p>
            <a:pPr marL="0" indent="0" algn="l">
              <a:buNone/>
            </a:pPr>
            <a:r>
              <a:rPr lang="en-US" sz="3600" b="1" dirty="0">
                <a:latin typeface="Georgia" pitchFamily="34" charset="0"/>
                <a:ea typeface="Georgia" pitchFamily="34" charset="-122"/>
                <a:cs typeface="Georgia" pitchFamily="34" charset="-120"/>
              </a:rPr>
              <a:t>Cost &amp; Value</a:t>
            </a:r>
            <a:endParaRPr lang="en-US" sz="3600" dirty="0"/>
          </a:p>
        </p:txBody>
      </p:sp>
      <p:sp>
        <p:nvSpPr>
          <p:cNvPr id="6" name="Text 4"/>
          <p:cNvSpPr/>
          <p:nvPr/>
        </p:nvSpPr>
        <p:spPr>
          <a:xfrm>
            <a:off x="457200" y="3566160"/>
            <a:ext cx="8229600" cy="457200"/>
          </a:xfrm>
          <a:prstGeom prst="rect">
            <a:avLst/>
          </a:prstGeom>
          <a:noFill/>
          <a:ln/>
        </p:spPr>
        <p:txBody>
          <a:bodyPr wrap="square" lIns="0" tIns="0" rIns="0" bIns="0" rtlCol="0" anchor="ctr"/>
          <a:lstStyle/>
          <a:p>
            <a:pPr marL="0" indent="0" algn="l">
              <a:buNone/>
            </a:pPr>
            <a:r>
              <a:rPr lang="en-US" sz="1400" dirty="0">
                <a:solidFill>
                  <a:srgbClr val="999999"/>
                </a:solidFill>
                <a:latin typeface="Calibri" pitchFamily="34" charset="0"/>
                <a:ea typeface="Calibri" pitchFamily="34" charset="-122"/>
                <a:cs typeface="Calibri" pitchFamily="34" charset="-120"/>
              </a:rPr>
              <a:t>What it costs and how we measure success</a:t>
            </a:r>
            <a:endParaRPr lang="en-US" sz="1400" dirty="0"/>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589520" y="137160"/>
            <a:ext cx="1371600" cy="274320"/>
          </a:xfrm>
          <a:prstGeom prst="rect">
            <a:avLst/>
          </a:prstGeom>
          <a:noFill/>
        </p:spPr>
        <p:txBody>
          <a:bodyPr wrap="none">
            <a:spAutoFit/>
          </a:bodyPr>
          <a:lstStyle/>
          <a:p>
            <a:r>
              <a:rPr sz="1200" b="1">
                <a:solidFill>
                  <a:srgbClr val="3CB371"/>
                </a:solidFill>
                <a:latin typeface="Trebuchet MS"/>
              </a:rPr>
              <a:t>SECTIGO</a:t>
            </a:r>
          </a:p>
        </p:txBody>
      </p:sp>
      <p:sp>
        <p:nvSpPr>
          <p:cNvPr id="3" name="Rectangle 2"/>
          <p:cNvSpPr/>
          <p:nvPr/>
        </p:nvSpPr>
        <p:spPr>
          <a:xfrm>
            <a:off x="457200" y="182880"/>
            <a:ext cx="1188720" cy="256032"/>
          </a:xfrm>
          <a:prstGeom prst="rect">
            <a:avLst/>
          </a:prstGeom>
          <a:solidFill>
            <a:srgbClr val="F4C5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900" b="1">
                <a:solidFill>
                  <a:srgbClr val="1A1A1A"/>
                </a:solidFill>
                <a:latin typeface="Trebuchet MS"/>
              </a:rPr>
              <a:t>COST &amp; VALUE</a:t>
            </a:r>
          </a:p>
        </p:txBody>
      </p:sp>
      <p:sp>
        <p:nvSpPr>
          <p:cNvPr id="4" name="TextBox 3"/>
          <p:cNvSpPr txBox="1"/>
          <p:nvPr/>
        </p:nvSpPr>
        <p:spPr>
          <a:xfrm>
            <a:off x="457200" y="594360"/>
            <a:ext cx="8229600" cy="411480"/>
          </a:xfrm>
          <a:prstGeom prst="rect">
            <a:avLst/>
          </a:prstGeom>
          <a:noFill/>
        </p:spPr>
        <p:txBody>
          <a:bodyPr wrap="square">
            <a:spAutoFit/>
          </a:bodyPr>
          <a:lstStyle/>
          <a:p>
            <a:pPr algn="l"/>
            <a:r>
              <a:rPr sz="2000" b="1">
                <a:solidFill>
                  <a:srgbClr val="131313"/>
                </a:solidFill>
                <a:latin typeface="Calibri"/>
              </a:rPr>
              <a:t>What This Actually Costs</a:t>
            </a:r>
          </a:p>
        </p:txBody>
      </p:sp>
      <p:sp>
        <p:nvSpPr>
          <p:cNvPr id="5" name="Rectangle 4"/>
          <p:cNvSpPr/>
          <p:nvPr/>
        </p:nvSpPr>
        <p:spPr>
          <a:xfrm>
            <a:off x="457200" y="1234440"/>
            <a:ext cx="2560320" cy="914400"/>
          </a:xfrm>
          <a:prstGeom prst="rect">
            <a:avLst/>
          </a:prstGeom>
          <a:solidFill>
            <a:srgbClr val="2424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94360" y="1325880"/>
            <a:ext cx="2286000" cy="457200"/>
          </a:xfrm>
          <a:prstGeom prst="rect">
            <a:avLst/>
          </a:prstGeom>
          <a:noFill/>
        </p:spPr>
        <p:txBody>
          <a:bodyPr wrap="square">
            <a:spAutoFit/>
          </a:bodyPr>
          <a:lstStyle/>
          <a:p>
            <a:pPr algn="l"/>
            <a:r>
              <a:rPr sz="2400" b="1">
                <a:solidFill>
                  <a:srgbClr val="1ABC9C"/>
                </a:solidFill>
                <a:latin typeface="Calibri"/>
              </a:rPr>
              <a:t>$0.0025</a:t>
            </a:r>
          </a:p>
        </p:txBody>
      </p:sp>
      <p:sp>
        <p:nvSpPr>
          <p:cNvPr id="7" name="TextBox 6"/>
          <p:cNvSpPr txBox="1"/>
          <p:nvPr/>
        </p:nvSpPr>
        <p:spPr>
          <a:xfrm>
            <a:off x="594360" y="1783080"/>
            <a:ext cx="2286000" cy="320040"/>
          </a:xfrm>
          <a:prstGeom prst="rect">
            <a:avLst/>
          </a:prstGeom>
          <a:noFill/>
        </p:spPr>
        <p:txBody>
          <a:bodyPr wrap="square">
            <a:spAutoFit/>
          </a:bodyPr>
          <a:lstStyle/>
          <a:p>
            <a:pPr algn="l"/>
            <a:r>
              <a:rPr sz="1000" b="0">
                <a:solidFill>
                  <a:srgbClr val="999999"/>
                </a:solidFill>
                <a:latin typeface="Calibri"/>
              </a:rPr>
              <a:t>Avg cost / investigation</a:t>
            </a:r>
          </a:p>
        </p:txBody>
      </p:sp>
      <p:sp>
        <p:nvSpPr>
          <p:cNvPr id="8" name="Rectangle 7"/>
          <p:cNvSpPr/>
          <p:nvPr/>
        </p:nvSpPr>
        <p:spPr>
          <a:xfrm>
            <a:off x="3154679" y="1234440"/>
            <a:ext cx="2560320" cy="914400"/>
          </a:xfrm>
          <a:prstGeom prst="rect">
            <a:avLst/>
          </a:prstGeom>
          <a:solidFill>
            <a:srgbClr val="2424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291839" y="1325880"/>
            <a:ext cx="2286000" cy="457200"/>
          </a:xfrm>
          <a:prstGeom prst="rect">
            <a:avLst/>
          </a:prstGeom>
          <a:noFill/>
        </p:spPr>
        <p:txBody>
          <a:bodyPr wrap="square">
            <a:spAutoFit/>
          </a:bodyPr>
          <a:lstStyle/>
          <a:p>
            <a:pPr algn="l"/>
            <a:r>
              <a:rPr sz="2400" b="1">
                <a:solidFill>
                  <a:srgbClr val="F4C542"/>
                </a:solidFill>
                <a:latin typeface="Calibri"/>
              </a:rPr>
              <a:t>20.5s</a:t>
            </a:r>
          </a:p>
        </p:txBody>
      </p:sp>
      <p:sp>
        <p:nvSpPr>
          <p:cNvPr id="10" name="TextBox 9"/>
          <p:cNvSpPr txBox="1"/>
          <p:nvPr/>
        </p:nvSpPr>
        <p:spPr>
          <a:xfrm>
            <a:off x="3291839" y="1783080"/>
            <a:ext cx="2286000" cy="320040"/>
          </a:xfrm>
          <a:prstGeom prst="rect">
            <a:avLst/>
          </a:prstGeom>
          <a:noFill/>
        </p:spPr>
        <p:txBody>
          <a:bodyPr wrap="square">
            <a:spAutoFit/>
          </a:bodyPr>
          <a:lstStyle/>
          <a:p>
            <a:pPr algn="l"/>
            <a:r>
              <a:rPr sz="1000" b="0">
                <a:solidFill>
                  <a:srgbClr val="999999"/>
                </a:solidFill>
                <a:latin typeface="Calibri"/>
              </a:rPr>
              <a:t>Avg latency / investigation</a:t>
            </a:r>
          </a:p>
        </p:txBody>
      </p:sp>
      <p:sp>
        <p:nvSpPr>
          <p:cNvPr id="11" name="Rectangle 10"/>
          <p:cNvSpPr/>
          <p:nvPr/>
        </p:nvSpPr>
        <p:spPr>
          <a:xfrm>
            <a:off x="5852159" y="1234440"/>
            <a:ext cx="2560320" cy="914400"/>
          </a:xfrm>
          <a:prstGeom prst="rect">
            <a:avLst/>
          </a:prstGeom>
          <a:solidFill>
            <a:srgbClr val="2424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989320" y="1325880"/>
            <a:ext cx="2286000" cy="457200"/>
          </a:xfrm>
          <a:prstGeom prst="rect">
            <a:avLst/>
          </a:prstGeom>
          <a:noFill/>
        </p:spPr>
        <p:txBody>
          <a:bodyPr wrap="square">
            <a:spAutoFit/>
          </a:bodyPr>
          <a:lstStyle/>
          <a:p>
            <a:pPr algn="l"/>
            <a:r>
              <a:rPr sz="2400" b="1">
                <a:solidFill>
                  <a:srgbClr val="E8751A"/>
                </a:solidFill>
                <a:latin typeface="Calibri"/>
              </a:rPr>
              <a:t>~13K</a:t>
            </a:r>
          </a:p>
        </p:txBody>
      </p:sp>
      <p:sp>
        <p:nvSpPr>
          <p:cNvPr id="13" name="TextBox 12"/>
          <p:cNvSpPr txBox="1"/>
          <p:nvPr/>
        </p:nvSpPr>
        <p:spPr>
          <a:xfrm>
            <a:off x="5989320" y="1783080"/>
            <a:ext cx="2286000" cy="320040"/>
          </a:xfrm>
          <a:prstGeom prst="rect">
            <a:avLst/>
          </a:prstGeom>
          <a:noFill/>
        </p:spPr>
        <p:txBody>
          <a:bodyPr wrap="square">
            <a:spAutoFit/>
          </a:bodyPr>
          <a:lstStyle/>
          <a:p>
            <a:pPr algn="l"/>
            <a:r>
              <a:rPr sz="1000" b="0">
                <a:solidFill>
                  <a:srgbClr val="999999"/>
                </a:solidFill>
                <a:latin typeface="Calibri"/>
              </a:rPr>
              <a:t>Avg tokens / investigation</a:t>
            </a:r>
          </a:p>
        </p:txBody>
      </p:sp>
      <p:sp>
        <p:nvSpPr>
          <p:cNvPr id="14" name="Rectangle 13"/>
          <p:cNvSpPr/>
          <p:nvPr/>
        </p:nvSpPr>
        <p:spPr>
          <a:xfrm>
            <a:off x="457200" y="2331720"/>
            <a:ext cx="8229600" cy="914400"/>
          </a:xfrm>
          <a:prstGeom prst="rect">
            <a:avLst/>
          </a:prstGeom>
          <a:solidFill>
            <a:srgbClr val="2424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457200" y="2331720"/>
            <a:ext cx="54864" cy="914400"/>
          </a:xfrm>
          <a:prstGeom prst="rect">
            <a:avLst/>
          </a:prstGeom>
          <a:solidFill>
            <a:srgbClr val="1ABC9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58368" y="2423160"/>
            <a:ext cx="7863840" cy="731520"/>
          </a:xfrm>
          <a:prstGeom prst="rect">
            <a:avLst/>
          </a:prstGeom>
          <a:noFill/>
        </p:spPr>
        <p:txBody>
          <a:bodyPr wrap="square">
            <a:spAutoFit/>
          </a:bodyPr>
          <a:lstStyle/>
          <a:p>
            <a:pPr algn="l"/>
            <a:r>
              <a:rPr sz="1100" b="0">
                <a:solidFill>
                  <a:srgbClr val="CCCCCC"/>
                </a:solidFill>
                <a:latin typeface="Calibri"/>
              </a:rPr>
              <a:t>Real numbers from the actual eval run — not estimated. Every investigation's token usage and cost is tracked individually and exported to Cloud Monitoring, with a cost-spike alert already deployed.</a:t>
            </a:r>
          </a:p>
        </p:txBody>
      </p:sp>
      <p:sp>
        <p:nvSpPr>
          <p:cNvPr id="17" name="TextBox 16"/>
          <p:cNvSpPr txBox="1"/>
          <p:nvPr/>
        </p:nvSpPr>
        <p:spPr>
          <a:xfrm>
            <a:off x="457200" y="3429000"/>
            <a:ext cx="8229600" cy="274320"/>
          </a:xfrm>
          <a:prstGeom prst="rect">
            <a:avLst/>
          </a:prstGeom>
          <a:noFill/>
        </p:spPr>
        <p:txBody>
          <a:bodyPr wrap="square">
            <a:spAutoFit/>
          </a:bodyPr>
          <a:lstStyle/>
          <a:p>
            <a:pPr algn="l"/>
            <a:r>
              <a:rPr sz="1100" b="1">
                <a:solidFill>
                  <a:srgbClr val="131313"/>
                </a:solidFill>
                <a:latin typeface="Calibri"/>
              </a:rPr>
              <a:t>How this scales:</a:t>
            </a:r>
          </a:p>
        </p:txBody>
      </p:sp>
      <p:sp>
        <p:nvSpPr>
          <p:cNvPr id="18" name="TextBox 17"/>
          <p:cNvSpPr txBox="1"/>
          <p:nvPr/>
        </p:nvSpPr>
        <p:spPr>
          <a:xfrm>
            <a:off x="457200" y="3703320"/>
            <a:ext cx="8229600" cy="457200"/>
          </a:xfrm>
          <a:prstGeom prst="rect">
            <a:avLst/>
          </a:prstGeom>
          <a:noFill/>
        </p:spPr>
        <p:txBody>
          <a:bodyPr wrap="square">
            <a:spAutoFit/>
          </a:bodyPr>
          <a:lstStyle/>
          <a:p>
            <a:pPr algn="l"/>
            <a:r>
              <a:rPr sz="1050" b="0">
                <a:solidFill>
                  <a:srgbClr val="CCCCCC"/>
                </a:solidFill>
                <a:latin typeface="Calibri"/>
              </a:rPr>
              <a:t>At this rate, 1,000 investigations/month is roughly $2.50 in model cost — the real constraint on scale is engineering time to expand coverage, not per-run spend.</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3">
    <p:bg>
      <p:bgPr>
        <a:solidFill>
          <a:schemeClr val="bg1"/>
        </a:solidFill>
        <a:effectLst/>
      </p:bgPr>
    </p:bg>
    <p:spTree>
      <p:nvGrpSpPr>
        <p:cNvPr id="1" name=""/>
        <p:cNvGrpSpPr/>
        <p:nvPr/>
      </p:nvGrpSpPr>
      <p:grpSpPr>
        <a:xfrm>
          <a:off x="0" y="0"/>
          <a:ext cx="0" cy="0"/>
          <a:chOff x="0" y="0"/>
          <a:chExt cx="0" cy="0"/>
        </a:xfrm>
      </p:grpSpPr>
      <p:sp>
        <p:nvSpPr>
          <p:cNvPr id="2" name="Text 0"/>
          <p:cNvSpPr/>
          <p:nvPr/>
        </p:nvSpPr>
        <p:spPr>
          <a:xfrm>
            <a:off x="7589520" y="137160"/>
            <a:ext cx="1371600" cy="274320"/>
          </a:xfrm>
          <a:prstGeom prst="rect">
            <a:avLst/>
          </a:prstGeom>
          <a:noFill/>
          <a:ln/>
        </p:spPr>
        <p:txBody>
          <a:bodyPr wrap="square" lIns="0" tIns="0" rIns="0" bIns="0" rtlCol="0" anchor="ctr"/>
          <a:lstStyle/>
          <a:p>
            <a:pPr marL="0" indent="0" algn="r">
              <a:buNone/>
            </a:pPr>
            <a:r>
              <a:rPr lang="en-US" sz="1200" b="1" kern="0" spc="300" dirty="0">
                <a:solidFill>
                  <a:srgbClr val="3CB371"/>
                </a:solidFill>
                <a:latin typeface="Trebuchet MS" pitchFamily="34" charset="0"/>
                <a:ea typeface="Trebuchet MS" pitchFamily="34" charset="-122"/>
                <a:cs typeface="Trebuchet MS" pitchFamily="34" charset="-120"/>
              </a:rPr>
              <a:t>SECTIGO</a:t>
            </a:r>
            <a:endParaRPr lang="en-US" sz="1200" dirty="0"/>
          </a:p>
        </p:txBody>
      </p:sp>
      <p:sp>
        <p:nvSpPr>
          <p:cNvPr id="3" name="Shape 1"/>
          <p:cNvSpPr/>
          <p:nvPr/>
        </p:nvSpPr>
        <p:spPr>
          <a:xfrm>
            <a:off x="457200" y="182880"/>
            <a:ext cx="1426464" cy="256032"/>
          </a:xfrm>
          <a:prstGeom prst="roundRect">
            <a:avLst>
              <a:gd name="adj" fmla="val 14286"/>
            </a:avLst>
          </a:prstGeom>
          <a:solidFill>
            <a:srgbClr val="E8751A"/>
          </a:solidFill>
          <a:ln/>
        </p:spPr>
        <p:txBody>
          <a:bodyPr/>
          <a:lstStyle/>
          <a:p>
            <a:endParaRPr lang="en-US"/>
          </a:p>
        </p:txBody>
      </p:sp>
      <p:sp>
        <p:nvSpPr>
          <p:cNvPr id="4" name="Text 2"/>
          <p:cNvSpPr/>
          <p:nvPr/>
        </p:nvSpPr>
        <p:spPr>
          <a:xfrm>
            <a:off x="457200" y="182880"/>
            <a:ext cx="1426464" cy="256032"/>
          </a:xfrm>
          <a:prstGeom prst="rect">
            <a:avLst/>
          </a:prstGeom>
          <a:noFill/>
          <a:ln/>
        </p:spPr>
        <p:txBody>
          <a:bodyPr wrap="square" lIns="0" tIns="0" rIns="0" bIns="0" rtlCol="0" anchor="ctr"/>
          <a:lstStyle/>
          <a:p>
            <a:pPr marL="0" indent="0" algn="ctr">
              <a:buNone/>
            </a:pPr>
            <a:r>
              <a:rPr lang="en-US" sz="800" b="1" kern="0" spc="200" dirty="0">
                <a:solidFill>
                  <a:srgbClr val="FFFFFF"/>
                </a:solidFill>
                <a:latin typeface="Trebuchet MS" pitchFamily="34" charset="0"/>
                <a:ea typeface="Trebuchet MS" pitchFamily="34" charset="-122"/>
                <a:cs typeface="Trebuchet MS" pitchFamily="34" charset="-120"/>
              </a:rPr>
              <a:t>COST &amp; VALUE</a:t>
            </a:r>
            <a:endParaRPr lang="en-US" sz="800" dirty="0"/>
          </a:p>
        </p:txBody>
      </p:sp>
      <p:sp>
        <p:nvSpPr>
          <p:cNvPr id="5" name="Text 3"/>
          <p:cNvSpPr/>
          <p:nvPr/>
        </p:nvSpPr>
        <p:spPr>
          <a:xfrm>
            <a:off x="457200" y="502920"/>
            <a:ext cx="8229600" cy="502920"/>
          </a:xfrm>
          <a:prstGeom prst="rect">
            <a:avLst/>
          </a:prstGeom>
          <a:noFill/>
          <a:ln/>
        </p:spPr>
        <p:txBody>
          <a:bodyPr wrap="square" lIns="0" tIns="0" rIns="0" bIns="0" rtlCol="0" anchor="ctr"/>
          <a:lstStyle/>
          <a:p>
            <a:pPr marL="0" indent="0">
              <a:buNone/>
            </a:pPr>
            <a:r>
              <a:rPr lang="en-US" sz="3000" b="1" dirty="0">
                <a:latin typeface="Georgia" pitchFamily="34" charset="0"/>
                <a:ea typeface="Georgia" pitchFamily="34" charset="-122"/>
                <a:cs typeface="Georgia" pitchFamily="34" charset="-120"/>
              </a:rPr>
              <a:t>Success Metrics &amp; KPIs</a:t>
            </a:r>
            <a:endParaRPr lang="en-US" sz="3000" dirty="0"/>
          </a:p>
        </p:txBody>
      </p:sp>
      <p:sp>
        <p:nvSpPr>
          <p:cNvPr id="6" name="Shape 4"/>
          <p:cNvSpPr/>
          <p:nvPr/>
        </p:nvSpPr>
        <p:spPr>
          <a:xfrm>
            <a:off x="457200" y="1188720"/>
            <a:ext cx="3931920" cy="3017520"/>
          </a:xfrm>
          <a:prstGeom prst="rect">
            <a:avLst/>
          </a:prstGeom>
          <a:solidFill>
            <a:srgbClr val="242424"/>
          </a:solidFill>
          <a:ln w="12700">
            <a:solidFill>
              <a:srgbClr val="333333"/>
            </a:solidFill>
            <a:prstDash val="solid"/>
          </a:ln>
        </p:spPr>
        <p:txBody>
          <a:bodyPr/>
          <a:lstStyle/>
          <a:p>
            <a:endParaRPr lang="en-US"/>
          </a:p>
        </p:txBody>
      </p:sp>
      <p:sp>
        <p:nvSpPr>
          <p:cNvPr id="7" name="Shape 5"/>
          <p:cNvSpPr/>
          <p:nvPr/>
        </p:nvSpPr>
        <p:spPr>
          <a:xfrm>
            <a:off x="457200" y="1188720"/>
            <a:ext cx="3931920" cy="36576"/>
          </a:xfrm>
          <a:prstGeom prst="rect">
            <a:avLst/>
          </a:prstGeom>
          <a:solidFill>
            <a:srgbClr val="E8751A"/>
          </a:solidFill>
          <a:ln/>
        </p:spPr>
        <p:txBody>
          <a:bodyPr/>
          <a:lstStyle/>
          <a:p>
            <a:endParaRPr lang="en-US"/>
          </a:p>
        </p:txBody>
      </p:sp>
      <p:sp>
        <p:nvSpPr>
          <p:cNvPr id="8" name="Text 6"/>
          <p:cNvSpPr/>
          <p:nvPr/>
        </p:nvSpPr>
        <p:spPr>
          <a:xfrm>
            <a:off x="640080" y="1325880"/>
            <a:ext cx="3566160" cy="320040"/>
          </a:xfrm>
          <a:prstGeom prst="rect">
            <a:avLst/>
          </a:prstGeom>
          <a:noFill/>
          <a:ln/>
        </p:spPr>
        <p:txBody>
          <a:bodyPr wrap="square" lIns="0" tIns="0" rIns="0" bIns="0" rtlCol="0" anchor="ctr"/>
          <a:lstStyle/>
          <a:p>
            <a:pPr marL="0" indent="0" algn="l">
              <a:buNone/>
            </a:pPr>
            <a:r>
              <a:rPr lang="en-US" sz="1600" b="1" dirty="0">
                <a:solidFill>
                  <a:srgbClr val="E8751A"/>
                </a:solidFill>
                <a:latin typeface="Trebuchet MS" pitchFamily="34" charset="0"/>
                <a:ea typeface="Trebuchet MS" pitchFamily="34" charset="-122"/>
                <a:cs typeface="Trebuchet MS" pitchFamily="34" charset="-120"/>
              </a:rPr>
              <a:t>Operational</a:t>
            </a:r>
            <a:endParaRPr lang="en-US" sz="1600" dirty="0"/>
          </a:p>
        </p:txBody>
      </p:sp>
      <p:pic>
        <p:nvPicPr>
          <p:cNvPr id="9" name="Image 0" descr="preencoded.png"/>
          <p:cNvPicPr>
            <a:picLocks noChangeAspect="1"/>
          </p:cNvPicPr>
          <p:nvPr/>
        </p:nvPicPr>
        <p:blipFill>
          <a:blip r:embed="rId3"/>
          <a:stretch>
            <a:fillRect/>
          </a:stretch>
        </p:blipFill>
        <p:spPr>
          <a:xfrm>
            <a:off x="685800" y="1828800"/>
            <a:ext cx="228600" cy="228600"/>
          </a:xfrm>
          <a:prstGeom prst="rect">
            <a:avLst/>
          </a:prstGeom>
        </p:spPr>
      </p:pic>
      <p:sp>
        <p:nvSpPr>
          <p:cNvPr id="10" name="Text 7"/>
          <p:cNvSpPr/>
          <p:nvPr/>
        </p:nvSpPr>
        <p:spPr>
          <a:xfrm>
            <a:off x="1051560" y="1783080"/>
            <a:ext cx="3108960" cy="201168"/>
          </a:xfrm>
          <a:prstGeom prst="rect">
            <a:avLst/>
          </a:prstGeom>
          <a:noFill/>
          <a:ln/>
        </p:spPr>
        <p:txBody>
          <a:bodyPr wrap="square" lIns="0" tIns="0" rIns="0" bIns="0" rtlCol="0" anchor="ctr"/>
          <a:lstStyle/>
          <a:p>
            <a:pPr marL="0" indent="0" algn="l">
              <a:buNone/>
            </a:pPr>
            <a:r>
              <a:rPr lang="en-US" sz="1100" b="1" dirty="0">
                <a:solidFill>
                  <a:srgbClr val="FFFFFF"/>
                </a:solidFill>
                <a:latin typeface="Calibri" pitchFamily="34" charset="0"/>
                <a:ea typeface="Calibri" pitchFamily="34" charset="-122"/>
                <a:cs typeface="Calibri" pitchFamily="34" charset="-120"/>
              </a:rPr>
              <a:t>MTTR Reduction</a:t>
            </a:r>
            <a:endParaRPr lang="en-US" sz="1100" dirty="0"/>
          </a:p>
        </p:txBody>
      </p:sp>
      <p:sp>
        <p:nvSpPr>
          <p:cNvPr id="11" name="Text 8"/>
          <p:cNvSpPr/>
          <p:nvPr/>
        </p:nvSpPr>
        <p:spPr>
          <a:xfrm>
            <a:off x="1051560" y="1984248"/>
            <a:ext cx="3108960" cy="228600"/>
          </a:xfrm>
          <a:prstGeom prst="rect">
            <a:avLst/>
          </a:prstGeom>
          <a:noFill/>
          <a:ln/>
        </p:spPr>
        <p:txBody>
          <a:bodyPr wrap="square" lIns="0" tIns="0" rIns="0" bIns="0" rtlCol="0" anchor="ctr"/>
          <a:lstStyle/>
          <a:p>
            <a:pPr marL="0" indent="0" algn="l">
              <a:buNone/>
            </a:pPr>
            <a:r>
              <a:rPr lang="en-US" sz="1200" dirty="0">
                <a:solidFill>
                  <a:srgbClr val="999999"/>
                </a:solidFill>
                <a:latin typeface="Calibri" pitchFamily="34" charset="0"/>
                <a:ea typeface="Calibri" pitchFamily="34" charset="-122"/>
                <a:cs typeface="Calibri" pitchFamily="34" charset="-120"/>
              </a:rPr>
              <a:t>Target metric — no baseline claimed yet</a:t>
            </a:r>
            <a:endParaRPr lang="en-US" sz="900" dirty="0"/>
          </a:p>
        </p:txBody>
      </p:sp>
      <p:pic>
        <p:nvPicPr>
          <p:cNvPr id="12" name="Image 1" descr="preencoded.png"/>
          <p:cNvPicPr>
            <a:picLocks noChangeAspect="1"/>
          </p:cNvPicPr>
          <p:nvPr/>
        </p:nvPicPr>
        <p:blipFill>
          <a:blip r:embed="rId4"/>
          <a:stretch>
            <a:fillRect/>
          </a:stretch>
        </p:blipFill>
        <p:spPr>
          <a:xfrm>
            <a:off x="685800" y="2377440"/>
            <a:ext cx="228600" cy="228600"/>
          </a:xfrm>
          <a:prstGeom prst="rect">
            <a:avLst/>
          </a:prstGeom>
        </p:spPr>
      </p:pic>
      <p:sp>
        <p:nvSpPr>
          <p:cNvPr id="13" name="Text 9"/>
          <p:cNvSpPr/>
          <p:nvPr/>
        </p:nvSpPr>
        <p:spPr>
          <a:xfrm>
            <a:off x="1051560" y="2331720"/>
            <a:ext cx="3108960" cy="201168"/>
          </a:xfrm>
          <a:prstGeom prst="rect">
            <a:avLst/>
          </a:prstGeom>
          <a:noFill/>
          <a:ln/>
        </p:spPr>
        <p:txBody>
          <a:bodyPr wrap="square" lIns="0" tIns="0" rIns="0" bIns="0" rtlCol="0" anchor="ctr"/>
          <a:lstStyle/>
          <a:p>
            <a:pPr marL="0" indent="0" algn="l">
              <a:buNone/>
            </a:pPr>
            <a:r>
              <a:rPr lang="en-US" sz="1100" b="1" dirty="0">
                <a:solidFill>
                  <a:srgbClr val="FFFFFF"/>
                </a:solidFill>
                <a:latin typeface="Calibri" pitchFamily="34" charset="0"/>
                <a:ea typeface="Calibri" pitchFamily="34" charset="-122"/>
                <a:cs typeface="Calibri" pitchFamily="34" charset="-120"/>
              </a:rPr>
              <a:t>Auto-Triage Rate</a:t>
            </a:r>
            <a:endParaRPr lang="en-US" sz="1100" dirty="0"/>
          </a:p>
        </p:txBody>
      </p:sp>
      <p:sp>
        <p:nvSpPr>
          <p:cNvPr id="14" name="Text 10"/>
          <p:cNvSpPr/>
          <p:nvPr/>
        </p:nvSpPr>
        <p:spPr>
          <a:xfrm>
            <a:off x="1051560" y="2532888"/>
            <a:ext cx="3108960" cy="228600"/>
          </a:xfrm>
          <a:prstGeom prst="rect">
            <a:avLst/>
          </a:prstGeom>
          <a:noFill/>
          <a:ln/>
        </p:spPr>
        <p:txBody>
          <a:bodyPr wrap="square" lIns="0" tIns="0" rIns="0" bIns="0" rtlCol="0" anchor="ctr"/>
          <a:lstStyle/>
          <a:p>
            <a:pPr marL="0" indent="0" algn="l">
              <a:buNone/>
            </a:pPr>
            <a:r>
              <a:rPr lang="en-US" sz="900" dirty="0">
                <a:solidFill>
                  <a:srgbClr val="999999"/>
                </a:solidFill>
                <a:latin typeface="Calibri" pitchFamily="34" charset="0"/>
                <a:ea typeface="Calibri" pitchFamily="34" charset="-122"/>
                <a:cs typeface="Calibri" pitchFamily="34" charset="-120"/>
              </a:rPr>
              <a:t>% of alerts with RCA hypothesis within minutes</a:t>
            </a:r>
            <a:endParaRPr lang="en-US" sz="900" dirty="0"/>
          </a:p>
        </p:txBody>
      </p:sp>
      <p:pic>
        <p:nvPicPr>
          <p:cNvPr id="15" name="Image 2" descr="preencoded.png"/>
          <p:cNvPicPr>
            <a:picLocks noChangeAspect="1"/>
          </p:cNvPicPr>
          <p:nvPr/>
        </p:nvPicPr>
        <p:blipFill>
          <a:blip r:embed="rId5"/>
          <a:stretch>
            <a:fillRect/>
          </a:stretch>
        </p:blipFill>
        <p:spPr>
          <a:xfrm>
            <a:off x="685800" y="2926080"/>
            <a:ext cx="228600" cy="228600"/>
          </a:xfrm>
          <a:prstGeom prst="rect">
            <a:avLst/>
          </a:prstGeom>
        </p:spPr>
      </p:pic>
      <p:sp>
        <p:nvSpPr>
          <p:cNvPr id="16" name="Text 11"/>
          <p:cNvSpPr/>
          <p:nvPr/>
        </p:nvSpPr>
        <p:spPr>
          <a:xfrm>
            <a:off x="1051560" y="2880360"/>
            <a:ext cx="3108960" cy="201168"/>
          </a:xfrm>
          <a:prstGeom prst="rect">
            <a:avLst/>
          </a:prstGeom>
          <a:noFill/>
          <a:ln/>
        </p:spPr>
        <p:txBody>
          <a:bodyPr wrap="square" lIns="0" tIns="0" rIns="0" bIns="0" rtlCol="0" anchor="ctr"/>
          <a:lstStyle/>
          <a:p>
            <a:pPr marL="0" indent="0" algn="l">
              <a:buNone/>
            </a:pPr>
            <a:r>
              <a:rPr lang="en-US" sz="1100" b="1" dirty="0">
                <a:solidFill>
                  <a:srgbClr val="FFFFFF"/>
                </a:solidFill>
                <a:latin typeface="Calibri" pitchFamily="34" charset="0"/>
                <a:ea typeface="Calibri" pitchFamily="34" charset="-122"/>
                <a:cs typeface="Calibri" pitchFamily="34" charset="-120"/>
              </a:rPr>
              <a:t>Alert Noise Reduction</a:t>
            </a:r>
            <a:endParaRPr lang="en-US" sz="1100" dirty="0"/>
          </a:p>
        </p:txBody>
      </p:sp>
      <p:sp>
        <p:nvSpPr>
          <p:cNvPr id="17" name="Text 12"/>
          <p:cNvSpPr/>
          <p:nvPr/>
        </p:nvSpPr>
        <p:spPr>
          <a:xfrm>
            <a:off x="1051560" y="3081528"/>
            <a:ext cx="3108960" cy="228600"/>
          </a:xfrm>
          <a:prstGeom prst="rect">
            <a:avLst/>
          </a:prstGeom>
          <a:noFill/>
          <a:ln/>
        </p:spPr>
        <p:txBody>
          <a:bodyPr wrap="square" lIns="0" tIns="0" rIns="0" bIns="0" rtlCol="0" anchor="ctr"/>
          <a:lstStyle/>
          <a:p>
            <a:pPr marL="0" indent="0" algn="l">
              <a:buNone/>
            </a:pPr>
            <a:r>
              <a:rPr lang="en-US" sz="900" dirty="0">
                <a:solidFill>
                  <a:srgbClr val="999999"/>
                </a:solidFill>
                <a:latin typeface="Calibri" pitchFamily="34" charset="0"/>
                <a:ea typeface="Calibri" pitchFamily="34" charset="-122"/>
                <a:cs typeface="Calibri" pitchFamily="34" charset="-120"/>
              </a:rPr>
              <a:t>Reduction in noisy / duplicate alerts</a:t>
            </a:r>
            <a:endParaRPr lang="en-US" sz="900" dirty="0"/>
          </a:p>
        </p:txBody>
      </p:sp>
      <p:pic>
        <p:nvPicPr>
          <p:cNvPr id="18" name="Image 3" descr="preencoded.png"/>
          <p:cNvPicPr>
            <a:picLocks noChangeAspect="1"/>
          </p:cNvPicPr>
          <p:nvPr/>
        </p:nvPicPr>
        <p:blipFill>
          <a:blip r:embed="rId6"/>
          <a:stretch>
            <a:fillRect/>
          </a:stretch>
        </p:blipFill>
        <p:spPr>
          <a:xfrm>
            <a:off x="685800" y="3474720"/>
            <a:ext cx="228600" cy="228600"/>
          </a:xfrm>
          <a:prstGeom prst="rect">
            <a:avLst/>
          </a:prstGeom>
        </p:spPr>
      </p:pic>
      <p:sp>
        <p:nvSpPr>
          <p:cNvPr id="19" name="Text 13"/>
          <p:cNvSpPr/>
          <p:nvPr/>
        </p:nvSpPr>
        <p:spPr>
          <a:xfrm>
            <a:off x="1051560" y="3429000"/>
            <a:ext cx="3108960" cy="201168"/>
          </a:xfrm>
          <a:prstGeom prst="rect">
            <a:avLst/>
          </a:prstGeom>
          <a:noFill/>
          <a:ln/>
        </p:spPr>
        <p:txBody>
          <a:bodyPr wrap="square" lIns="0" tIns="0" rIns="0" bIns="0" rtlCol="0" anchor="ctr"/>
          <a:lstStyle/>
          <a:p>
            <a:pPr marL="0" indent="0" algn="l">
              <a:buNone/>
            </a:pPr>
            <a:r>
              <a:rPr lang="en-US" sz="1100" b="1" dirty="0">
                <a:solidFill>
                  <a:srgbClr val="FFFFFF"/>
                </a:solidFill>
                <a:latin typeface="Calibri" pitchFamily="34" charset="0"/>
                <a:ea typeface="Calibri" pitchFamily="34" charset="-122"/>
                <a:cs typeface="Calibri" pitchFamily="34" charset="-120"/>
              </a:rPr>
              <a:t>RCA Accuracy</a:t>
            </a:r>
            <a:endParaRPr lang="en-US" sz="1100" dirty="0"/>
          </a:p>
        </p:txBody>
      </p:sp>
      <p:sp>
        <p:nvSpPr>
          <p:cNvPr id="20" name="Text 14"/>
          <p:cNvSpPr/>
          <p:nvPr/>
        </p:nvSpPr>
        <p:spPr>
          <a:xfrm>
            <a:off x="1051560" y="3630168"/>
            <a:ext cx="3108960" cy="228600"/>
          </a:xfrm>
          <a:prstGeom prst="rect">
            <a:avLst/>
          </a:prstGeom>
          <a:noFill/>
          <a:ln/>
        </p:spPr>
        <p:txBody>
          <a:bodyPr wrap="square" lIns="0" tIns="0" rIns="0" bIns="0" rtlCol="0" anchor="ctr"/>
          <a:lstStyle/>
          <a:p>
            <a:pPr marL="0" indent="0" algn="l">
              <a:buNone/>
            </a:pPr>
            <a:r>
              <a:rPr lang="en-US" sz="900" dirty="0">
                <a:solidFill>
                  <a:srgbClr val="999999"/>
                </a:solidFill>
                <a:latin typeface="Calibri" pitchFamily="34" charset="0"/>
                <a:ea typeface="Calibri" pitchFamily="34" charset="-122"/>
                <a:cs typeface="Calibri" pitchFamily="34" charset="-120"/>
              </a:rPr>
              <a:t>Correct root cause identification rate</a:t>
            </a:r>
            <a:endParaRPr lang="en-US" sz="900" dirty="0"/>
          </a:p>
        </p:txBody>
      </p:sp>
      <p:sp>
        <p:nvSpPr>
          <p:cNvPr id="21" name="Shape 15"/>
          <p:cNvSpPr/>
          <p:nvPr/>
        </p:nvSpPr>
        <p:spPr>
          <a:xfrm>
            <a:off x="4754880" y="1188720"/>
            <a:ext cx="3931920" cy="3017520"/>
          </a:xfrm>
          <a:prstGeom prst="rect">
            <a:avLst/>
          </a:prstGeom>
          <a:solidFill>
            <a:srgbClr val="242424"/>
          </a:solidFill>
          <a:ln w="12700">
            <a:solidFill>
              <a:srgbClr val="333333"/>
            </a:solidFill>
            <a:prstDash val="solid"/>
          </a:ln>
        </p:spPr>
        <p:txBody>
          <a:bodyPr/>
          <a:lstStyle/>
          <a:p>
            <a:endParaRPr lang="en-US"/>
          </a:p>
        </p:txBody>
      </p:sp>
      <p:sp>
        <p:nvSpPr>
          <p:cNvPr id="22" name="Shape 16"/>
          <p:cNvSpPr/>
          <p:nvPr/>
        </p:nvSpPr>
        <p:spPr>
          <a:xfrm>
            <a:off x="4754880" y="1188720"/>
            <a:ext cx="3931920" cy="36576"/>
          </a:xfrm>
          <a:prstGeom prst="rect">
            <a:avLst/>
          </a:prstGeom>
          <a:solidFill>
            <a:srgbClr val="1ABC9C"/>
          </a:solidFill>
          <a:ln/>
        </p:spPr>
        <p:txBody>
          <a:bodyPr/>
          <a:lstStyle/>
          <a:p>
            <a:endParaRPr lang="en-US"/>
          </a:p>
        </p:txBody>
      </p:sp>
      <p:sp>
        <p:nvSpPr>
          <p:cNvPr id="23" name="Text 17"/>
          <p:cNvSpPr/>
          <p:nvPr/>
        </p:nvSpPr>
        <p:spPr>
          <a:xfrm>
            <a:off x="4937760" y="1325880"/>
            <a:ext cx="3566160" cy="320040"/>
          </a:xfrm>
          <a:prstGeom prst="rect">
            <a:avLst/>
          </a:prstGeom>
          <a:noFill/>
          <a:ln/>
        </p:spPr>
        <p:txBody>
          <a:bodyPr wrap="square" lIns="0" tIns="0" rIns="0" bIns="0" rtlCol="0" anchor="ctr"/>
          <a:lstStyle/>
          <a:p>
            <a:pPr marL="0" indent="0" algn="l">
              <a:buNone/>
            </a:pPr>
            <a:r>
              <a:rPr lang="en-US" sz="1600" b="1" dirty="0">
                <a:solidFill>
                  <a:srgbClr val="1ABC9C"/>
                </a:solidFill>
                <a:latin typeface="Trebuchet MS" pitchFamily="34" charset="0"/>
                <a:ea typeface="Trebuchet MS" pitchFamily="34" charset="-122"/>
                <a:cs typeface="Trebuchet MS" pitchFamily="34" charset="-120"/>
              </a:rPr>
              <a:t>Productivity</a:t>
            </a:r>
            <a:endParaRPr lang="en-US" sz="1600" dirty="0"/>
          </a:p>
        </p:txBody>
      </p:sp>
      <p:pic>
        <p:nvPicPr>
          <p:cNvPr id="24" name="Image 4" descr="preencoded.png"/>
          <p:cNvPicPr>
            <a:picLocks noChangeAspect="1"/>
          </p:cNvPicPr>
          <p:nvPr/>
        </p:nvPicPr>
        <p:blipFill>
          <a:blip r:embed="rId7"/>
          <a:stretch>
            <a:fillRect/>
          </a:stretch>
        </p:blipFill>
        <p:spPr>
          <a:xfrm>
            <a:off x="4983480" y="1828800"/>
            <a:ext cx="228600" cy="228600"/>
          </a:xfrm>
          <a:prstGeom prst="rect">
            <a:avLst/>
          </a:prstGeom>
        </p:spPr>
      </p:pic>
      <p:sp>
        <p:nvSpPr>
          <p:cNvPr id="25" name="Text 18"/>
          <p:cNvSpPr/>
          <p:nvPr/>
        </p:nvSpPr>
        <p:spPr>
          <a:xfrm>
            <a:off x="5349240" y="1783080"/>
            <a:ext cx="3108960" cy="201168"/>
          </a:xfrm>
          <a:prstGeom prst="rect">
            <a:avLst/>
          </a:prstGeom>
          <a:noFill/>
          <a:ln/>
        </p:spPr>
        <p:txBody>
          <a:bodyPr wrap="square" lIns="0" tIns="0" rIns="0" bIns="0" rtlCol="0" anchor="ctr"/>
          <a:lstStyle/>
          <a:p>
            <a:pPr marL="0" indent="0" algn="l">
              <a:buNone/>
            </a:pPr>
            <a:r>
              <a:rPr lang="en-US" sz="1100" b="1" dirty="0">
                <a:solidFill>
                  <a:srgbClr val="FFFFFF"/>
                </a:solidFill>
                <a:latin typeface="Calibri" pitchFamily="34" charset="0"/>
                <a:ea typeface="Calibri" pitchFamily="34" charset="-122"/>
                <a:cs typeface="Calibri" pitchFamily="34" charset="-120"/>
              </a:rPr>
              <a:t>Time Saved per Incident</a:t>
            </a:r>
            <a:endParaRPr lang="en-US" sz="1100" dirty="0"/>
          </a:p>
        </p:txBody>
      </p:sp>
      <p:sp>
        <p:nvSpPr>
          <p:cNvPr id="26" name="Text 19"/>
          <p:cNvSpPr/>
          <p:nvPr/>
        </p:nvSpPr>
        <p:spPr>
          <a:xfrm>
            <a:off x="5349240" y="1984248"/>
            <a:ext cx="3108960" cy="228600"/>
          </a:xfrm>
          <a:prstGeom prst="rect">
            <a:avLst/>
          </a:prstGeom>
          <a:noFill/>
          <a:ln/>
        </p:spPr>
        <p:txBody>
          <a:bodyPr wrap="square" lIns="0" tIns="0" rIns="0" bIns="0" rtlCol="0" anchor="ctr"/>
          <a:lstStyle/>
          <a:p>
            <a:pPr marL="0" indent="0" algn="l">
              <a:buNone/>
            </a:pPr>
            <a:r>
              <a:rPr lang="en-US" sz="900" dirty="0">
                <a:solidFill>
                  <a:srgbClr val="999999"/>
                </a:solidFill>
                <a:latin typeface="Calibri" pitchFamily="34" charset="0"/>
                <a:ea typeface="Calibri" pitchFamily="34" charset="-122"/>
                <a:cs typeface="Calibri" pitchFamily="34" charset="-120"/>
              </a:rPr>
              <a:t>Hours saved on log/metric digging &amp; RCA writing</a:t>
            </a:r>
            <a:endParaRPr lang="en-US" sz="900" dirty="0"/>
          </a:p>
        </p:txBody>
      </p:sp>
      <p:pic>
        <p:nvPicPr>
          <p:cNvPr id="27" name="Image 5" descr="preencoded.png"/>
          <p:cNvPicPr>
            <a:picLocks noChangeAspect="1"/>
          </p:cNvPicPr>
          <p:nvPr/>
        </p:nvPicPr>
        <p:blipFill>
          <a:blip r:embed="rId8"/>
          <a:stretch>
            <a:fillRect/>
          </a:stretch>
        </p:blipFill>
        <p:spPr>
          <a:xfrm>
            <a:off x="4983480" y="2377440"/>
            <a:ext cx="228600" cy="228600"/>
          </a:xfrm>
          <a:prstGeom prst="rect">
            <a:avLst/>
          </a:prstGeom>
        </p:spPr>
      </p:pic>
      <p:sp>
        <p:nvSpPr>
          <p:cNvPr id="28" name="Text 20"/>
          <p:cNvSpPr/>
          <p:nvPr/>
        </p:nvSpPr>
        <p:spPr>
          <a:xfrm>
            <a:off x="5349240" y="2331720"/>
            <a:ext cx="3108960" cy="201168"/>
          </a:xfrm>
          <a:prstGeom prst="rect">
            <a:avLst/>
          </a:prstGeom>
          <a:noFill/>
          <a:ln/>
        </p:spPr>
        <p:txBody>
          <a:bodyPr wrap="square" lIns="0" tIns="0" rIns="0" bIns="0" rtlCol="0" anchor="ctr"/>
          <a:lstStyle/>
          <a:p>
            <a:pPr marL="0" indent="0" algn="l">
              <a:buNone/>
            </a:pPr>
            <a:r>
              <a:rPr lang="en-US" sz="1100" b="1" dirty="0">
                <a:solidFill>
                  <a:srgbClr val="FFFFFF"/>
                </a:solidFill>
                <a:latin typeface="Calibri" pitchFamily="34" charset="0"/>
                <a:ea typeface="Calibri" pitchFamily="34" charset="-122"/>
                <a:cs typeface="Calibri" pitchFamily="34" charset="-120"/>
              </a:rPr>
              <a:t>On-Call Fatigue</a:t>
            </a:r>
            <a:endParaRPr lang="en-US" sz="1100" dirty="0"/>
          </a:p>
        </p:txBody>
      </p:sp>
      <p:sp>
        <p:nvSpPr>
          <p:cNvPr id="29" name="Text 21"/>
          <p:cNvSpPr/>
          <p:nvPr/>
        </p:nvSpPr>
        <p:spPr>
          <a:xfrm>
            <a:off x="5349240" y="2532888"/>
            <a:ext cx="3108960" cy="228600"/>
          </a:xfrm>
          <a:prstGeom prst="rect">
            <a:avLst/>
          </a:prstGeom>
          <a:noFill/>
          <a:ln/>
        </p:spPr>
        <p:txBody>
          <a:bodyPr wrap="square" lIns="0" tIns="0" rIns="0" bIns="0" rtlCol="0" anchor="ctr"/>
          <a:lstStyle/>
          <a:p>
            <a:pPr marL="0" indent="0" algn="l">
              <a:buNone/>
            </a:pPr>
            <a:r>
              <a:rPr lang="en-US" sz="900" dirty="0">
                <a:solidFill>
                  <a:srgbClr val="999999"/>
                </a:solidFill>
                <a:latin typeface="Calibri" pitchFamily="34" charset="0"/>
                <a:ea typeface="Calibri" pitchFamily="34" charset="-122"/>
                <a:cs typeface="Calibri" pitchFamily="34" charset="-120"/>
              </a:rPr>
              <a:t>SRE satisfaction scores &amp; fatigue indicators</a:t>
            </a:r>
            <a:endParaRPr lang="en-US" sz="900" dirty="0"/>
          </a:p>
        </p:txBody>
      </p:sp>
      <p:pic>
        <p:nvPicPr>
          <p:cNvPr id="30" name="Image 6" descr="preencoded.png"/>
          <p:cNvPicPr>
            <a:picLocks noChangeAspect="1"/>
          </p:cNvPicPr>
          <p:nvPr/>
        </p:nvPicPr>
        <p:blipFill>
          <a:blip r:embed="rId9"/>
          <a:stretch>
            <a:fillRect/>
          </a:stretch>
        </p:blipFill>
        <p:spPr>
          <a:xfrm>
            <a:off x="4983480" y="2926080"/>
            <a:ext cx="228600" cy="228600"/>
          </a:xfrm>
          <a:prstGeom prst="rect">
            <a:avLst/>
          </a:prstGeom>
        </p:spPr>
      </p:pic>
      <p:sp>
        <p:nvSpPr>
          <p:cNvPr id="31" name="Text 22"/>
          <p:cNvSpPr/>
          <p:nvPr/>
        </p:nvSpPr>
        <p:spPr>
          <a:xfrm>
            <a:off x="5349240" y="2880360"/>
            <a:ext cx="3108960" cy="201168"/>
          </a:xfrm>
          <a:prstGeom prst="rect">
            <a:avLst/>
          </a:prstGeom>
          <a:noFill/>
          <a:ln/>
        </p:spPr>
        <p:txBody>
          <a:bodyPr wrap="square" lIns="0" tIns="0" rIns="0" bIns="0" rtlCol="0" anchor="ctr"/>
          <a:lstStyle/>
          <a:p>
            <a:pPr marL="0" indent="0" algn="l">
              <a:buNone/>
            </a:pPr>
            <a:r>
              <a:rPr lang="en-US" sz="1100" b="1" dirty="0">
                <a:solidFill>
                  <a:srgbClr val="FFFFFF"/>
                </a:solidFill>
                <a:latin typeface="Calibri" pitchFamily="34" charset="0"/>
                <a:ea typeface="Calibri" pitchFamily="34" charset="-122"/>
                <a:cs typeface="Calibri" pitchFamily="34" charset="-120"/>
              </a:rPr>
              <a:t>Faster Onboarding</a:t>
            </a:r>
            <a:endParaRPr lang="en-US" sz="1100" dirty="0"/>
          </a:p>
        </p:txBody>
      </p:sp>
      <p:sp>
        <p:nvSpPr>
          <p:cNvPr id="32" name="Text 23"/>
          <p:cNvSpPr/>
          <p:nvPr/>
        </p:nvSpPr>
        <p:spPr>
          <a:xfrm>
            <a:off x="5349240" y="3081528"/>
            <a:ext cx="3108960" cy="228600"/>
          </a:xfrm>
          <a:prstGeom prst="rect">
            <a:avLst/>
          </a:prstGeom>
          <a:noFill/>
          <a:ln/>
        </p:spPr>
        <p:txBody>
          <a:bodyPr wrap="square" lIns="0" tIns="0" rIns="0" bIns="0" rtlCol="0" anchor="ctr"/>
          <a:lstStyle/>
          <a:p>
            <a:pPr marL="0" indent="0" algn="l">
              <a:buNone/>
            </a:pPr>
            <a:r>
              <a:rPr lang="en-US" sz="900" dirty="0">
                <a:solidFill>
                  <a:srgbClr val="999999"/>
                </a:solidFill>
                <a:latin typeface="Calibri" pitchFamily="34" charset="0"/>
                <a:ea typeface="Calibri" pitchFamily="34" charset="-122"/>
                <a:cs typeface="Calibri" pitchFamily="34" charset="-120"/>
              </a:rPr>
              <a:t>New SRE engineers ramp via AI-assisted knowledge</a:t>
            </a:r>
            <a:endParaRPr lang="en-US" sz="900" dirty="0"/>
          </a:p>
        </p:txBody>
      </p:sp>
      <p:pic>
        <p:nvPicPr>
          <p:cNvPr id="33" name="Image 7" descr="preencoded.png"/>
          <p:cNvPicPr>
            <a:picLocks noChangeAspect="1"/>
          </p:cNvPicPr>
          <p:nvPr/>
        </p:nvPicPr>
        <p:blipFill>
          <a:blip r:embed="rId10"/>
          <a:stretch>
            <a:fillRect/>
          </a:stretch>
        </p:blipFill>
        <p:spPr>
          <a:xfrm>
            <a:off x="4983480" y="3474720"/>
            <a:ext cx="228600" cy="228600"/>
          </a:xfrm>
          <a:prstGeom prst="rect">
            <a:avLst/>
          </a:prstGeom>
        </p:spPr>
      </p:pic>
      <p:sp>
        <p:nvSpPr>
          <p:cNvPr id="34" name="Text 24"/>
          <p:cNvSpPr/>
          <p:nvPr/>
        </p:nvSpPr>
        <p:spPr>
          <a:xfrm>
            <a:off x="5349240" y="3429000"/>
            <a:ext cx="3108960" cy="201168"/>
          </a:xfrm>
          <a:prstGeom prst="rect">
            <a:avLst/>
          </a:prstGeom>
          <a:noFill/>
          <a:ln/>
        </p:spPr>
        <p:txBody>
          <a:bodyPr wrap="square" lIns="0" tIns="0" rIns="0" bIns="0" rtlCol="0" anchor="ctr"/>
          <a:lstStyle/>
          <a:p>
            <a:pPr marL="0" indent="0" algn="l">
              <a:buNone/>
            </a:pPr>
            <a:r>
              <a:rPr lang="en-US" sz="1100" b="1" dirty="0">
                <a:solidFill>
                  <a:srgbClr val="FFFFFF"/>
                </a:solidFill>
                <a:latin typeface="Calibri" pitchFamily="34" charset="0"/>
                <a:ea typeface="Calibri" pitchFamily="34" charset="-122"/>
                <a:cs typeface="Calibri" pitchFamily="34" charset="-120"/>
              </a:rPr>
              <a:t>Knowledge Capture</a:t>
            </a:r>
            <a:endParaRPr lang="en-US" sz="1100" dirty="0"/>
          </a:p>
        </p:txBody>
      </p:sp>
      <p:sp>
        <p:nvSpPr>
          <p:cNvPr id="35" name="Text 25"/>
          <p:cNvSpPr/>
          <p:nvPr/>
        </p:nvSpPr>
        <p:spPr>
          <a:xfrm>
            <a:off x="5349240" y="3630168"/>
            <a:ext cx="3108960" cy="228600"/>
          </a:xfrm>
          <a:prstGeom prst="rect">
            <a:avLst/>
          </a:prstGeom>
          <a:noFill/>
          <a:ln/>
        </p:spPr>
        <p:txBody>
          <a:bodyPr wrap="square" lIns="0" tIns="0" rIns="0" bIns="0" rtlCol="0" anchor="ctr"/>
          <a:lstStyle/>
          <a:p>
            <a:pPr marL="0" indent="0" algn="l">
              <a:buNone/>
            </a:pPr>
            <a:r>
              <a:rPr lang="en-US" sz="900" dirty="0">
                <a:solidFill>
                  <a:srgbClr val="999999"/>
                </a:solidFill>
                <a:latin typeface="Calibri" pitchFamily="34" charset="0"/>
                <a:ea typeface="Calibri" pitchFamily="34" charset="-122"/>
                <a:cs typeface="Calibri" pitchFamily="34" charset="-120"/>
              </a:rPr>
              <a:t>Tribal knowledge encoded into system context</a:t>
            </a:r>
            <a:endParaRPr lang="en-US" sz="9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4">
    <p:bg>
      <p:bgPr>
        <a:solidFill>
          <a:schemeClr val="bg1"/>
        </a:solidFill>
        <a:effectLst/>
      </p:bgPr>
    </p:bg>
    <p:spTree>
      <p:nvGrpSpPr>
        <p:cNvPr id="1" name=""/>
        <p:cNvGrpSpPr/>
        <p:nvPr/>
      </p:nvGrpSpPr>
      <p:grpSpPr>
        <a:xfrm>
          <a:off x="0" y="0"/>
          <a:ext cx="0" cy="0"/>
          <a:chOff x="0" y="0"/>
          <a:chExt cx="0" cy="0"/>
        </a:xfrm>
      </p:grpSpPr>
      <p:sp>
        <p:nvSpPr>
          <p:cNvPr id="2" name="Text 0"/>
          <p:cNvSpPr/>
          <p:nvPr/>
        </p:nvSpPr>
        <p:spPr>
          <a:xfrm>
            <a:off x="7589520" y="137160"/>
            <a:ext cx="1371600" cy="274320"/>
          </a:xfrm>
          <a:prstGeom prst="rect">
            <a:avLst/>
          </a:prstGeom>
          <a:noFill/>
          <a:ln/>
        </p:spPr>
        <p:txBody>
          <a:bodyPr wrap="square" lIns="0" tIns="0" rIns="0" bIns="0" rtlCol="0" anchor="ctr"/>
          <a:lstStyle/>
          <a:p>
            <a:pPr marL="0" indent="0" algn="r">
              <a:buNone/>
            </a:pPr>
            <a:r>
              <a:rPr lang="en-US" sz="1200" b="1" kern="0" spc="300" dirty="0">
                <a:solidFill>
                  <a:srgbClr val="3CB371"/>
                </a:solidFill>
                <a:latin typeface="Trebuchet MS" pitchFamily="34" charset="0"/>
                <a:ea typeface="Trebuchet MS" pitchFamily="34" charset="-122"/>
                <a:cs typeface="Trebuchet MS" pitchFamily="34" charset="-120"/>
              </a:rPr>
              <a:t>SECTIGO</a:t>
            </a:r>
            <a:endParaRPr lang="en-US" sz="1200" dirty="0"/>
          </a:p>
        </p:txBody>
      </p:sp>
      <p:sp>
        <p:nvSpPr>
          <p:cNvPr id="3" name="Text 1"/>
          <p:cNvSpPr/>
          <p:nvPr/>
        </p:nvSpPr>
        <p:spPr>
          <a:xfrm>
            <a:off x="457200" y="1097280"/>
            <a:ext cx="1828800" cy="1371600"/>
          </a:xfrm>
          <a:prstGeom prst="rect">
            <a:avLst/>
          </a:prstGeom>
          <a:noFill/>
          <a:ln/>
        </p:spPr>
        <p:txBody>
          <a:bodyPr wrap="square" lIns="0" tIns="0" rIns="0" bIns="0" rtlCol="0" anchor="ctr"/>
          <a:lstStyle/>
          <a:p>
            <a:pPr marL="0" indent="0" algn="l">
              <a:buNone/>
            </a:pPr>
            <a:r>
              <a:rPr lang="en-US" sz="7200" b="1" dirty="0">
                <a:solidFill>
                  <a:srgbClr val="E8751A"/>
                </a:solidFill>
                <a:latin typeface="Georgia" pitchFamily="34" charset="0"/>
                <a:ea typeface="Georgia" pitchFamily="34" charset="-122"/>
                <a:cs typeface="Georgia" pitchFamily="34" charset="-120"/>
              </a:rPr>
              <a:t>07</a:t>
            </a:r>
            <a:endParaRPr lang="en-US" sz="7200" dirty="0"/>
          </a:p>
        </p:txBody>
      </p:sp>
      <p:sp>
        <p:nvSpPr>
          <p:cNvPr id="4" name="Shape 2"/>
          <p:cNvSpPr/>
          <p:nvPr/>
        </p:nvSpPr>
        <p:spPr>
          <a:xfrm>
            <a:off x="457200" y="2560320"/>
            <a:ext cx="2743200" cy="0"/>
          </a:xfrm>
          <a:prstGeom prst="line">
            <a:avLst/>
          </a:prstGeom>
          <a:noFill/>
          <a:ln w="38100">
            <a:solidFill>
              <a:srgbClr val="E8751A"/>
            </a:solidFill>
            <a:prstDash val="solid"/>
          </a:ln>
        </p:spPr>
        <p:txBody>
          <a:bodyPr/>
          <a:lstStyle/>
          <a:p>
            <a:endParaRPr lang="en-US"/>
          </a:p>
        </p:txBody>
      </p:sp>
      <p:sp>
        <p:nvSpPr>
          <p:cNvPr id="5" name="Text 3"/>
          <p:cNvSpPr/>
          <p:nvPr/>
        </p:nvSpPr>
        <p:spPr>
          <a:xfrm>
            <a:off x="457200" y="2743200"/>
            <a:ext cx="8229600" cy="914400"/>
          </a:xfrm>
          <a:prstGeom prst="rect">
            <a:avLst/>
          </a:prstGeom>
          <a:noFill/>
          <a:ln/>
        </p:spPr>
        <p:txBody>
          <a:bodyPr wrap="square" lIns="0" tIns="0" rIns="0" bIns="0" rtlCol="0" anchor="ctr"/>
          <a:lstStyle/>
          <a:p>
            <a:pPr marL="0" indent="0" algn="l">
              <a:buNone/>
            </a:pPr>
            <a:r>
              <a:rPr lang="en-US" sz="3600" b="1" dirty="0">
                <a:latin typeface="Georgia" pitchFamily="34" charset="0"/>
                <a:ea typeface="Georgia" pitchFamily="34" charset="-122"/>
                <a:cs typeface="Georgia" pitchFamily="34" charset="-120"/>
              </a:rPr>
              <a:t>What's Next</a:t>
            </a:r>
            <a:endParaRPr lang="en-US" sz="3600" dirty="0"/>
          </a:p>
        </p:txBody>
      </p:sp>
      <p:sp>
        <p:nvSpPr>
          <p:cNvPr id="6" name="Text 4"/>
          <p:cNvSpPr/>
          <p:nvPr/>
        </p:nvSpPr>
        <p:spPr>
          <a:xfrm>
            <a:off x="457200" y="3566160"/>
            <a:ext cx="8229600" cy="457200"/>
          </a:xfrm>
          <a:prstGeom prst="rect">
            <a:avLst/>
          </a:prstGeom>
          <a:noFill/>
          <a:ln/>
        </p:spPr>
        <p:txBody>
          <a:bodyPr wrap="square" lIns="0" tIns="0" rIns="0" bIns="0" rtlCol="0" anchor="ctr"/>
          <a:lstStyle/>
          <a:p>
            <a:pPr marL="0" indent="0" algn="l">
              <a:buNone/>
            </a:pPr>
            <a:r>
              <a:rPr lang="en-US" sz="1400" dirty="0">
                <a:solidFill>
                  <a:srgbClr val="999999"/>
                </a:solidFill>
                <a:latin typeface="Calibri" pitchFamily="34" charset="0"/>
                <a:ea typeface="Calibri" pitchFamily="34" charset="-122"/>
                <a:cs typeface="Calibri" pitchFamily="34" charset="-120"/>
              </a:rPr>
              <a:t>Roadmap, phased adoption, and cloud strategy</a:t>
            </a:r>
            <a:endParaRPr lang="en-US" sz="1400" dirty="0"/>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589520" y="137160"/>
            <a:ext cx="1371600" cy="274320"/>
          </a:xfrm>
          <a:prstGeom prst="rect">
            <a:avLst/>
          </a:prstGeom>
          <a:noFill/>
        </p:spPr>
        <p:txBody>
          <a:bodyPr wrap="none">
            <a:spAutoFit/>
          </a:bodyPr>
          <a:lstStyle/>
          <a:p>
            <a:r>
              <a:rPr sz="1200" b="1">
                <a:solidFill>
                  <a:srgbClr val="3CB371"/>
                </a:solidFill>
                <a:latin typeface="Trebuchet MS"/>
              </a:rPr>
              <a:t>SECTIGO</a:t>
            </a:r>
          </a:p>
        </p:txBody>
      </p:sp>
      <p:sp>
        <p:nvSpPr>
          <p:cNvPr id="3" name="Rectangle 2"/>
          <p:cNvSpPr/>
          <p:nvPr/>
        </p:nvSpPr>
        <p:spPr>
          <a:xfrm>
            <a:off x="457200" y="182880"/>
            <a:ext cx="1554480" cy="256032"/>
          </a:xfrm>
          <a:prstGeom prst="rect">
            <a:avLst/>
          </a:prstGeom>
          <a:solidFill>
            <a:srgbClr val="1ABC9C"/>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1000" b="1">
                <a:solidFill>
                  <a:srgbClr val="1A1A1A"/>
                </a:solidFill>
                <a:latin typeface="Trebuchet MS"/>
              </a:rPr>
              <a:t>WHAT'S NEXT</a:t>
            </a:r>
          </a:p>
        </p:txBody>
      </p:sp>
      <p:sp>
        <p:nvSpPr>
          <p:cNvPr id="4" name="TextBox 3"/>
          <p:cNvSpPr txBox="1"/>
          <p:nvPr/>
        </p:nvSpPr>
        <p:spPr>
          <a:xfrm>
            <a:off x="457200" y="594360"/>
            <a:ext cx="8229600" cy="411480"/>
          </a:xfrm>
          <a:prstGeom prst="rect">
            <a:avLst/>
          </a:prstGeom>
          <a:noFill/>
        </p:spPr>
        <p:txBody>
          <a:bodyPr wrap="square" anchor="t">
            <a:spAutoFit/>
          </a:bodyPr>
          <a:lstStyle/>
          <a:p>
            <a:pPr algn="l"/>
            <a:r>
              <a:rPr sz="2000" b="1" i="0">
                <a:solidFill>
                  <a:srgbClr val="131313"/>
                </a:solidFill>
                <a:latin typeface="Calibri"/>
              </a:rPr>
              <a:t>Where This Goes Next</a:t>
            </a:r>
          </a:p>
        </p:txBody>
      </p:sp>
      <p:sp>
        <p:nvSpPr>
          <p:cNvPr id="5" name="Rectangle 4"/>
          <p:cNvSpPr/>
          <p:nvPr/>
        </p:nvSpPr>
        <p:spPr>
          <a:xfrm>
            <a:off x="457200" y="1371600"/>
            <a:ext cx="2651760" cy="2103120"/>
          </a:xfrm>
          <a:prstGeom prst="rect">
            <a:avLst/>
          </a:prstGeom>
          <a:solidFill>
            <a:srgbClr val="2424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457200" y="1371600"/>
            <a:ext cx="2651760" cy="45720"/>
          </a:xfrm>
          <a:prstGeom prst="rect">
            <a:avLst/>
          </a:prstGeom>
          <a:solidFill>
            <a:srgbClr val="1ABC9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94360" y="1508760"/>
            <a:ext cx="2377440" cy="320040"/>
          </a:xfrm>
          <a:prstGeom prst="rect">
            <a:avLst/>
          </a:prstGeom>
          <a:noFill/>
        </p:spPr>
        <p:txBody>
          <a:bodyPr wrap="square" anchor="t">
            <a:spAutoFit/>
          </a:bodyPr>
          <a:lstStyle/>
          <a:p>
            <a:pPr algn="l"/>
            <a:r>
              <a:rPr sz="1200" b="1" i="0">
                <a:solidFill>
                  <a:srgbClr val="1ABC9C"/>
                </a:solidFill>
                <a:latin typeface="Trebuchet MS"/>
              </a:rPr>
              <a:t>TODAY</a:t>
            </a:r>
          </a:p>
        </p:txBody>
      </p:sp>
      <p:sp>
        <p:nvSpPr>
          <p:cNvPr id="8" name="TextBox 7"/>
          <p:cNvSpPr txBox="1"/>
          <p:nvPr/>
        </p:nvSpPr>
        <p:spPr>
          <a:xfrm>
            <a:off x="594360" y="1874519"/>
            <a:ext cx="2377440" cy="365760"/>
          </a:xfrm>
          <a:prstGeom prst="rect">
            <a:avLst/>
          </a:prstGeom>
          <a:noFill/>
        </p:spPr>
        <p:txBody>
          <a:bodyPr wrap="square" anchor="t">
            <a:spAutoFit/>
          </a:bodyPr>
          <a:lstStyle/>
          <a:p>
            <a:pPr algn="l"/>
            <a:r>
              <a:rPr sz="950" b="0" i="0">
                <a:solidFill>
                  <a:srgbClr val="CCCCCC"/>
                </a:solidFill>
                <a:latin typeface="Calibri"/>
              </a:rPr>
              <a:t>•  Kubernetes investigation</a:t>
            </a:r>
          </a:p>
        </p:txBody>
      </p:sp>
      <p:sp>
        <p:nvSpPr>
          <p:cNvPr id="9" name="TextBox 8"/>
          <p:cNvSpPr txBox="1"/>
          <p:nvPr/>
        </p:nvSpPr>
        <p:spPr>
          <a:xfrm>
            <a:off x="594360" y="2258568"/>
            <a:ext cx="2377440" cy="365760"/>
          </a:xfrm>
          <a:prstGeom prst="rect">
            <a:avLst/>
          </a:prstGeom>
          <a:noFill/>
        </p:spPr>
        <p:txBody>
          <a:bodyPr wrap="square" anchor="t">
            <a:spAutoFit/>
          </a:bodyPr>
          <a:lstStyle/>
          <a:p>
            <a:pPr algn="l"/>
            <a:r>
              <a:rPr sz="950" b="0" i="0">
                <a:solidFill>
                  <a:srgbClr val="CCCCCC"/>
                </a:solidFill>
                <a:latin typeface="Calibri"/>
              </a:rPr>
              <a:t>•  Multi-cluster support</a:t>
            </a:r>
          </a:p>
        </p:txBody>
      </p:sp>
      <p:sp>
        <p:nvSpPr>
          <p:cNvPr id="10" name="TextBox 9"/>
          <p:cNvSpPr txBox="1"/>
          <p:nvPr/>
        </p:nvSpPr>
        <p:spPr>
          <a:xfrm>
            <a:off x="594360" y="2642615"/>
            <a:ext cx="2377440" cy="365760"/>
          </a:xfrm>
          <a:prstGeom prst="rect">
            <a:avLst/>
          </a:prstGeom>
          <a:noFill/>
        </p:spPr>
        <p:txBody>
          <a:bodyPr wrap="square" anchor="t">
            <a:spAutoFit/>
          </a:bodyPr>
          <a:lstStyle/>
          <a:p>
            <a:pPr algn="l"/>
            <a:r>
              <a:rPr sz="950" b="0" i="0">
                <a:solidFill>
                  <a:srgbClr val="CCCCCC"/>
                </a:solidFill>
                <a:latin typeface="Calibri"/>
              </a:rPr>
              <a:t>•  Evidence-backed RCA</a:t>
            </a:r>
          </a:p>
        </p:txBody>
      </p:sp>
      <p:sp>
        <p:nvSpPr>
          <p:cNvPr id="11" name="TextBox 10"/>
          <p:cNvSpPr txBox="1"/>
          <p:nvPr/>
        </p:nvSpPr>
        <p:spPr>
          <a:xfrm>
            <a:off x="594360" y="3026663"/>
            <a:ext cx="2377440" cy="365760"/>
          </a:xfrm>
          <a:prstGeom prst="rect">
            <a:avLst/>
          </a:prstGeom>
          <a:noFill/>
        </p:spPr>
        <p:txBody>
          <a:bodyPr wrap="square" anchor="t">
            <a:spAutoFit/>
          </a:bodyPr>
          <a:lstStyle/>
          <a:p>
            <a:pPr algn="l"/>
            <a:r>
              <a:rPr sz="950" b="0" i="0">
                <a:solidFill>
                  <a:srgbClr val="CCCCCC"/>
                </a:solidFill>
                <a:latin typeface="Calibri"/>
              </a:rPr>
              <a:t>•  Human-controlled actions</a:t>
            </a:r>
          </a:p>
        </p:txBody>
      </p:sp>
      <p:sp>
        <p:nvSpPr>
          <p:cNvPr id="12" name="Rectangle 11"/>
          <p:cNvSpPr/>
          <p:nvPr/>
        </p:nvSpPr>
        <p:spPr>
          <a:xfrm>
            <a:off x="3246120" y="1371600"/>
            <a:ext cx="2651760" cy="2103120"/>
          </a:xfrm>
          <a:prstGeom prst="rect">
            <a:avLst/>
          </a:prstGeom>
          <a:solidFill>
            <a:srgbClr val="2424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3246120" y="1371600"/>
            <a:ext cx="2651760" cy="45720"/>
          </a:xfrm>
          <a:prstGeom prst="rect">
            <a:avLst/>
          </a:prstGeom>
          <a:solidFill>
            <a:srgbClr val="F4C5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383279" y="1508760"/>
            <a:ext cx="2377440" cy="320040"/>
          </a:xfrm>
          <a:prstGeom prst="rect">
            <a:avLst/>
          </a:prstGeom>
          <a:noFill/>
        </p:spPr>
        <p:txBody>
          <a:bodyPr wrap="square" anchor="t">
            <a:spAutoFit/>
          </a:bodyPr>
          <a:lstStyle/>
          <a:p>
            <a:pPr algn="l"/>
            <a:r>
              <a:rPr sz="1200" b="1" i="0">
                <a:solidFill>
                  <a:srgbClr val="F4C542"/>
                </a:solidFill>
                <a:latin typeface="Trebuchet MS"/>
              </a:rPr>
              <a:t>NEXT</a:t>
            </a:r>
          </a:p>
        </p:txBody>
      </p:sp>
      <p:sp>
        <p:nvSpPr>
          <p:cNvPr id="15" name="TextBox 14"/>
          <p:cNvSpPr txBox="1"/>
          <p:nvPr/>
        </p:nvSpPr>
        <p:spPr>
          <a:xfrm>
            <a:off x="3383279" y="1874519"/>
            <a:ext cx="2377440" cy="365760"/>
          </a:xfrm>
          <a:prstGeom prst="rect">
            <a:avLst/>
          </a:prstGeom>
          <a:noFill/>
        </p:spPr>
        <p:txBody>
          <a:bodyPr wrap="square" anchor="t">
            <a:spAutoFit/>
          </a:bodyPr>
          <a:lstStyle/>
          <a:p>
            <a:pPr algn="l"/>
            <a:r>
              <a:rPr sz="950" b="0" i="0">
                <a:solidFill>
                  <a:srgbClr val="CCCCCC"/>
                </a:solidFill>
                <a:latin typeface="Calibri"/>
              </a:rPr>
              <a:t>•  Fix the wrong-pod pattern found here</a:t>
            </a:r>
          </a:p>
        </p:txBody>
      </p:sp>
      <p:sp>
        <p:nvSpPr>
          <p:cNvPr id="16" name="TextBox 15"/>
          <p:cNvSpPr txBox="1"/>
          <p:nvPr/>
        </p:nvSpPr>
        <p:spPr>
          <a:xfrm>
            <a:off x="3383279" y="2258568"/>
            <a:ext cx="2377440" cy="365760"/>
          </a:xfrm>
          <a:prstGeom prst="rect">
            <a:avLst/>
          </a:prstGeom>
          <a:noFill/>
        </p:spPr>
        <p:txBody>
          <a:bodyPr wrap="square" anchor="t">
            <a:spAutoFit/>
          </a:bodyPr>
          <a:lstStyle/>
          <a:p>
            <a:pPr algn="l"/>
            <a:r>
              <a:rPr sz="950" b="0" i="0">
                <a:solidFill>
                  <a:srgbClr val="CCCCCC"/>
                </a:solidFill>
                <a:latin typeface="Calibri"/>
              </a:rPr>
              <a:t>•  PagerDuty-triggered investigations</a:t>
            </a:r>
          </a:p>
        </p:txBody>
      </p:sp>
      <p:sp>
        <p:nvSpPr>
          <p:cNvPr id="17" name="TextBox 16"/>
          <p:cNvSpPr txBox="1"/>
          <p:nvPr/>
        </p:nvSpPr>
        <p:spPr>
          <a:xfrm>
            <a:off x="3383279" y="2642615"/>
            <a:ext cx="2377440" cy="365760"/>
          </a:xfrm>
          <a:prstGeom prst="rect">
            <a:avLst/>
          </a:prstGeom>
          <a:noFill/>
        </p:spPr>
        <p:txBody>
          <a:bodyPr wrap="square" anchor="t">
            <a:spAutoFit/>
          </a:bodyPr>
          <a:lstStyle/>
          <a:p>
            <a:pPr algn="l"/>
            <a:r>
              <a:rPr sz="950" b="0" i="0">
                <a:solidFill>
                  <a:srgbClr val="CCCCCC"/>
                </a:solidFill>
                <a:latin typeface="Calibri"/>
              </a:rPr>
              <a:t>•  Non-GKE environments</a:t>
            </a:r>
          </a:p>
        </p:txBody>
      </p:sp>
      <p:sp>
        <p:nvSpPr>
          <p:cNvPr id="18" name="TextBox 17"/>
          <p:cNvSpPr txBox="1"/>
          <p:nvPr/>
        </p:nvSpPr>
        <p:spPr>
          <a:xfrm>
            <a:off x="3383279" y="3026663"/>
            <a:ext cx="2377440" cy="365760"/>
          </a:xfrm>
          <a:prstGeom prst="rect">
            <a:avLst/>
          </a:prstGeom>
          <a:noFill/>
        </p:spPr>
        <p:txBody>
          <a:bodyPr wrap="square" anchor="t">
            <a:spAutoFit/>
          </a:bodyPr>
          <a:lstStyle/>
          <a:p>
            <a:pPr algn="l"/>
            <a:r>
              <a:rPr sz="950" b="0" i="0">
                <a:solidFill>
                  <a:srgbClr val="CCCCCC"/>
                </a:solidFill>
                <a:latin typeface="Calibri"/>
              </a:rPr>
              <a:t>•  Golden-case evaluation, expanded</a:t>
            </a:r>
          </a:p>
        </p:txBody>
      </p:sp>
      <p:sp>
        <p:nvSpPr>
          <p:cNvPr id="19" name="Rectangle 18"/>
          <p:cNvSpPr/>
          <p:nvPr/>
        </p:nvSpPr>
        <p:spPr>
          <a:xfrm>
            <a:off x="6035040" y="1371600"/>
            <a:ext cx="2651760" cy="2103120"/>
          </a:xfrm>
          <a:prstGeom prst="rect">
            <a:avLst/>
          </a:prstGeom>
          <a:solidFill>
            <a:srgbClr val="2424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035040" y="1371600"/>
            <a:ext cx="2651760" cy="45720"/>
          </a:xfrm>
          <a:prstGeom prst="rect">
            <a:avLst/>
          </a:prstGeom>
          <a:solidFill>
            <a:srgbClr val="E875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172200" y="1508760"/>
            <a:ext cx="2377440" cy="320040"/>
          </a:xfrm>
          <a:prstGeom prst="rect">
            <a:avLst/>
          </a:prstGeom>
          <a:noFill/>
        </p:spPr>
        <p:txBody>
          <a:bodyPr wrap="square" anchor="t">
            <a:spAutoFit/>
          </a:bodyPr>
          <a:lstStyle/>
          <a:p>
            <a:pPr algn="l"/>
            <a:r>
              <a:rPr sz="1200" b="1" i="0">
                <a:solidFill>
                  <a:srgbClr val="E8751A"/>
                </a:solidFill>
                <a:latin typeface="Trebuchet MS"/>
              </a:rPr>
              <a:t>SCALE</a:t>
            </a:r>
          </a:p>
        </p:txBody>
      </p:sp>
      <p:sp>
        <p:nvSpPr>
          <p:cNvPr id="22" name="TextBox 21"/>
          <p:cNvSpPr txBox="1"/>
          <p:nvPr/>
        </p:nvSpPr>
        <p:spPr>
          <a:xfrm>
            <a:off x="6172200" y="1874519"/>
            <a:ext cx="2377440" cy="365760"/>
          </a:xfrm>
          <a:prstGeom prst="rect">
            <a:avLst/>
          </a:prstGeom>
          <a:noFill/>
        </p:spPr>
        <p:txBody>
          <a:bodyPr wrap="square" anchor="t">
            <a:spAutoFit/>
          </a:bodyPr>
          <a:lstStyle/>
          <a:p>
            <a:pPr algn="l"/>
            <a:r>
              <a:rPr sz="950" b="0" i="0">
                <a:solidFill>
                  <a:srgbClr val="CCCCCC"/>
                </a:solidFill>
                <a:latin typeface="Calibri"/>
              </a:rPr>
              <a:t>•  Additional data sources</a:t>
            </a:r>
          </a:p>
        </p:txBody>
      </p:sp>
      <p:sp>
        <p:nvSpPr>
          <p:cNvPr id="23" name="TextBox 22"/>
          <p:cNvSpPr txBox="1"/>
          <p:nvPr/>
        </p:nvSpPr>
        <p:spPr>
          <a:xfrm>
            <a:off x="6172200" y="2258568"/>
            <a:ext cx="2377440" cy="365760"/>
          </a:xfrm>
          <a:prstGeom prst="rect">
            <a:avLst/>
          </a:prstGeom>
          <a:noFill/>
        </p:spPr>
        <p:txBody>
          <a:bodyPr wrap="square" anchor="t">
            <a:spAutoFit/>
          </a:bodyPr>
          <a:lstStyle/>
          <a:p>
            <a:pPr algn="l"/>
            <a:r>
              <a:rPr sz="950" b="0" i="0">
                <a:solidFill>
                  <a:srgbClr val="CCCCCC"/>
                </a:solidFill>
                <a:latin typeface="Calibri"/>
              </a:rPr>
              <a:t>•  Cross-project GKE</a:t>
            </a:r>
          </a:p>
        </p:txBody>
      </p:sp>
      <p:sp>
        <p:nvSpPr>
          <p:cNvPr id="24" name="TextBox 23"/>
          <p:cNvSpPr txBox="1"/>
          <p:nvPr/>
        </p:nvSpPr>
        <p:spPr>
          <a:xfrm>
            <a:off x="6172200" y="2642615"/>
            <a:ext cx="2377440" cy="365760"/>
          </a:xfrm>
          <a:prstGeom prst="rect">
            <a:avLst/>
          </a:prstGeom>
          <a:noFill/>
        </p:spPr>
        <p:txBody>
          <a:bodyPr wrap="square" anchor="t">
            <a:spAutoFit/>
          </a:bodyPr>
          <a:lstStyle/>
          <a:p>
            <a:pPr algn="l"/>
            <a:r>
              <a:rPr sz="950" b="0" i="0">
                <a:solidFill>
                  <a:srgbClr val="CCCCCC"/>
                </a:solidFill>
                <a:latin typeface="Calibri"/>
              </a:rPr>
              <a:t>•  Continuous evaluation</a:t>
            </a:r>
          </a:p>
        </p:txBody>
      </p:sp>
      <p:sp>
        <p:nvSpPr>
          <p:cNvPr id="25" name="TextBox 24"/>
          <p:cNvSpPr txBox="1"/>
          <p:nvPr/>
        </p:nvSpPr>
        <p:spPr>
          <a:xfrm>
            <a:off x="6172200" y="3026663"/>
            <a:ext cx="2377440" cy="365760"/>
          </a:xfrm>
          <a:prstGeom prst="rect">
            <a:avLst/>
          </a:prstGeom>
          <a:noFill/>
        </p:spPr>
        <p:txBody>
          <a:bodyPr wrap="square" anchor="t">
            <a:spAutoFit/>
          </a:bodyPr>
          <a:lstStyle/>
          <a:p>
            <a:pPr algn="l"/>
            <a:r>
              <a:rPr sz="950" b="0" i="0">
                <a:solidFill>
                  <a:srgbClr val="CCCCCC"/>
                </a:solidFill>
                <a:latin typeface="Calibri"/>
              </a:rPr>
              <a:t>•  Enterprise governance</a:t>
            </a:r>
          </a:p>
        </p:txBody>
      </p:sp>
      <p:sp>
        <p:nvSpPr>
          <p:cNvPr id="26" name="Rectangle 25"/>
          <p:cNvSpPr/>
          <p:nvPr/>
        </p:nvSpPr>
        <p:spPr>
          <a:xfrm>
            <a:off x="457200" y="3657600"/>
            <a:ext cx="8229600" cy="502920"/>
          </a:xfrm>
          <a:prstGeom prst="rect">
            <a:avLst/>
          </a:prstGeom>
          <a:solidFill>
            <a:srgbClr val="2424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40080" y="3776472"/>
            <a:ext cx="7863840" cy="320040"/>
          </a:xfrm>
          <a:prstGeom prst="rect">
            <a:avLst/>
          </a:prstGeom>
          <a:noFill/>
        </p:spPr>
        <p:txBody>
          <a:bodyPr wrap="square" anchor="t">
            <a:spAutoFit/>
          </a:bodyPr>
          <a:lstStyle/>
          <a:p>
            <a:pPr algn="ctr"/>
            <a:r>
              <a:rPr sz="1300" b="1" i="0">
                <a:solidFill>
                  <a:srgbClr val="FFFFFF"/>
                </a:solidFill>
                <a:latin typeface="Calibri"/>
              </a:rPr>
              <a:t>Complete validation  →  controlled pilot  →  measure operational value</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589520" y="137160"/>
            <a:ext cx="1371600" cy="274320"/>
          </a:xfrm>
          <a:prstGeom prst="rect">
            <a:avLst/>
          </a:prstGeom>
          <a:noFill/>
        </p:spPr>
        <p:txBody>
          <a:bodyPr wrap="none">
            <a:spAutoFit/>
          </a:bodyPr>
          <a:lstStyle/>
          <a:p>
            <a:r>
              <a:rPr sz="1200" b="1">
                <a:solidFill>
                  <a:srgbClr val="3CB371"/>
                </a:solidFill>
                <a:latin typeface="Trebuchet MS"/>
              </a:rPr>
              <a:t>SECTIGO</a:t>
            </a:r>
          </a:p>
        </p:txBody>
      </p:sp>
      <p:sp>
        <p:nvSpPr>
          <p:cNvPr id="3" name="Rectangle 2"/>
          <p:cNvSpPr/>
          <p:nvPr/>
        </p:nvSpPr>
        <p:spPr>
          <a:xfrm>
            <a:off x="457200" y="137160"/>
            <a:ext cx="1737360" cy="237744"/>
          </a:xfrm>
          <a:prstGeom prst="rect">
            <a:avLst/>
          </a:prstGeom>
          <a:solidFill>
            <a:srgbClr val="E875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900" b="1">
                <a:solidFill>
                  <a:srgbClr val="1A1A1A"/>
                </a:solidFill>
                <a:latin typeface="Trebuchet MS"/>
              </a:rPr>
              <a:t>FUTURE ARCHITECTURE</a:t>
            </a:r>
          </a:p>
        </p:txBody>
      </p:sp>
      <p:sp>
        <p:nvSpPr>
          <p:cNvPr id="4" name="TextBox 3"/>
          <p:cNvSpPr txBox="1"/>
          <p:nvPr/>
        </p:nvSpPr>
        <p:spPr>
          <a:xfrm>
            <a:off x="457200" y="402336"/>
            <a:ext cx="8229600" cy="320040"/>
          </a:xfrm>
          <a:prstGeom prst="rect">
            <a:avLst/>
          </a:prstGeom>
          <a:noFill/>
        </p:spPr>
        <p:txBody>
          <a:bodyPr wrap="none">
            <a:spAutoFit/>
          </a:bodyPr>
          <a:lstStyle/>
          <a:p>
            <a:r>
              <a:rPr sz="1500" b="1">
                <a:solidFill>
                  <a:srgbClr val="131313"/>
                </a:solidFill>
                <a:latin typeface="Calibri"/>
              </a:rPr>
              <a:t>Target Architecture — Where We're Building Toward</a:t>
            </a:r>
          </a:p>
        </p:txBody>
      </p:sp>
      <p:pic>
        <p:nvPicPr>
          <p:cNvPr id="5" name="Picture 4" descr="d40816cf-62446CA4FBB84372BC6026175AF93832.png"/>
          <p:cNvPicPr>
            <a:picLocks noChangeAspect="1"/>
          </p:cNvPicPr>
          <p:nvPr/>
        </p:nvPicPr>
        <p:blipFill>
          <a:blip r:embed="rId2"/>
          <a:stretch>
            <a:fillRect/>
          </a:stretch>
        </p:blipFill>
        <p:spPr>
          <a:xfrm>
            <a:off x="1348740" y="777240"/>
            <a:ext cx="6446520" cy="4297680"/>
          </a:xfrm>
          <a:prstGeom prst="rect">
            <a:avLst/>
          </a:prstGeom>
        </p:spPr>
      </p:pic>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589520" y="137160"/>
            <a:ext cx="1371600" cy="274320"/>
          </a:xfrm>
          <a:prstGeom prst="rect">
            <a:avLst/>
          </a:prstGeom>
          <a:noFill/>
        </p:spPr>
        <p:txBody>
          <a:bodyPr wrap="none">
            <a:spAutoFit/>
          </a:bodyPr>
          <a:lstStyle/>
          <a:p>
            <a:r>
              <a:rPr sz="1200" b="1">
                <a:solidFill>
                  <a:srgbClr val="3CB371"/>
                </a:solidFill>
                <a:latin typeface="Trebuchet MS"/>
              </a:rPr>
              <a:t>SECTIGO</a:t>
            </a:r>
          </a:p>
        </p:txBody>
      </p:sp>
      <p:sp>
        <p:nvSpPr>
          <p:cNvPr id="3" name="TextBox 2"/>
          <p:cNvSpPr txBox="1"/>
          <p:nvPr/>
        </p:nvSpPr>
        <p:spPr>
          <a:xfrm>
            <a:off x="457200" y="1828800"/>
            <a:ext cx="8229600" cy="914400"/>
          </a:xfrm>
          <a:prstGeom prst="rect">
            <a:avLst/>
          </a:prstGeom>
          <a:noFill/>
        </p:spPr>
        <p:txBody>
          <a:bodyPr wrap="square" anchor="t">
            <a:spAutoFit/>
          </a:bodyPr>
          <a:lstStyle/>
          <a:p>
            <a:pPr algn="ctr"/>
            <a:r>
              <a:rPr sz="4400" b="1" i="0">
                <a:solidFill>
                  <a:srgbClr val="131313"/>
                </a:solidFill>
                <a:latin typeface="Georgia"/>
              </a:rPr>
              <a:t>Thank You</a:t>
            </a:r>
          </a:p>
        </p:txBody>
      </p:sp>
      <p:sp>
        <p:nvSpPr>
          <p:cNvPr id="4" name="TextBox 3"/>
          <p:cNvSpPr txBox="1"/>
          <p:nvPr/>
        </p:nvSpPr>
        <p:spPr>
          <a:xfrm>
            <a:off x="457200" y="2697480"/>
            <a:ext cx="8229600" cy="457200"/>
          </a:xfrm>
          <a:prstGeom prst="rect">
            <a:avLst/>
          </a:prstGeom>
          <a:noFill/>
        </p:spPr>
        <p:txBody>
          <a:bodyPr wrap="square" anchor="t">
            <a:spAutoFit/>
          </a:bodyPr>
          <a:lstStyle/>
          <a:p>
            <a:pPr algn="ctr"/>
            <a:r>
              <a:rPr sz="2000" b="0" i="0">
                <a:solidFill>
                  <a:srgbClr val="E8751A"/>
                </a:solidFill>
                <a:latin typeface="Calibri"/>
              </a:rPr>
              <a:t>Questions?</a:t>
            </a:r>
          </a:p>
        </p:txBody>
      </p:sp>
      <p:sp>
        <p:nvSpPr>
          <p:cNvPr id="5" name="TextBox 4"/>
          <p:cNvSpPr txBox="1"/>
          <p:nvPr/>
        </p:nvSpPr>
        <p:spPr>
          <a:xfrm>
            <a:off x="457200" y="4206240"/>
            <a:ext cx="8229600" cy="365760"/>
          </a:xfrm>
          <a:prstGeom prst="rect">
            <a:avLst/>
          </a:prstGeom>
          <a:noFill/>
        </p:spPr>
        <p:txBody>
          <a:bodyPr wrap="square" anchor="t">
            <a:spAutoFit/>
          </a:bodyPr>
          <a:lstStyle/>
          <a:p>
            <a:pPr algn="ctr"/>
            <a:r>
              <a:rPr sz="1200" b="0" i="0">
                <a:solidFill>
                  <a:srgbClr val="999999"/>
                </a:solidFill>
                <a:latin typeface="Calibri"/>
              </a:rPr>
              <a:t>Ashwadeep Vaishnav  ·  SRE / CloudOps  ·  Sectigo</a:t>
            </a:r>
          </a:p>
        </p:txBody>
      </p:sp>
    </p:spTree>
  </p:cSld>
  <p:clrMapOvr>
    <a:masterClrMapping/>
  </p:clrMapOvr>
</p:sld>
</file>

<file path=ppt/theme/theme1.xml><?xml version="1.0" encoding="utf-8"?>
<a:theme xmlns:a="http://schemas.openxmlformats.org/drawingml/2006/main" name="Dune">
  <a:themeElements>
    <a:clrScheme name="Dune">
      <a:dk1>
        <a:srgbClr val="131313"/>
      </a:dk1>
      <a:lt1>
        <a:sysClr val="window" lastClr="FFFFFF"/>
      </a:lt1>
      <a:dk2>
        <a:srgbClr val="272D2B"/>
      </a:dk2>
      <a:lt2>
        <a:srgbClr val="F0EDE6"/>
      </a:lt2>
      <a:accent1>
        <a:srgbClr val="647E6B"/>
      </a:accent1>
      <a:accent2>
        <a:srgbClr val="476262"/>
      </a:accent2>
      <a:accent3>
        <a:srgbClr val="9B8C69"/>
      </a:accent3>
      <a:accent4>
        <a:srgbClr val="BA988C"/>
      </a:accent4>
      <a:accent5>
        <a:srgbClr val="A27C7C"/>
      </a:accent5>
      <a:accent6>
        <a:srgbClr val="79958B"/>
      </a:accent6>
      <a:hlink>
        <a:srgbClr val="476262"/>
      </a:hlink>
      <a:folHlink>
        <a:srgbClr val="A27C7C"/>
      </a:folHlink>
    </a:clrScheme>
    <a:fontScheme name="Neue Haas">
      <a:majorFont>
        <a:latin typeface="Neue Haas Grotesk Text Pro"/>
        <a:ea typeface=""/>
        <a:cs typeface=""/>
      </a:majorFont>
      <a:minorFont>
        <a:latin typeface="Neue Haas Grotesk Text Pro"/>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Dune" id="{7A434096-21D7-44B8-8536-5670F4990977}" vid="{9E2B180D-3A1B-4983-B64A-9C133C18DC91}"/>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Dune</Template>
  <TotalTime>64</TotalTime>
  <Words>2181</Words>
  <Application>Microsoft Macintosh PowerPoint</Application>
  <PresentationFormat>On-screen Show (16:9)</PresentationFormat>
  <Paragraphs>211</Paragraphs>
  <Slides>16</Slides>
  <Notes>16</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16</vt:i4>
      </vt:variant>
    </vt:vector>
  </HeadingPairs>
  <TitlesOfParts>
    <vt:vector size="23" baseType="lpstr">
      <vt:lpstr>Arial</vt:lpstr>
      <vt:lpstr>Calibri</vt:lpstr>
      <vt:lpstr>Consolas</vt:lpstr>
      <vt:lpstr>Georgia</vt:lpstr>
      <vt:lpstr>Neue Haas Grotesk Text Pro</vt:lpstr>
      <vt:lpstr>Trebuchet MS</vt:lpstr>
      <vt:lpstr>Dune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AI-Powered SRE Intelligence Layer</dc:title>
  <dc:subject>PptxGenJS Presentation</dc:subject>
  <dc:creator>Ashwadeep Vaishnav</dc:creator>
  <cp:lastModifiedBy>Ashwadeep Vaishnav</cp:lastModifiedBy>
  <cp:revision>8</cp:revision>
  <dcterms:created xsi:type="dcterms:W3CDTF">2026-04-21T20:33:41Z</dcterms:created>
  <dcterms:modified xsi:type="dcterms:W3CDTF">2026-08-19T06:59:11Z</dcterms:modified>
</cp:coreProperties>
</file>