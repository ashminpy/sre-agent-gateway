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6"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81" r:id="rId23"/>
    <p:sldId id="282" r:id="rId24"/>
    <p:sldId id="283" r:id="rId25"/>
    <p:sldId id="284" r:id="rId26"/>
    <p:sldId id="273" r:id="rId12"/>
    <p:sldId id="274" r:id="rId13"/>
    <p:sldId id="285" r:id="rId27"/>
    <p:sldId id="276" r:id="rId14"/>
    <p:sldId id="288" r:id="rId15"/>
    <p:sldId id="278" r:id="rId16"/>
    <p:sldId id="279" r:id="rId17"/>
    <p:sldId id="286" r:id="rId28"/>
    <p:sldId id="289" r:id="rId30"/>
    <p:sldId id="287" r:id="rId29"/>
  </p:sldIdLst>
  <p:sldSz cx="9144000" cy="5143500" type="screen16x9"/>
  <p:notesSz cx="51435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146"/>
    <p:restoredTop sz="94610"/>
  </p:normalViewPr>
  <p:slideViewPr>
    <p:cSldViewPr snapToGrid="0" snapToObjects="1">
      <p:cViewPr varScale="1">
        <p:scale>
          <a:sx n="299" d="100"/>
          <a:sy n="299" d="100"/>
        </p:scale>
        <p:origin x="5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7.xml"/><Relationship Id="rId28" Type="http://schemas.openxmlformats.org/officeDocument/2006/relationships/slide" Target="slides/slide22.xml"/><Relationship Id="rId29" Type="http://schemas.openxmlformats.org/officeDocument/2006/relationships/slide" Target="slides/slide24.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3827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Hey everyone, thanks for making time. I'm going to walk you through an AI SRE investigator we've been building on Google Cloud -- LangGraph for the reasoning, Vertex AI Agent Engine to run it. It's human-in-the-loop -- it investigates and explains, we still approve and act. I'll cover the problem we're solving, how it's built, a live demo, security, cost, and what's next.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introduction — I'm Ashwadeep Vaishnav, working in SRE and CloudOps here at Sectigo, based out of Ottawa. My focus areas include AI-assisted operations, cloud infrastructure, and automation. Today's presentation is the culmination of a prototype I've been building to bring AI reasoning into our incident response workflow.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run-through of what we're covering: the problem we're solving, the vision, how it's actually built, security -- since that's usually the first question anyway -- a live demo, what it costs, and where we take it next. Questions any time, don't wait for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why we're here. What's the core problem we're trying to solve?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real problem, in six pieces. Too many alerts and no easy way to correlate them. Most of the time in an incident isn't fixing anything, it's just gathering context. The quality of the RCA depends entirely on who's on call. Engineers are troubleshooting and explaining impact at the same time. A lot of knowledge only lives in a few people's heads. And more dashboards hasn't actually made any of this clearer. The real insight: we don't have a tools problem, we have a correlation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what are we actually fixing? Engineers spend most of an incident just gathering information -- logs, pod status, events -- not using their actual expertise. We're going after three things: automate that gathering, reason over the evidence to build a real hypothesis, and make sure every investigation comes out the same structured way no matter who's on call. This is a co-pilot -- the engineer is still in charge.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what the solution looks like at a conceptual level.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shape of it, conceptually. At the bottom, each data source -- logs, metrics, infra, docs -- plugs in as its own independent tool. Above that, the orchestrator decides what to check and in what order. Then a memory layer keeps context during the investigation. And the output is a structured RCA. The important part is the principle underneath all of it: it observes and recommends, it doesn't act. Read-only by default, everything logged, a human approves every step.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actual before-and-after. Today: alert fires, someone's paged, and they spend the next 30 to 60 minutes manually digging -- logs, dashboards, runbooks, piecing it together by hand. With the agent: same alert, but it automatically investigates -- pulls the evidence, reasons over it, and hands back a structured RCA in well under two minutes, real numbers we've measured average around 20 seconds. The engineer's job shifts from digging to reviewing -- that's where their judgment actually matters.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the technical part -- how it's actually built. I'll keep the jargon explained as I go, don't worry if some of these terms are new.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Enough theory, let me actually show you. First the three scenarios I'll run, then we go live -- against a real GKE cluster, not a simulation.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real scenarios, live cluster, not simulated. First: a pod referencing a ConfigMap that was never created -- the agent should catch the missing reference and explain it clearly. Second: a pod stuck Pending because it's asking for storage that doesn't exist -- watch it trace that back to the real cause. Third: a pod whose liveness probe keeps failing, so it keeps restarting -- the agent needs to connect the restarts to the actual probe failure. All three passed clean in our last real run. Let's go live.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about the economics — what does this actually cost, and how do we measure value?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numbers on cost, since this always comes up. Each investigation runs about a quarter of a cent and takes about 20 seconds. We're not estimating this — it's tracked per run and already wired into Cloud Monitoring with an alert if it spikes. At any real volume this is a rounding error, not a budget line — the actual cost of scaling this is engineering time, not compute.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we'll actually measure success, two buckets. Operational: MTTR reduction is the headline metric, but we're not claiming a number yet -- no real baseline exists until we've run this in a real pilot, and I'd rather say that plainly than guess. Alongside that: how many alerts get triaged automatically, whether alert noise goes down, and how often the root cause is actually correct. Productivity side: time saved per incident, on-call fatigue, faster ramp-up for new engineers, and getting tribal knowledge out of people's heads and into the system.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Last section, quick one — where we take this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at a high level, here's how it actually works. Someone triggers an investigation, it runs on Vertex AI as a LangGraph workflow, goes through our Agent Gateway with a scoped identity, out to the cluster, and evidence comes straight back. Every piece of this is live today, nothing here is a future promise.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actual thinking loop. It figures out where to look, goes and gets the evidence, checks itself — do I have enough, am I confident — and only then writes the RCA. That loop is really the whole point, it's what makes this an investigator and not just a chatbot answering blind.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section on security, since I know this is usually the first question. Short version: read-only, least-privilege, nothing hardcoded, human still approves every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Nothing here is aspirational, this is all live. Model Armor filters both directions. IAM is scoped tight, no broad roles. Identity uses Workload Identity, so no static keys sitting around anywhere. Every tool it has is read-only — it can't write or exec anything on the cluster. And the engineer always approves before anything actually changes.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didn't want a demo that just looks good, so we actually measured it -- 10 real scenarios, live cluster, real deployed agent. 7 out of 10 got the root cause right. The 3 that didn't all trace back to the exact same thing -- one specific permissions gap reading pod logs in this namespace, not three separate bugs. We know exactly what it is and how to fix it. I'd rather walk in with one clearly understood issue than pretend everything's perfect.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take — let's not jump straight from this demo into full production. Fix what we found today, run a controlled pilot, and actually measure whether it helps before we go wider. That's it, that's the ask.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everything — happy to take questions, or dig into any part of this live if that's more useful.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Last thing before we close -- this is the bigger picture, where this scales to over time. Multiple clusters, multiple environments, more data sources, all through the same investigation model we already have working today. We don't rebuild the core every time we add something new.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7160" y="3882120"/>
            <a:ext cx="8730234" cy="634120"/>
          </a:xfrm>
        </p:spPr>
        <p:txBody>
          <a:bodyPr vert="horz" lIns="91440" tIns="45720" rIns="91440" bIns="45720" rtlCol="0" anchor="b">
            <a:normAutofit/>
          </a:bodyPr>
          <a:lstStyle>
            <a:lvl1pPr>
              <a:defRPr lang="en-US" sz="33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57735" y="4485132"/>
            <a:ext cx="8709660" cy="397764"/>
          </a:xfrm>
        </p:spPr>
        <p:txBody>
          <a:bodyPr vert="horz" lIns="91440" tIns="45720" rIns="91440" bIns="45720" rtlCol="0">
            <a:normAutofit/>
          </a:bodyPr>
          <a:lstStyle>
            <a:lvl1pPr marL="0" indent="0">
              <a:buNone/>
              <a:defRPr lang="en-US" sz="1200" dirty="0">
                <a:solidFill>
                  <a:schemeClr val="tx2"/>
                </a:solidFill>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05665" y="200025"/>
            <a:ext cx="8737092" cy="3640361"/>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37160" y="4793743"/>
            <a:ext cx="2104054" cy="247850"/>
          </a:xfrm>
        </p:spPr>
        <p:txBody>
          <a:bodyPr/>
          <a:lstStyle>
            <a:lvl1pPr>
              <a:defRPr>
                <a:solidFill>
                  <a:schemeClr val="tx2"/>
                </a:solidFill>
                <a:effectLst/>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6103386" y="4793743"/>
            <a:ext cx="2620736" cy="247850"/>
          </a:xfrm>
        </p:spPr>
        <p:txBody>
          <a:bodyPr/>
          <a:lstStyle>
            <a:lvl1pPr algn="r">
              <a:defRPr>
                <a:solidFill>
                  <a:schemeClr val="tx2"/>
                </a:solidFill>
                <a:effectLst/>
              </a:defRPr>
            </a:lvl1pPr>
          </a:lstStyle>
          <a:p>
            <a:fld id="{7FA43F5B-065E-43CE-B3FD-98C48A6F94D7}" type="datetime1">
              <a:rPr lang="en-US" smtClean="0"/>
              <a:t>8/19/26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8724122" y="4793743"/>
            <a:ext cx="321905" cy="247850"/>
          </a:xfrm>
        </p:spPr>
        <p:txBody>
          <a:bodyPr/>
          <a:lstStyle>
            <a:lvl1pPr>
              <a:defRPr>
                <a:solidFill>
                  <a:schemeClr val="tx2"/>
                </a:solidFill>
                <a:effectLst/>
              </a:defRPr>
            </a:lvl1pPr>
          </a:lstStyle>
          <a:p>
            <a:fld id="{2DE90F28-AFBB-4AB2-AA79-6D3F72ED131B}" type="slidenum">
              <a:rPr lang="en-US" smtClean="0"/>
              <a:pPr/>
              <a:t>‹#›</a:t>
            </a:fld>
            <a:endParaRPr lang="en-US"/>
          </a:p>
        </p:txBody>
      </p:sp>
    </p:spTree>
    <p:extLst>
      <p:ext uri="{BB962C8B-B14F-4D97-AF65-F5344CB8AC3E}">
        <p14:creationId xmlns:p14="http://schemas.microsoft.com/office/powerpoint/2010/main" val="4122518712"/>
      </p:ext>
    </p:extLst>
  </p:cSld>
  <p:clrMapOvr>
    <a:overrideClrMapping bg1="dk1" tx1="lt1" bg2="dk2" tx2="lt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EEE6A364-A39C-470E-B89A-9BD899585684}" type="datetime1">
              <a:rPr lang="en-US" smtClean="0"/>
              <a:pPr/>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51857640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745197" y="156566"/>
            <a:ext cx="3049554" cy="2794453"/>
          </a:xfrm>
        </p:spPr>
        <p:txBody>
          <a:bodyPr vert="horz" lIns="91440" tIns="45720" rIns="91440" bIns="45720" rtlCol="0" anchor="t">
            <a:normAutofit/>
          </a:bodyPr>
          <a:lstStyle>
            <a:lvl1pPr>
              <a:defRPr lang="en-US" sz="375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751547" y="3634740"/>
            <a:ext cx="3049554" cy="1035558"/>
          </a:xfrm>
        </p:spPr>
        <p:txBody>
          <a:bodyPr vert="horz" lIns="91440" tIns="45720" rIns="91440" bIns="45720" rtlCol="0" anchor="b">
            <a:normAutofit/>
          </a:bodyPr>
          <a:lstStyle>
            <a:lvl1pPr marL="0" indent="0">
              <a:buNone/>
              <a:defRPr lang="en-US" sz="1200">
                <a:solidFill>
                  <a:schemeClr val="tx2"/>
                </a:solidFill>
              </a:defRPr>
            </a:lvl1pPr>
          </a:lstStyle>
          <a:p>
            <a:pPr lvl="0"/>
            <a:r>
              <a:rPr lang="en-US"/>
              <a:t>Click to edit Master subtitle style</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05740" y="200025"/>
            <a:ext cx="5429249" cy="4742168"/>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749861" y="479374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858125" y="4793742"/>
            <a:ext cx="774063" cy="253746"/>
          </a:xfrm>
        </p:spPr>
        <p:txBody>
          <a:bodyPr/>
          <a:lstStyle>
            <a:lvl1pPr>
              <a:defRPr>
                <a:solidFill>
                  <a:schemeClr val="tx2"/>
                </a:solidFill>
                <a:effectLst/>
              </a:defRPr>
            </a:lvl1pPr>
          </a:lstStyle>
          <a:p>
            <a:fld id="{7FA43F5B-065E-43CE-B3FD-98C48A6F94D7}" type="datetime1">
              <a:rPr lang="en-US" smtClean="0"/>
              <a:pPr/>
              <a:t>8/19/26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8632188" y="4791628"/>
            <a:ext cx="342900" cy="253746"/>
          </a:xfrm>
        </p:spPr>
        <p:txBody>
          <a:bodyPr/>
          <a:lstStyle>
            <a:lvl1pPr>
              <a:defRPr>
                <a:solidFill>
                  <a:schemeClr val="tx2"/>
                </a:solidFill>
              </a:defRPr>
            </a:lvl1pPr>
          </a:lstStyle>
          <a:p>
            <a:fld id="{2DE90F28-AFBB-4AB2-AA79-6D3F72ED131B}" type="slidenum">
              <a:rPr lang="en-US" smtClean="0"/>
              <a:pPr/>
              <a:t>‹#›</a:t>
            </a:fld>
            <a:endParaRPr lang="en-US"/>
          </a:p>
        </p:txBody>
      </p:sp>
    </p:spTree>
    <p:extLst>
      <p:ext uri="{BB962C8B-B14F-4D97-AF65-F5344CB8AC3E}">
        <p14:creationId xmlns:p14="http://schemas.microsoft.com/office/powerpoint/2010/main" val="2720843843"/>
      </p:ext>
    </p:extLst>
  </p:cSld>
  <p:clrMapOvr>
    <a:overrideClrMapping bg1="dk1" tx1="lt1" bg2="dk2" tx2="lt2" accent1="accent1" accent2="accent2" accent3="accent3" accent4="accent4" accent5="accent5" accent6="accent6" hlink="hlink" folHlink="folHlink"/>
  </p:clrMapOvr>
  <p:hf sldNum="0" hdr="0" ftr="0" dt="0"/>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513949" y="1147157"/>
            <a:ext cx="6116103" cy="1742912"/>
          </a:xfrm>
        </p:spPr>
        <p:txBody>
          <a:bodyPr anchor="b">
            <a:normAutofit/>
          </a:bodyPr>
          <a:lstStyle>
            <a:lvl1pPr algn="ctr">
              <a:defRPr sz="405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33036" y="3040128"/>
            <a:ext cx="4477928" cy="804509"/>
          </a:xfrm>
        </p:spPr>
        <p:txBody>
          <a:bodyPr anchor="t">
            <a:normAutofit/>
          </a:bodyPr>
          <a:lstStyle>
            <a:lvl1pPr marL="0" indent="0" algn="ctr">
              <a:buNone/>
              <a:defRPr sz="1200">
                <a:solidFill>
                  <a:schemeClr val="tx2"/>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7FA43F5B-065E-43CE-B3FD-98C48A6F94D7}" type="datetime1">
              <a:rPr lang="en-US" smtClean="0"/>
              <a:pPr/>
              <a:t>8/19/26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DE90F28-AFBB-4AB2-AA79-6D3F72ED131B}" type="slidenum">
              <a:rPr lang="en-US" smtClean="0"/>
              <a:pPr/>
              <a:t>‹#›</a:t>
            </a:fld>
            <a:endParaRPr lang="en-US"/>
          </a:p>
        </p:txBody>
      </p:sp>
    </p:spTree>
    <p:extLst>
      <p:ext uri="{BB962C8B-B14F-4D97-AF65-F5344CB8AC3E}">
        <p14:creationId xmlns:p14="http://schemas.microsoft.com/office/powerpoint/2010/main" val="1535240184"/>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EEE2A7A0-B9EE-41A8-8016-28E5803F20B2}" type="datetime1">
              <a:rPr lang="en-US" smtClean="0"/>
              <a:pPr/>
              <a:t>8/19/26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863426054"/>
      </p:ext>
    </p:extLst>
  </p:cSld>
  <p:clrMapOvr>
    <a:overrideClrMapping bg1="dk1" tx1="lt1" bg2="dk2" tx2="lt2" accent1="accent1" accent2="accent2" accent3="accent3" accent4="accent4" accent5="accent5" accent6="accent6" hlink="hlink" folHlink="folHlink"/>
  </p:clrMapOvr>
  <p:hf sldNum="0" hdr="0" ftr="0" dt="0"/>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00362" y="142267"/>
            <a:ext cx="8506429" cy="1222114"/>
          </a:xfrm>
        </p:spPr>
        <p:txBody>
          <a:bodyPr anchor="t">
            <a:normAutofit/>
          </a:bodyPr>
          <a:lstStyle>
            <a:lvl1pPr>
              <a:defRPr sz="5700" baseline="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572000" y="1771650"/>
            <a:ext cx="4371975" cy="2857500"/>
          </a:xfrm>
        </p:spPr>
        <p:txBody>
          <a:bodyPr vert="horz" lIns="91440" tIns="45720" rIns="91440" bIns="45720" rtlCol="0" anchor="b">
            <a:normAutofit/>
          </a:bodyPr>
          <a:lstStyle>
            <a:lvl1pPr marL="342900" indent="-342900">
              <a:buFont typeface="+mj-lt"/>
              <a:buAutoNum type="arabicPeriod"/>
              <a:defRPr lang="en-US" sz="1200" dirty="0"/>
            </a:lvl1pPr>
            <a:lvl2pPr marL="428625" indent="-257175">
              <a:buFont typeface="+mj-lt"/>
              <a:buAutoNum type="arabicPeriod"/>
              <a:defRPr lang="en-US" sz="1200" dirty="0"/>
            </a:lvl2pPr>
            <a:lvl3pPr marL="600075" indent="-257175">
              <a:buFont typeface="+mj-lt"/>
              <a:buAutoNum type="arabicPeriod"/>
              <a:defRPr lang="en-US" sz="1200" dirty="0"/>
            </a:lvl3pPr>
            <a:lvl4pPr>
              <a:buFont typeface="+mj-lt"/>
              <a:buAutoNum type="arabicPeriod"/>
              <a:defRPr lang="en-US" sz="1200" dirty="0"/>
            </a:lvl4pPr>
            <a:lvl5pPr>
              <a:buFont typeface="+mj-lt"/>
              <a:buAutoNum type="arabicPeriod"/>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F53D6F41-6645-4089-A6BB-7B692A44A4CC}" type="datetime1">
              <a:rPr lang="en-US" smtClean="0"/>
              <a:pPr/>
              <a:t>8/19/26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3913466510"/>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7160" y="3046397"/>
            <a:ext cx="4434840" cy="1701269"/>
          </a:xfrm>
        </p:spPr>
        <p:txBody>
          <a:bodyPr anchor="t">
            <a:normAutofit/>
          </a:bodyPr>
          <a:lstStyle>
            <a:lvl1pPr>
              <a:defRPr sz="4350"/>
            </a:lvl1pPr>
          </a:lstStyle>
          <a:p>
            <a:r>
              <a:rPr lang="en-US"/>
              <a:t>Click to edit Master title style</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05740" y="201381"/>
            <a:ext cx="8737092" cy="2706814"/>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636980" y="3029338"/>
            <a:ext cx="3314701" cy="1701270"/>
          </a:xfrm>
        </p:spPr>
        <p:txBody>
          <a:bodyPr vert="horz" lIns="91440" tIns="45720" rIns="91440" bIns="45720" rtlCol="0">
            <a:normAutofit/>
          </a:bodyPr>
          <a:lstStyle>
            <a:lvl1pPr marL="257175" indent="-257175">
              <a:buFont typeface="+mj-lt"/>
              <a:buAutoNum type="arabicPeriod"/>
              <a:defRPr lang="en-US" sz="1050" dirty="0"/>
            </a:lvl1pPr>
            <a:lvl2pPr marL="428625" indent="-257175">
              <a:buFont typeface="+mj-lt"/>
              <a:buAutoNum type="arabicPeriod"/>
              <a:defRPr lang="en-US" sz="1050" dirty="0"/>
            </a:lvl2pPr>
            <a:lvl3pPr marL="600075" indent="-257175">
              <a:buFont typeface="+mj-lt"/>
              <a:buAutoNum type="arabicPeriod"/>
              <a:defRPr lang="en-US" sz="1050" dirty="0"/>
            </a:lvl3pPr>
            <a:lvl4pPr>
              <a:buFont typeface="+mj-lt"/>
              <a:buAutoNum type="arabicPeriod"/>
              <a:defRPr lang="en-US" sz="1050" dirty="0"/>
            </a:lvl4pPr>
            <a:lvl5pPr>
              <a:buFont typeface="+mj-lt"/>
              <a:buAutoNum type="arabicPeriod"/>
              <a:defRPr lang="en-US" sz="1050" dirty="0"/>
            </a:lvl5pPr>
          </a:lstStyle>
          <a:p>
            <a:pPr marL="171450" lvl="0" indent="-171450"/>
            <a:r>
              <a:rPr lang="en-US"/>
              <a:t>Click to edit Master text styles</a:t>
            </a:r>
          </a:p>
          <a:p>
            <a:pPr marL="171450" lvl="1" indent="-171450"/>
            <a:r>
              <a:rPr lang="en-US"/>
              <a:t>Second level</a:t>
            </a:r>
          </a:p>
          <a:p>
            <a:pPr marL="171450" lvl="2" indent="-171450"/>
            <a:r>
              <a:rPr lang="en-US"/>
              <a:t>Third level</a:t>
            </a:r>
          </a:p>
          <a:p>
            <a:pPr marL="171450" lvl="3" indent="-171450"/>
            <a:r>
              <a:rPr lang="en-US"/>
              <a:t>Fourth level</a:t>
            </a:r>
          </a:p>
          <a:p>
            <a:pPr marL="171450" lvl="4" indent="-171450"/>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37160" y="4790803"/>
            <a:ext cx="2027833" cy="253746"/>
          </a:xfrm>
        </p:spPr>
        <p:txBody>
          <a:body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7FA43F5B-065E-43CE-B3FD-98C48A6F94D7}" type="datetime1">
              <a:rPr lang="en-US" smtClean="0"/>
              <a:pPr/>
              <a:t>8/19/26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1603474715"/>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918848" y="1228724"/>
            <a:ext cx="2486025" cy="2904951"/>
          </a:xfrm>
        </p:spPr>
        <p:txBody>
          <a:bodyPr anchor="t">
            <a:normAutofit/>
          </a:bodyPr>
          <a:lstStyle>
            <a:lvl1pPr>
              <a:defRPr sz="225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675764" y="1228725"/>
            <a:ext cx="4560570" cy="290495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58B73AF-3955-4569-8B4F-B329360A9CBD}" type="datetime1">
              <a:rPr lang="en-US" smtClean="0"/>
              <a:pPr/>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3082329946"/>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7160" y="164593"/>
            <a:ext cx="2482796" cy="3043595"/>
          </a:xfrm>
        </p:spPr>
        <p:txBody>
          <a:bodyPr anchor="t">
            <a:normAutofit/>
          </a:bodyPr>
          <a:lstStyle>
            <a:lvl1pPr>
              <a:defRPr sz="225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979506" y="200025"/>
            <a:ext cx="5766371" cy="453587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0ADC593-EA98-4C39-A75F-3F3A9C691019}" type="datetime1">
              <a:rPr lang="en-US" smtClean="0"/>
              <a:pPr/>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227588677"/>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689644" y="164592"/>
            <a:ext cx="4782410" cy="799505"/>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05740" y="201430"/>
            <a:ext cx="3314700" cy="4744477"/>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689644" y="964097"/>
            <a:ext cx="4782410" cy="3739766"/>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689645" y="4790803"/>
            <a:ext cx="2027833"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123794942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141527" y="164592"/>
            <a:ext cx="5430973" cy="692658"/>
          </a:xfrm>
        </p:spPr>
        <p:txBody>
          <a:bodyPr anchor="t"/>
          <a:lstStyle>
            <a:lvl1pPr>
              <a:defRPr/>
            </a:lvl1pPr>
          </a:lstStyle>
          <a:p>
            <a:r>
              <a:rPr lang="en-US"/>
              <a:t>Click to edit Master title style</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05740" y="201430"/>
            <a:ext cx="2756916" cy="4745736"/>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141526" y="857250"/>
            <a:ext cx="5430974" cy="392963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141527" y="4787236"/>
            <a:ext cx="2027833"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304701878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60" y="164592"/>
            <a:ext cx="5430973" cy="692658"/>
          </a:xfrm>
        </p:spPr>
        <p:txBody>
          <a:bodyPr anchor="t"/>
          <a:lstStyle>
            <a:lvl1pPr>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37160" y="857250"/>
            <a:ext cx="5430974" cy="392963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37160" y="4787236"/>
            <a:ext cx="2027833"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794070" y="4790346"/>
            <a:ext cx="774063" cy="253746"/>
          </a:xfrm>
        </p:spPr>
        <p:txBody>
          <a:bodyPr/>
          <a:lstStyle>
            <a:lvl1pPr>
              <a:defRPr>
                <a:solidFill>
                  <a:schemeClr val="tx1"/>
                </a:solidFill>
                <a:effectLst/>
              </a:defRPr>
            </a:lvl1p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5568133" y="4790346"/>
            <a:ext cx="342900" cy="253746"/>
          </a:xfrm>
        </p:spPr>
        <p:txBody>
          <a:bodyPr/>
          <a:lstStyle/>
          <a:p>
            <a:fld id="{2DE90F28-AFBB-4AB2-AA79-6D3F72ED131B}" type="slidenum">
              <a:rPr lang="en-US" smtClean="0"/>
              <a:pPr/>
              <a:t>‹#›</a:t>
            </a:fld>
            <a:endParaRPr lang="en-US"/>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6187059" y="201430"/>
            <a:ext cx="2756916" cy="4745736"/>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00096460"/>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9392" y="164592"/>
            <a:ext cx="3538072" cy="885666"/>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39392" y="1050258"/>
            <a:ext cx="3546784" cy="3653605"/>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691129" y="4793096"/>
            <a:ext cx="974088" cy="253746"/>
          </a:xfrm>
        </p:spPr>
        <p:txBody>
          <a:body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665217" y="4793096"/>
            <a:ext cx="342900" cy="253746"/>
          </a:xfrm>
        </p:spPr>
        <p:txBody>
          <a:bodyPr/>
          <a:lstStyle>
            <a:lvl1pPr>
              <a:defRPr>
                <a:solidFill>
                  <a:schemeClr val="tx1"/>
                </a:solidFill>
                <a:effectLst/>
              </a:defRPr>
            </a:lvl1pPr>
          </a:lstStyle>
          <a:p>
            <a:fld id="{2DE90F28-AFBB-4AB2-AA79-6D3F72ED131B}" type="slidenum">
              <a:rPr lang="en-US" smtClean="0"/>
              <a:pPr/>
              <a:t>‹#›</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4200528" y="200025"/>
            <a:ext cx="4743352" cy="474345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70175240"/>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61" y="165652"/>
            <a:ext cx="2406015" cy="2316476"/>
          </a:xfrm>
        </p:spPr>
        <p:txBody>
          <a:bodyPr anchor="t"/>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3514725" y="200025"/>
            <a:ext cx="2625404" cy="474345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5815" y="165652"/>
            <a:ext cx="2400300" cy="4541666"/>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DE90F28-AFBB-4AB2-AA79-6D3F72ED131B}" type="slidenum">
              <a:rPr lang="en-US" smtClean="0"/>
              <a:pPr/>
              <a:t>‹#›</a:t>
            </a:fld>
            <a:endParaRPr lang="en-US"/>
          </a:p>
        </p:txBody>
      </p:sp>
    </p:spTree>
    <p:extLst>
      <p:ext uri="{BB962C8B-B14F-4D97-AF65-F5344CB8AC3E}">
        <p14:creationId xmlns:p14="http://schemas.microsoft.com/office/powerpoint/2010/main" val="244837763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35317" y="164593"/>
            <a:ext cx="2918576" cy="919004"/>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02855" y="198882"/>
            <a:ext cx="5238477" cy="4745736"/>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635315" y="1076739"/>
            <a:ext cx="2918576" cy="3625397"/>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636310" y="4790346"/>
            <a:ext cx="2027833"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605537360"/>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9390" y="164592"/>
            <a:ext cx="2426237" cy="1182914"/>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39390" y="1347506"/>
            <a:ext cx="2426237" cy="3353607"/>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34028" y="4790346"/>
            <a:ext cx="1571828"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654812" y="4793096"/>
            <a:ext cx="774063" cy="253746"/>
          </a:xfrm>
        </p:spPr>
        <p:txBody>
          <a:bodyPr/>
          <a:lstStyle>
            <a:lvl1pPr>
              <a:defRPr>
                <a:solidFill>
                  <a:schemeClr val="tx1"/>
                </a:solidFill>
                <a:effectLst/>
              </a:defRPr>
            </a:lvl1pPr>
          </a:lstStyle>
          <a:p>
            <a:fld id="{ADC8C146-0A20-4029-98D5-9A42EEDF8B24}"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428875" y="4793096"/>
            <a:ext cx="342900" cy="253746"/>
          </a:xfrm>
        </p:spPr>
        <p:txBody>
          <a:bodyPr/>
          <a:lstStyle/>
          <a:p>
            <a:fld id="{CC057153-B650-4DEB-B370-79DDCFDCE934}" type="slidenum">
              <a:rPr lang="en-US" smtClean="0"/>
              <a:pPr/>
              <a:t>‹#›</a:t>
            </a:fld>
            <a:endParaRPr lang="en-US"/>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2974338" y="198882"/>
            <a:ext cx="5969638" cy="4745736"/>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309484838"/>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9409" y="162339"/>
            <a:ext cx="2536190" cy="1660143"/>
          </a:xfrm>
        </p:spPr>
        <p:txBody>
          <a:bodyPr anchor="t">
            <a:normAutofit/>
          </a:bodyPr>
          <a:lstStyle>
            <a:lvl1pPr>
              <a:defRPr sz="225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2971800" y="133119"/>
            <a:ext cx="5972175" cy="1714500"/>
          </a:xfrm>
        </p:spPr>
        <p:txBody>
          <a:bodyPr>
            <a:normAutofit/>
          </a:bodyPr>
          <a:lstStyle>
            <a:lvl1pPr marL="214313" indent="-214313">
              <a:buFont typeface="Arial" panose="020B0604020202020204" pitchFamily="34" charset="0"/>
              <a:buChar char="•"/>
              <a:defRPr sz="1050"/>
            </a:lvl1pPr>
            <a:lvl2pPr marL="385763" indent="-214313">
              <a:buFont typeface="Arial" panose="020B0604020202020204" pitchFamily="34" charset="0"/>
              <a:buChar char="•"/>
              <a:defRPr sz="1050"/>
            </a:lvl2pPr>
            <a:lvl3pPr marL="557213" indent="-214313">
              <a:buFont typeface="Arial" panose="020B0604020202020204" pitchFamily="34" charset="0"/>
              <a:buChar char="•"/>
              <a:defRPr sz="1050"/>
            </a:lvl3pPr>
            <a:lvl4pPr marL="642938" indent="-128588">
              <a:buFont typeface="Arial" panose="020B0604020202020204" pitchFamily="34" charset="0"/>
              <a:buChar char="•"/>
              <a:defRPr sz="1050"/>
            </a:lvl4pPr>
            <a:lvl5pPr marL="814388" indent="-128588">
              <a:buFont typeface="Arial" panose="020B0604020202020204" pitchFamily="34" charset="0"/>
              <a:buChar char="•"/>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39409" y="1885098"/>
            <a:ext cx="2104054" cy="253746"/>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672754" y="1887183"/>
            <a:ext cx="963008" cy="253746"/>
          </a:xfrm>
        </p:spPr>
        <p:txBody>
          <a:body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8632189" y="1885098"/>
            <a:ext cx="336980" cy="253746"/>
          </a:xfrm>
        </p:spPr>
        <p:txBody>
          <a:bodyPr/>
          <a:lstStyle/>
          <a:p>
            <a:fld id="{2DE90F28-AFBB-4AB2-AA79-6D3F72ED131B}" type="slidenum">
              <a:rPr lang="en-US" smtClean="0"/>
              <a:pPr/>
              <a:t>‹#›</a:t>
            </a:fld>
            <a:endParaRPr lang="en-US"/>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05665" y="2201460"/>
            <a:ext cx="8738310" cy="2742015"/>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269324234"/>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60" y="164593"/>
            <a:ext cx="2379481" cy="2358764"/>
          </a:xfrm>
        </p:spPr>
        <p:txBody>
          <a:bodyPr anchor="t">
            <a:normAutofit/>
          </a:bodyPr>
          <a:lstStyle>
            <a:lvl1pPr>
              <a:defRPr sz="225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3000375" y="198999"/>
            <a:ext cx="5943600" cy="2321878"/>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2935924" y="2657698"/>
            <a:ext cx="6008051" cy="2132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FA43F5B-065E-43CE-B3FD-98C48A6F94D7}"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998915713"/>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923866" y="570114"/>
            <a:ext cx="7296269" cy="3175255"/>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084707" y="3941369"/>
            <a:ext cx="6974586" cy="768995"/>
          </a:xfrm>
        </p:spPr>
        <p:txBody>
          <a:bodyPr anchor="ctr">
            <a:normAutofit/>
          </a:bodyPr>
          <a:lstStyle>
            <a:lvl1pPr algn="ctr">
              <a:lnSpc>
                <a:spcPct val="90000"/>
              </a:lnSpc>
              <a:defRPr sz="1800" spc="-38" baseline="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084707" y="969818"/>
            <a:ext cx="6974586" cy="2957941"/>
          </a:xfrm>
        </p:spPr>
        <p:txBody>
          <a:bodyPr anchor="ctr">
            <a:normAutofit/>
          </a:bodyPr>
          <a:lstStyle>
            <a:lvl1pPr marL="0" indent="0" algn="ctr">
              <a:lnSpc>
                <a:spcPct val="80000"/>
              </a:lnSpc>
              <a:buNone/>
              <a:defRPr sz="19500" spc="-75"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E5AD3D17-73C9-402C-91E7-BA73E6829C50}" type="datetime1">
              <a:rPr lang="en-US" smtClean="0"/>
              <a:pPr/>
              <a:t>8/19/26</a:t>
            </a:fld>
            <a:endParaRPr lang="en-US"/>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355489133"/>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459486" y="-850392"/>
            <a:ext cx="7989570" cy="6858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7160" y="130303"/>
            <a:ext cx="7856624" cy="3637988"/>
          </a:xfrm>
        </p:spPr>
        <p:txBody>
          <a:bodyPr anchor="t">
            <a:noAutofit/>
          </a:bodyPr>
          <a:lstStyle>
            <a:lvl1pPr marL="0" indent="0">
              <a:lnSpc>
                <a:spcPct val="90000"/>
              </a:lnSpc>
              <a:buNone/>
              <a:defRPr sz="5700" b="0" cap="none" spc="-38" baseline="0"/>
            </a:lvl1pPr>
            <a:lvl2pPr marL="171450" indent="0">
              <a:lnSpc>
                <a:spcPct val="90000"/>
              </a:lnSpc>
              <a:buNone/>
              <a:defRPr sz="4950" b="0" cap="none" spc="-38" baseline="0"/>
            </a:lvl2pPr>
            <a:lvl3pPr marL="342900" indent="0">
              <a:lnSpc>
                <a:spcPct val="90000"/>
              </a:lnSpc>
              <a:buNone/>
              <a:defRPr sz="4500" b="0" cap="none" spc="-38" baseline="0"/>
            </a:lvl3pPr>
            <a:lvl4pPr marL="514350" indent="0">
              <a:lnSpc>
                <a:spcPct val="90000"/>
              </a:lnSpc>
              <a:buNone/>
              <a:defRPr sz="4050" b="0" cap="none" spc="-38" baseline="0"/>
            </a:lvl4pPr>
            <a:lvl5pPr marL="685800" indent="0">
              <a:lnSpc>
                <a:spcPct val="90000"/>
              </a:lnSpc>
              <a:buNone/>
              <a:defRPr sz="3600" b="0" cap="none" spc="-38"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F140A1F3-DA5D-4F2E-B759-748FF8D0ACA9}" type="datetime1">
              <a:rPr lang="en-US" smtClean="0"/>
              <a:pPr/>
              <a:t>8/19/26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552276318"/>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041588" y="3771900"/>
            <a:ext cx="6899148" cy="534924"/>
          </a:xfrm>
        </p:spPr>
        <p:txBody>
          <a:bodyPr anchor="t">
            <a:normAutofit/>
          </a:bodyPr>
          <a:lstStyle>
            <a:lvl1pPr>
              <a:lnSpc>
                <a:spcPct val="90000"/>
              </a:lnSpc>
              <a:defRPr sz="1500" b="1" spc="-38"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041588" y="836676"/>
            <a:ext cx="6899148" cy="2688336"/>
          </a:xfrm>
        </p:spPr>
        <p:txBody>
          <a:bodyPr anchor="ctr">
            <a:normAutofit/>
          </a:bodyPr>
          <a:lstStyle>
            <a:lvl1pPr marL="102870" indent="-102870">
              <a:lnSpc>
                <a:spcPct val="90000"/>
              </a:lnSpc>
              <a:spcBef>
                <a:spcPts val="0"/>
              </a:spcBef>
              <a:buFont typeface="Arial" panose="020B0604020202020204" pitchFamily="34" charset="0"/>
              <a:buNone/>
              <a:defRPr sz="3750" spc="-38"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4D63035D-22A0-4334-A9AE-2457016C8B47}" type="datetime1">
              <a:rPr lang="en-US" smtClean="0"/>
              <a:pPr/>
              <a:t>8/19/26</a:t>
            </a:fld>
            <a:endParaRPr lang="en-US"/>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478114774"/>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60" y="164592"/>
            <a:ext cx="8495028" cy="781173"/>
          </a:xfrm>
        </p:spPr>
        <p:txBody>
          <a:bodyPr/>
          <a:lstStyle/>
          <a:p>
            <a:r>
              <a:rPr lang="en-US"/>
              <a:t>Click to edit Master title style</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37160" y="1234440"/>
            <a:ext cx="4065307" cy="3556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4686300" y="1234440"/>
            <a:ext cx="3945888" cy="3556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E765B10-D26A-480A-9509-A9831C5E60D8}" type="datetime1">
              <a:rPr lang="en-US" smtClean="0"/>
              <a:pPr/>
              <a:t>8/19/26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943671878"/>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35890" y="164593"/>
            <a:ext cx="8455914" cy="592388"/>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35889" y="756980"/>
            <a:ext cx="3909060" cy="419876"/>
          </a:xfrm>
        </p:spPr>
        <p:txBody>
          <a:bodyPr anchor="b">
            <a:normAutofit/>
          </a:bodyPr>
          <a:lstStyle>
            <a:lvl1pPr marL="0" indent="0">
              <a:lnSpc>
                <a:spcPct val="90000"/>
              </a:lnSpc>
              <a:buNone/>
              <a:defRPr sz="12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36223" y="1237088"/>
            <a:ext cx="3909060" cy="32575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84014" y="756980"/>
            <a:ext cx="3909060" cy="419876"/>
          </a:xfrm>
        </p:spPr>
        <p:txBody>
          <a:bodyPr anchor="b">
            <a:normAutofit/>
          </a:bodyPr>
          <a:lstStyle>
            <a:lvl1pPr marL="0" indent="0">
              <a:lnSpc>
                <a:spcPct val="90000"/>
              </a:lnSpc>
              <a:buNone/>
              <a:defRPr sz="12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4684014" y="1237088"/>
            <a:ext cx="3909060" cy="32575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5BCCB42A-67CE-499B-A4FA-7D4E4469B142}" type="datetime1">
              <a:rPr lang="en-US" smtClean="0"/>
              <a:pPr/>
              <a:t>8/19/26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731613830"/>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FA43F5B-065E-43CE-B3FD-98C48A6F94D7}" type="datetime1">
              <a:rPr lang="en-US" smtClean="0"/>
              <a:pPr/>
              <a:t>8/19/26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1119518840"/>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87CFF128-BAC7-4E0D-8F77-28A571D93B6F}" type="datetime1">
              <a:rPr lang="en-US" smtClean="0"/>
              <a:pPr/>
              <a:t>8/19/26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740763981"/>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896" y="155421"/>
            <a:ext cx="8251457" cy="1343025"/>
          </a:xfrm>
        </p:spPr>
        <p:txBody>
          <a:bodyPr anchor="t">
            <a:noAutofit/>
          </a:bodyPr>
          <a:lstStyle>
            <a:lvl1pPr>
              <a:defRPr sz="5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66646" y="2448306"/>
            <a:ext cx="7610708" cy="21259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57987AA-E4E6-4FC1-BAD8-09A952212C58}" type="datetime1">
              <a:rPr lang="en-US" smtClean="0"/>
              <a:pPr/>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380657538"/>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186685" y="816935"/>
            <a:ext cx="4770630" cy="1628787"/>
          </a:xfrm>
        </p:spPr>
        <p:txBody>
          <a:bodyPr anchor="b">
            <a:noAutofit/>
          </a:bodyPr>
          <a:lstStyle>
            <a:lvl1pPr algn="ctr">
              <a:defRPr sz="54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2492148" y="2624910"/>
            <a:ext cx="4157663" cy="1328738"/>
          </a:xfrm>
        </p:spPr>
        <p:txBody>
          <a:bodyPr vert="horz" lIns="91440" tIns="45720" rIns="91440" bIns="45720" rtlCol="0">
            <a:normAutofit/>
          </a:bodyPr>
          <a:lstStyle>
            <a:lvl1pPr marL="0" indent="0" algn="ctr">
              <a:buNone/>
              <a:defRPr lang="en-US" sz="1200" dirty="0"/>
            </a:lvl1pPr>
            <a:lvl2pPr marL="171450" indent="0" algn="ctr">
              <a:buNone/>
              <a:defRPr lang="en-US" sz="1200" dirty="0"/>
            </a:lvl2pPr>
            <a:lvl3pPr marL="342900" indent="0" algn="ctr">
              <a:buNone/>
              <a:defRPr lang="en-US" sz="1200" dirty="0"/>
            </a:lvl3pPr>
            <a:lvl4pPr marL="514350" indent="0" algn="ctr">
              <a:buNone/>
              <a:defRPr lang="en-US" sz="1200" dirty="0"/>
            </a:lvl4pPr>
            <a:lvl5pPr marL="685800" indent="0" algn="ctr">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FA43F5B-065E-43CE-B3FD-98C48A6F94D7}" type="datetime1">
              <a:rPr lang="en-US" smtClean="0"/>
              <a:pPr/>
              <a:t>8/19/26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DE90F28-AFBB-4AB2-AA79-6D3F72ED131B}" type="slidenum">
              <a:rPr lang="en-US" smtClean="0"/>
              <a:pPr/>
              <a:t>‹#›</a:t>
            </a:fld>
            <a:endParaRPr lang="en-US"/>
          </a:p>
        </p:txBody>
      </p:sp>
    </p:spTree>
    <p:extLst>
      <p:ext uri="{BB962C8B-B14F-4D97-AF65-F5344CB8AC3E}">
        <p14:creationId xmlns:p14="http://schemas.microsoft.com/office/powerpoint/2010/main" val="1562852329"/>
      </p:ext>
    </p:extLst>
  </p:cSld>
  <p:clrMapOvr>
    <a:overrideClrMapping bg1="lt1" tx1="dk1" bg2="lt2" tx2="dk2" accent1="accent1" accent2="accent2" accent3="accent3" accent4="accent4" accent5="accent5" accent6="accent6" hlink="hlink" folHlink="folHlink"/>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728686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37160" y="164592"/>
            <a:ext cx="8126730" cy="72694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37160" y="887404"/>
            <a:ext cx="8126730" cy="3816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34028" y="4790346"/>
            <a:ext cx="2027833" cy="253746"/>
          </a:xfrm>
          <a:prstGeom prst="rect">
            <a:avLst/>
          </a:prstGeom>
        </p:spPr>
        <p:txBody>
          <a:bodyPr vert="horz" lIns="91440" tIns="45720" rIns="91440" bIns="45720" rtlCol="0" anchor="ctr"/>
          <a:lstStyle>
            <a:lvl1pPr algn="l">
              <a:defRPr sz="563">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7858125" y="4790346"/>
            <a:ext cx="774063" cy="253746"/>
          </a:xfrm>
          <a:prstGeom prst="rect">
            <a:avLst/>
          </a:prstGeom>
        </p:spPr>
        <p:txBody>
          <a:bodyPr vert="horz" lIns="91440" tIns="45720" rIns="91440" bIns="45720" rtlCol="0" anchor="ctr"/>
          <a:lstStyle>
            <a:lvl1pPr algn="r">
              <a:defRPr sz="563">
                <a:solidFill>
                  <a:schemeClr val="tx1"/>
                </a:solidFill>
              </a:defRPr>
            </a:lvl1pPr>
          </a:lstStyle>
          <a:p>
            <a:fld id="{7FA43F5B-065E-43CE-B3FD-98C48A6F94D7}" type="datetime1">
              <a:rPr lang="en-US" smtClean="0"/>
              <a:pPr/>
              <a:t>8/19/26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632188" y="4790346"/>
            <a:ext cx="342900" cy="253746"/>
          </a:xfrm>
          <a:prstGeom prst="rect">
            <a:avLst/>
          </a:prstGeom>
        </p:spPr>
        <p:txBody>
          <a:bodyPr vert="horz" lIns="91440" tIns="45720" rIns="91440" bIns="45720" rtlCol="0" anchor="ctr"/>
          <a:lstStyle>
            <a:lvl1pPr algn="r">
              <a:defRPr sz="563">
                <a:solidFill>
                  <a:schemeClr val="tx1"/>
                </a:solidFill>
              </a:defRPr>
            </a:lvl1pPr>
          </a:lstStyle>
          <a:p>
            <a:fld id="{2DE90F28-AFBB-4AB2-AA79-6D3F72ED131B}" type="slidenum">
              <a:rPr lang="en-US" smtClean="0"/>
              <a:pPr/>
              <a:t>‹#›</a:t>
            </a:fld>
            <a:endParaRPr lang="en-US"/>
          </a:p>
        </p:txBody>
      </p:sp>
    </p:spTree>
    <p:extLst>
      <p:ext uri="{BB962C8B-B14F-4D97-AF65-F5344CB8AC3E}">
        <p14:creationId xmlns:p14="http://schemas.microsoft.com/office/powerpoint/2010/main" val="2614291671"/>
      </p:ext>
    </p:extLst>
  </p:cSld>
  <p:clrMap bg1="lt1" tx1="dk1" bg2="lt2" tx2="dk2" accent1="accent1" accent2="accent2" accent3="accent3" accent4="accent4" accent5="accent5" accent6="accent6" hlink="hlink" folHlink="folHlink"/>
  <p:sldLayoutIdLst>
    <p:sldLayoutId id="2147483767" r:id="rId1"/>
    <p:sldLayoutId id="2147483768" r:id="rId2"/>
    <p:sldLayoutId id="2147483769" r:id="rId3"/>
    <p:sldLayoutId id="2147483770" r:id="rId4"/>
    <p:sldLayoutId id="2147483771" r:id="rId5"/>
    <p:sldLayoutId id="2147483772" r:id="rId6"/>
    <p:sldLayoutId id="2147483773" r:id="rId7"/>
    <p:sldLayoutId id="2147483774" r:id="rId8"/>
    <p:sldLayoutId id="2147483775" r:id="rId9"/>
    <p:sldLayoutId id="2147483776" r:id="rId10"/>
    <p:sldLayoutId id="2147483777" r:id="rId11"/>
    <p:sldLayoutId id="2147483778" r:id="rId12"/>
    <p:sldLayoutId id="2147483779" r:id="rId13"/>
    <p:sldLayoutId id="2147483780" r:id="rId14"/>
    <p:sldLayoutId id="2147483781" r:id="rId15"/>
    <p:sldLayoutId id="2147483782" r:id="rId16"/>
    <p:sldLayoutId id="2147483783" r:id="rId17"/>
    <p:sldLayoutId id="2147483784" r:id="rId18"/>
    <p:sldLayoutId id="2147483785" r:id="rId19"/>
    <p:sldLayoutId id="2147483786" r:id="rId20"/>
    <p:sldLayoutId id="2147483787" r:id="rId21"/>
    <p:sldLayoutId id="2147483788" r:id="rId22"/>
    <p:sldLayoutId id="2147483789" r:id="rId23"/>
    <p:sldLayoutId id="2147483790" r:id="rId24"/>
    <p:sldLayoutId id="2147483791" r:id="rId25"/>
    <p:sldLayoutId id="2147483792" r:id="rId26"/>
    <p:sldLayoutId id="2147483793" r:id="rId27"/>
    <p:sldLayoutId id="2147483794" r:id="rId28"/>
  </p:sldLayoutIdLst>
  <p:hf sldNum="0" hdr="0" ftr="0" dt="0"/>
  <p:txStyles>
    <p:titleStyle>
      <a:lvl1pPr algn="l" defTabSz="685800" rtl="0" eaLnBrk="1" latinLnBrk="0" hangingPunct="1">
        <a:lnSpc>
          <a:spcPct val="85000"/>
        </a:lnSpc>
        <a:spcBef>
          <a:spcPct val="0"/>
        </a:spcBef>
        <a:buNone/>
        <a:defRPr sz="2250" b="0" kern="1200" spc="-75" baseline="0">
          <a:solidFill>
            <a:schemeClr val="tx1"/>
          </a:solidFill>
          <a:latin typeface="+mj-lt"/>
          <a:ea typeface="+mj-ea"/>
          <a:cs typeface="+mj-cs"/>
        </a:defRPr>
      </a:lvl1pPr>
    </p:titleStyle>
    <p:bodyStyle>
      <a:lvl1pPr marL="214313" indent="-214313" algn="l" defTabSz="685800" rtl="0" eaLnBrk="1" latinLnBrk="0" hangingPunct="1">
        <a:lnSpc>
          <a:spcPct val="120000"/>
        </a:lnSpc>
        <a:spcBef>
          <a:spcPts val="750"/>
        </a:spcBef>
        <a:buFont typeface="Arial" panose="020B0604020202020204" pitchFamily="34" charset="0"/>
        <a:buChar char="•"/>
        <a:defRPr sz="1050" kern="1200">
          <a:solidFill>
            <a:schemeClr val="tx1"/>
          </a:solidFill>
          <a:latin typeface="+mn-lt"/>
          <a:ea typeface="+mn-ea"/>
          <a:cs typeface="+mn-cs"/>
        </a:defRPr>
      </a:lvl1pPr>
      <a:lvl2pPr marL="385763" indent="-214313"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2pPr>
      <a:lvl3pPr marL="557213" indent="-214313"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3pPr>
      <a:lvl4pPr marL="728663" indent="-214313"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900113" indent="-214313"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640080" y="914400"/>
            <a:ext cx="7772400" cy="1828800"/>
          </a:xfrm>
          <a:prstGeom prst="rect">
            <a:avLst/>
          </a:prstGeom>
          <a:noFill/>
          <a:ln/>
        </p:spPr>
        <p:txBody>
          <a:bodyPr wrap="square" lIns="0" tIns="0" rIns="0" bIns="0" rtlCol="0" anchor="ctr"/>
          <a:lstStyle/>
          <a:p>
            <a:pPr marL="0" indent="0" algn="l">
              <a:lnSpc>
                <a:spcPct val="110000"/>
              </a:lnSpc>
              <a:buNone/>
            </a:pPr>
            <a:r>
              <a:rPr lang="en-US" sz="4000" b="1" dirty="0">
                <a:latin typeface="Georgia" pitchFamily="34" charset="0"/>
                <a:ea typeface="Georgia" pitchFamily="34" charset="-122"/>
                <a:cs typeface="Georgia" pitchFamily="34" charset="-120"/>
              </a:rPr>
              <a:t>AI-Powered SRE</a:t>
            </a:r>
            <a:endParaRPr lang="en-US" sz="4000" dirty="0"/>
          </a:p>
          <a:p>
            <a:pPr marL="0" indent="0" algn="l">
              <a:lnSpc>
                <a:spcPct val="110000"/>
              </a:lnSpc>
              <a:buNone/>
            </a:pPr>
            <a:r>
              <a:rPr lang="en-US" sz="4000" b="1" dirty="0">
                <a:latin typeface="Georgia" pitchFamily="34" charset="0"/>
                <a:ea typeface="Georgia" pitchFamily="34" charset="-122"/>
                <a:cs typeface="Georgia" pitchFamily="34" charset="-120"/>
              </a:rPr>
              <a:t>Intelligence Layer</a:t>
            </a:r>
            <a:endParaRPr lang="en-US" sz="4000" dirty="0"/>
          </a:p>
        </p:txBody>
      </p:sp>
      <p:sp>
        <p:nvSpPr>
          <p:cNvPr id="4" name="Text 2"/>
          <p:cNvSpPr/>
          <p:nvPr/>
        </p:nvSpPr>
        <p:spPr>
          <a:xfrm>
            <a:off x="640080" y="2651760"/>
            <a:ext cx="7315200" cy="411480"/>
          </a:xfrm>
          <a:prstGeom prst="rect">
            <a:avLst/>
          </a:prstGeom>
          <a:noFill/>
          <a:ln/>
        </p:spPr>
        <p:txBody>
          <a:bodyPr wrap="square" lIns="0" tIns="0" rIns="0" bIns="0" rtlCol="0" anchor="ctr"/>
          <a:lstStyle/>
          <a:p>
            <a:pPr marL="0" indent="0" algn="l">
              <a:buNone/>
            </a:pPr>
            <a:r>
              <a:rPr lang="en-US" sz="1600" b="1" kern="0" spc="100" dirty="0">
                <a:latin typeface="Trebuchet MS" pitchFamily="34" charset="0"/>
                <a:ea typeface="Trebuchet MS" pitchFamily="34" charset="-122"/>
                <a:cs typeface="Trebuchet MS" pitchFamily="34" charset="-120"/>
              </a:rPr>
              <a:t>LangGraph  +  MCP  +  Gemini Enterprise Agent Platform</a:t>
            </a:r>
            <a:endParaRPr lang="en-US" sz="1600" dirty="0"/>
          </a:p>
        </p:txBody>
      </p:sp>
      <p:sp>
        <p:nvSpPr>
          <p:cNvPr id="5" name="Shape 3"/>
          <p:cNvSpPr/>
          <p:nvPr/>
        </p:nvSpPr>
        <p:spPr>
          <a:xfrm>
            <a:off x="640080" y="3200400"/>
            <a:ext cx="2286000" cy="0"/>
          </a:xfrm>
          <a:prstGeom prst="line">
            <a:avLst/>
          </a:prstGeom>
          <a:noFill/>
          <a:ln w="38100">
            <a:solidFill>
              <a:srgbClr val="E8751A"/>
            </a:solidFill>
            <a:prstDash val="solid"/>
          </a:ln>
        </p:spPr>
        <p:txBody>
          <a:bodyPr/>
          <a:lstStyle/>
          <a:p>
            <a:endParaRPr lang="en-US"/>
          </a:p>
        </p:txBody>
      </p:sp>
      <p:sp>
        <p:nvSpPr>
          <p:cNvPr id="6" name="Text 4"/>
          <p:cNvSpPr/>
          <p:nvPr/>
        </p:nvSpPr>
        <p:spPr>
          <a:xfrm>
            <a:off x="640080" y="3383280"/>
            <a:ext cx="7315200" cy="365760"/>
          </a:xfrm>
          <a:prstGeom prst="rect">
            <a:avLst/>
          </a:prstGeom>
          <a:noFill/>
          <a:ln/>
        </p:spPr>
        <p:txBody>
          <a:bodyPr wrap="square" lIns="0" tIns="0" rIns="0" bIns="0" rtlCol="0" anchor="ctr"/>
          <a:lstStyle/>
          <a:p>
            <a:pPr marL="0" indent="0" algn="l">
              <a:buNone/>
            </a:pPr>
            <a:r>
              <a:rPr lang="en-US" sz="1400" i="1" dirty="0">
                <a:latin typeface="Calibri" pitchFamily="34" charset="0"/>
                <a:ea typeface="Calibri" pitchFamily="34" charset="-122"/>
                <a:cs typeface="Calibri" pitchFamily="34" charset="-120"/>
              </a:rPr>
              <a:t>Human-in-the-Loop Operational AI Assistant</a:t>
            </a:r>
            <a:endParaRPr lang="en-US" sz="1400" dirty="0"/>
          </a:p>
        </p:txBody>
      </p:sp>
      <p:sp>
        <p:nvSpPr>
          <p:cNvPr id="7" name="Text 5"/>
          <p:cNvSpPr/>
          <p:nvPr/>
        </p:nvSpPr>
        <p:spPr>
          <a:xfrm>
            <a:off x="640080" y="3794760"/>
            <a:ext cx="7315200" cy="365760"/>
          </a:xfrm>
          <a:prstGeom prst="rect">
            <a:avLst/>
          </a:prstGeom>
          <a:noFill/>
          <a:ln/>
        </p:spPr>
        <p:txBody>
          <a:bodyPr wrap="square" lIns="0" tIns="0" rIns="0" bIns="0" rtlCol="0" anchor="ctr"/>
          <a:lstStyle/>
          <a:p>
            <a:pPr marL="0" indent="0" algn="l">
              <a:buNone/>
            </a:pPr>
            <a:r>
              <a:rPr lang="en-US" sz="1300" dirty="0">
                <a:latin typeface="Calibri" pitchFamily="34" charset="0"/>
                <a:ea typeface="Calibri" pitchFamily="34" charset="-122"/>
                <a:cs typeface="Calibri" pitchFamily="34" charset="-120"/>
              </a:rPr>
              <a:t>Enhancing incident investigation and operational insights for SRE teams</a:t>
            </a:r>
            <a:endParaRPr lang="en-US" sz="1300" dirty="0"/>
          </a:p>
        </p:txBody>
      </p:sp>
      <p:sp>
        <p:nvSpPr>
          <p:cNvPr id="8" name="Text 6"/>
          <p:cNvSpPr/>
          <p:nvPr/>
        </p:nvSpPr>
        <p:spPr>
          <a:xfrm>
            <a:off x="640080" y="4389120"/>
            <a:ext cx="4572000" cy="548640"/>
          </a:xfrm>
          <a:prstGeom prst="rect">
            <a:avLst/>
          </a:prstGeom>
          <a:noFill/>
          <a:ln/>
        </p:spPr>
        <p:txBody>
          <a:bodyPr wrap="square" lIns="0" tIns="0" rIns="0" bIns="0" rtlCol="0" anchor="ctr"/>
          <a:lstStyle/>
          <a:p>
            <a:pPr marL="0" indent="0" algn="l">
              <a:buNone/>
            </a:pPr>
            <a:r>
              <a:rPr lang="en-US" sz="1200" b="1" dirty="0">
                <a:latin typeface="Calibri" pitchFamily="34" charset="0"/>
                <a:ea typeface="Calibri" pitchFamily="34" charset="-122"/>
                <a:cs typeface="Calibri" pitchFamily="34" charset="-120"/>
              </a:rPr>
              <a:t>Ashwadeep Vaishnav</a:t>
            </a:r>
            <a:endParaRPr lang="en-US" sz="1200" dirty="0"/>
          </a:p>
          <a:p>
            <a:pPr marL="0" indent="0" algn="l">
              <a:buNone/>
            </a:pPr>
            <a:r>
              <a:rPr lang="en-US" sz="1100" dirty="0">
                <a:latin typeface="Calibri" pitchFamily="34" charset="0"/>
                <a:ea typeface="Calibri" pitchFamily="34" charset="-122"/>
                <a:cs typeface="Calibri" pitchFamily="34" charset="-120"/>
              </a:rPr>
              <a:t>SRE / CloudOps  ·  Sectigo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548640"/>
            <a:ext cx="8229600" cy="548640"/>
          </a:xfrm>
          <a:prstGeom prst="rect">
            <a:avLst/>
          </a:prstGeom>
          <a:noFill/>
          <a:ln/>
        </p:spPr>
        <p:txBody>
          <a:bodyPr wrap="square" lIns="0" tIns="0" rIns="0" bIns="0" rtlCol="0" anchor="ctr"/>
          <a:lstStyle/>
          <a:p>
            <a:pPr marL="0" indent="0">
              <a:buNone/>
            </a:pPr>
            <a:r>
              <a:rPr lang="en-US" sz="3600" b="1" dirty="0">
                <a:latin typeface="Georgia" pitchFamily="34" charset="0"/>
                <a:ea typeface="Georgia" pitchFamily="34" charset="-122"/>
                <a:cs typeface="Georgia" pitchFamily="34" charset="-120"/>
              </a:rPr>
              <a:t>Introductions</a:t>
            </a:r>
            <a:endParaRPr lang="en-US" sz="3600" dirty="0"/>
          </a:p>
        </p:txBody>
      </p:sp>
      <p:sp>
        <p:nvSpPr>
          <p:cNvPr id="4" name="Shape 2"/>
          <p:cNvSpPr/>
          <p:nvPr/>
        </p:nvSpPr>
        <p:spPr>
          <a:xfrm>
            <a:off x="640080" y="1371600"/>
            <a:ext cx="5029200" cy="2560320"/>
          </a:xfrm>
          <a:prstGeom prst="rect">
            <a:avLst/>
          </a:prstGeom>
          <a:solidFill>
            <a:srgbClr val="1E1E1E"/>
          </a:solidFill>
          <a:ln w="12700">
            <a:solidFill>
              <a:srgbClr val="333333"/>
            </a:solidFill>
            <a:prstDash val="solid"/>
          </a:ln>
          <a:effectLst>
            <a:outerShdw blurRad="50800" dist="25400" dir="8100000" algn="bl" rotWithShape="0">
              <a:srgbClr val="000000">
                <a:alpha val="30000"/>
              </a:srgbClr>
            </a:outerShdw>
          </a:effectLst>
        </p:spPr>
        <p:txBody>
          <a:bodyPr/>
          <a:lstStyle/>
          <a:p>
            <a:endParaRPr lang="en-US"/>
          </a:p>
        </p:txBody>
      </p:sp>
      <p:sp>
        <p:nvSpPr>
          <p:cNvPr id="5" name="Text 3"/>
          <p:cNvSpPr/>
          <p:nvPr/>
        </p:nvSpPr>
        <p:spPr>
          <a:xfrm>
            <a:off x="914400" y="1554480"/>
            <a:ext cx="4572000" cy="2194560"/>
          </a:xfrm>
          <a:prstGeom prst="rect">
            <a:avLst/>
          </a:prstGeom>
          <a:noFill/>
          <a:ln/>
        </p:spPr>
        <p:txBody>
          <a:bodyPr wrap="square" lIns="0" tIns="0" rIns="0" bIns="0" rtlCol="0" anchor="ctr"/>
          <a:lstStyle/>
          <a:p>
            <a:pPr marL="0" indent="0">
              <a:buNone/>
            </a:pPr>
            <a:r>
              <a:rPr lang="en-US" sz="1400" b="1" dirty="0">
                <a:solidFill>
                  <a:srgbClr val="3CB371"/>
                </a:solidFill>
                <a:latin typeface="Consolas" pitchFamily="34" charset="0"/>
                <a:ea typeface="Consolas" pitchFamily="34" charset="-122"/>
                <a:cs typeface="Consolas" pitchFamily="34" charset="-120"/>
              </a:rPr>
              <a:t>$ whoami</a:t>
            </a: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Ashwadeep Vaishnav — SRE / CloudOps</a:t>
            </a:r>
            <a:endParaRPr lang="en-US" sz="1400" dirty="0"/>
          </a:p>
          <a:p>
            <a:pPr marL="0" indent="0">
              <a:buNone/>
            </a:pPr>
            <a:endParaRPr lang="en-US" sz="1400" dirty="0"/>
          </a:p>
          <a:p>
            <a:pPr marL="0" indent="0">
              <a:buNone/>
            </a:pPr>
            <a:r>
              <a:rPr lang="en-US" sz="1400" b="1" dirty="0">
                <a:solidFill>
                  <a:srgbClr val="3CB371"/>
                </a:solidFill>
                <a:latin typeface="Consolas" pitchFamily="34" charset="0"/>
                <a:ea typeface="Consolas" pitchFamily="34" charset="-122"/>
                <a:cs typeface="Consolas" pitchFamily="34" charset="-120"/>
              </a:rPr>
              <a:t>$ locate</a:t>
            </a: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Ottawa, Canada</a:t>
            </a:r>
            <a:endParaRPr lang="en-US" sz="1400" dirty="0"/>
          </a:p>
          <a:p>
            <a:pPr marL="0" indent="0">
              <a:buNone/>
            </a:pPr>
            <a:endParaRPr lang="en-US" sz="1400" dirty="0"/>
          </a:p>
          <a:p>
            <a:pPr marL="0" indent="0">
              <a:buNone/>
            </a:pPr>
            <a:r>
              <a:rPr lang="en-US" sz="1400" b="1" dirty="0">
                <a:solidFill>
                  <a:srgbClr val="3CB371"/>
                </a:solidFill>
                <a:latin typeface="Consolas" pitchFamily="34" charset="0"/>
                <a:ea typeface="Consolas" pitchFamily="34" charset="-122"/>
                <a:cs typeface="Consolas" pitchFamily="34" charset="-120"/>
              </a:rPr>
              <a:t>$ cat passion.txt</a:t>
            </a: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AI + SRE · Cloud Infrastructure · Automation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502920"/>
            <a:ext cx="8229600" cy="502920"/>
          </a:xfrm>
          <a:prstGeom prst="rect">
            <a:avLst/>
          </a:prstGeom>
          <a:noFill/>
          <a:ln/>
        </p:spPr>
        <p:txBody>
          <a:bodyPr wrap="square" lIns="0" tIns="0" rIns="0" bIns="0" rtlCol="0" anchor="ctr"/>
          <a:lstStyle/>
          <a:p>
            <a:pPr marL="0" indent="0">
              <a:buNone/>
            </a:pPr>
            <a:r>
              <a:rPr lang="en-US" sz="3600" b="1" dirty="0">
                <a:latin typeface="Georgia" pitchFamily="34" charset="0"/>
                <a:ea typeface="Georgia" pitchFamily="34" charset="-122"/>
                <a:cs typeface="Georgia" pitchFamily="34" charset="-120"/>
              </a:rPr>
              <a:t>Agenda</a:t>
            </a:r>
            <a:endParaRPr lang="en-US" sz="3600" dirty="0"/>
          </a:p>
        </p:txBody>
      </p:sp>
      <p:sp>
        <p:nvSpPr>
          <p:cNvPr id="4" name="Shape 2"/>
          <p:cNvSpPr/>
          <p:nvPr/>
        </p:nvSpPr>
        <p:spPr>
          <a:xfrm>
            <a:off x="640080" y="1280160"/>
            <a:ext cx="384048" cy="384048"/>
          </a:xfrm>
          <a:prstGeom prst="ellipse">
            <a:avLst/>
          </a:prstGeom>
          <a:solidFill>
            <a:srgbClr val="E74C3C"/>
          </a:solidFill>
          <a:ln/>
        </p:spPr>
        <p:txBody>
          <a:bodyPr/>
          <a:lstStyle/>
          <a:p>
            <a:endParaRPr lang="en-US"/>
          </a:p>
        </p:txBody>
      </p:sp>
      <p:sp>
        <p:nvSpPr>
          <p:cNvPr id="5" name="Text 3"/>
          <p:cNvSpPr/>
          <p:nvPr/>
        </p:nvSpPr>
        <p:spPr>
          <a:xfrm>
            <a:off x="640080" y="128016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01</a:t>
            </a:r>
            <a:endParaRPr lang="en-US" sz="1100" dirty="0"/>
          </a:p>
        </p:txBody>
      </p:sp>
      <p:sp>
        <p:nvSpPr>
          <p:cNvPr id="6" name="Text 4"/>
          <p:cNvSpPr/>
          <p:nvPr/>
        </p:nvSpPr>
        <p:spPr>
          <a:xfrm>
            <a:off x="1188720" y="123444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The Problem</a:t>
            </a:r>
            <a:endParaRPr lang="en-US" sz="1400" dirty="0"/>
          </a:p>
        </p:txBody>
      </p:sp>
      <p:sp>
        <p:nvSpPr>
          <p:cNvPr id="7" name="Text 5"/>
          <p:cNvSpPr/>
          <p:nvPr/>
        </p:nvSpPr>
        <p:spPr>
          <a:xfrm>
            <a:off x="1188720" y="147218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Operational complexity &amp; SRE challenges</a:t>
            </a:r>
            <a:endParaRPr lang="en-US" sz="1000" dirty="0"/>
          </a:p>
        </p:txBody>
      </p:sp>
      <p:sp>
        <p:nvSpPr>
          <p:cNvPr id="8" name="Shape 6"/>
          <p:cNvSpPr/>
          <p:nvPr/>
        </p:nvSpPr>
        <p:spPr>
          <a:xfrm>
            <a:off x="640080" y="1828800"/>
            <a:ext cx="384048" cy="384048"/>
          </a:xfrm>
          <a:prstGeom prst="ellipse">
            <a:avLst/>
          </a:prstGeom>
          <a:solidFill>
            <a:srgbClr val="E8751A"/>
          </a:solidFill>
          <a:ln/>
        </p:spPr>
        <p:txBody>
          <a:bodyPr/>
          <a:lstStyle/>
          <a:p>
            <a:endParaRPr lang="en-US"/>
          </a:p>
        </p:txBody>
      </p:sp>
      <p:sp>
        <p:nvSpPr>
          <p:cNvPr id="9" name="Text 7"/>
          <p:cNvSpPr/>
          <p:nvPr/>
        </p:nvSpPr>
        <p:spPr>
          <a:xfrm>
            <a:off x="640080" y="182880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02</a:t>
            </a:r>
            <a:endParaRPr lang="en-US" sz="1100" dirty="0"/>
          </a:p>
        </p:txBody>
      </p:sp>
      <p:sp>
        <p:nvSpPr>
          <p:cNvPr id="10" name="Text 8"/>
          <p:cNvSpPr/>
          <p:nvPr/>
        </p:nvSpPr>
        <p:spPr>
          <a:xfrm>
            <a:off x="1188720" y="178308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The Vision</a:t>
            </a:r>
            <a:endParaRPr lang="en-US" sz="1400" dirty="0"/>
          </a:p>
        </p:txBody>
      </p:sp>
      <p:sp>
        <p:nvSpPr>
          <p:cNvPr id="11" name="Text 9"/>
          <p:cNvSpPr/>
          <p:nvPr/>
        </p:nvSpPr>
        <p:spPr>
          <a:xfrm>
            <a:off x="1188720" y="202082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AI Intelligence Layer &amp; workflow transformation</a:t>
            </a:r>
            <a:endParaRPr lang="en-US" sz="1000" dirty="0"/>
          </a:p>
        </p:txBody>
      </p:sp>
      <p:sp>
        <p:nvSpPr>
          <p:cNvPr id="12" name="Shape 10"/>
          <p:cNvSpPr/>
          <p:nvPr/>
        </p:nvSpPr>
        <p:spPr>
          <a:xfrm>
            <a:off x="640080" y="2377440"/>
            <a:ext cx="384048" cy="384048"/>
          </a:xfrm>
          <a:prstGeom prst="ellipse">
            <a:avLst/>
          </a:prstGeom>
          <a:solidFill>
            <a:srgbClr val="1ABC9C"/>
          </a:solidFill>
          <a:ln/>
        </p:spPr>
        <p:txBody>
          <a:bodyPr/>
          <a:lstStyle/>
          <a:p>
            <a:endParaRPr lang="en-US"/>
          </a:p>
        </p:txBody>
      </p:sp>
      <p:sp>
        <p:nvSpPr>
          <p:cNvPr id="13" name="Text 11"/>
          <p:cNvSpPr/>
          <p:nvPr/>
        </p:nvSpPr>
        <p:spPr>
          <a:xfrm>
            <a:off x="640080" y="237744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03</a:t>
            </a:r>
            <a:endParaRPr lang="en-US" sz="1100" dirty="0"/>
          </a:p>
        </p:txBody>
      </p:sp>
      <p:sp>
        <p:nvSpPr>
          <p:cNvPr id="14" name="Text 12"/>
          <p:cNvSpPr/>
          <p:nvPr/>
        </p:nvSpPr>
        <p:spPr>
          <a:xfrm>
            <a:off x="1188720" y="233172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How We Built It</a:t>
            </a:r>
            <a:endParaRPr lang="en-US" sz="1400" dirty="0"/>
          </a:p>
        </p:txBody>
      </p:sp>
      <p:sp>
        <p:nvSpPr>
          <p:cNvPr id="15" name="Text 13"/>
          <p:cNvSpPr/>
          <p:nvPr/>
        </p:nvSpPr>
        <p:spPr>
          <a:xfrm>
            <a:off x="1188720" y="256946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Architecture, LangGraph, MCP &amp; agent reasoning</a:t>
            </a:r>
            <a:endParaRPr lang="en-US" sz="1000" dirty="0"/>
          </a:p>
        </p:txBody>
      </p:sp>
      <p:sp>
        <p:nvSpPr>
          <p:cNvPr id="16" name="Shape 14"/>
          <p:cNvSpPr/>
          <p:nvPr/>
        </p:nvSpPr>
        <p:spPr>
          <a:xfrm>
            <a:off x="640080" y="2926080"/>
            <a:ext cx="384048" cy="384048"/>
          </a:xfrm>
          <a:prstGeom prst="ellipse">
            <a:avLst/>
          </a:prstGeom>
          <a:solidFill>
            <a:srgbClr val="F4C542"/>
          </a:solidFill>
          <a:ln/>
        </p:spPr>
        <p:txBody>
          <a:bodyPr/>
          <a:lstStyle/>
          <a:p>
            <a:endParaRPr lang="en-US"/>
          </a:p>
        </p:txBody>
      </p:sp>
      <p:sp>
        <p:nvSpPr>
          <p:cNvPr id="17" name="Text 15"/>
          <p:cNvSpPr/>
          <p:nvPr/>
        </p:nvSpPr>
        <p:spPr>
          <a:xfrm>
            <a:off x="640080" y="292608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04</a:t>
            </a:r>
            <a:endParaRPr lang="en-US" sz="1100" dirty="0"/>
          </a:p>
        </p:txBody>
      </p:sp>
      <p:sp>
        <p:nvSpPr>
          <p:cNvPr id="18" name="Text 16"/>
          <p:cNvSpPr/>
          <p:nvPr/>
        </p:nvSpPr>
        <p:spPr>
          <a:xfrm>
            <a:off x="1188720" y="288036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Security &amp; Trust</a:t>
            </a:r>
            <a:endParaRPr lang="en-US" sz="1400" dirty="0"/>
          </a:p>
        </p:txBody>
      </p:sp>
      <p:sp>
        <p:nvSpPr>
          <p:cNvPr id="19" name="Text 17"/>
          <p:cNvSpPr/>
          <p:nvPr/>
        </p:nvSpPr>
        <p:spPr>
          <a:xfrm>
            <a:off x="1188720" y="311810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Authentication, governance &amp; data handling</a:t>
            </a:r>
            <a:endParaRPr lang="en-US" sz="1000" dirty="0"/>
          </a:p>
        </p:txBody>
      </p:sp>
      <p:sp>
        <p:nvSpPr>
          <p:cNvPr id="20" name="Shape 18"/>
          <p:cNvSpPr/>
          <p:nvPr/>
        </p:nvSpPr>
        <p:spPr>
          <a:xfrm>
            <a:off x="640080" y="3474720"/>
            <a:ext cx="384048" cy="384048"/>
          </a:xfrm>
          <a:prstGeom prst="ellipse">
            <a:avLst/>
          </a:prstGeom>
          <a:solidFill>
            <a:srgbClr val="3CB371"/>
          </a:solidFill>
          <a:ln/>
        </p:spPr>
        <p:txBody>
          <a:bodyPr/>
          <a:lstStyle/>
          <a:p>
            <a:endParaRPr lang="en-US"/>
          </a:p>
        </p:txBody>
      </p:sp>
      <p:sp>
        <p:nvSpPr>
          <p:cNvPr id="21" name="Text 19"/>
          <p:cNvSpPr/>
          <p:nvPr/>
        </p:nvSpPr>
        <p:spPr>
          <a:xfrm>
            <a:off x="640080" y="347472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05</a:t>
            </a:r>
            <a:endParaRPr lang="en-US" sz="1100" dirty="0"/>
          </a:p>
        </p:txBody>
      </p:sp>
      <p:sp>
        <p:nvSpPr>
          <p:cNvPr id="22" name="Text 20"/>
          <p:cNvSpPr/>
          <p:nvPr/>
        </p:nvSpPr>
        <p:spPr>
          <a:xfrm>
            <a:off x="1188720" y="342900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Proof It Works</a:t>
            </a:r>
            <a:endParaRPr lang="en-US" sz="1400" dirty="0"/>
          </a:p>
        </p:txBody>
      </p:sp>
      <p:sp>
        <p:nvSpPr>
          <p:cNvPr id="23" name="Text 21"/>
          <p:cNvSpPr/>
          <p:nvPr/>
        </p:nvSpPr>
        <p:spPr>
          <a:xfrm>
            <a:off x="1188720" y="366674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Live demo &amp; observability</a:t>
            </a:r>
            <a:endParaRPr lang="en-US" sz="1000" dirty="0"/>
          </a:p>
        </p:txBody>
      </p:sp>
      <p:sp>
        <p:nvSpPr>
          <p:cNvPr id="24" name="Shape 22"/>
          <p:cNvSpPr/>
          <p:nvPr/>
        </p:nvSpPr>
        <p:spPr>
          <a:xfrm>
            <a:off x="640080" y="4023360"/>
            <a:ext cx="384048" cy="384048"/>
          </a:xfrm>
          <a:prstGeom prst="ellipse">
            <a:avLst/>
          </a:prstGeom>
          <a:solidFill>
            <a:srgbClr val="3498DB"/>
          </a:solidFill>
          <a:ln/>
        </p:spPr>
        <p:txBody>
          <a:bodyPr/>
          <a:lstStyle/>
          <a:p>
            <a:endParaRPr lang="en-US"/>
          </a:p>
        </p:txBody>
      </p:sp>
      <p:sp>
        <p:nvSpPr>
          <p:cNvPr id="25" name="Text 23"/>
          <p:cNvSpPr/>
          <p:nvPr/>
        </p:nvSpPr>
        <p:spPr>
          <a:xfrm>
            <a:off x="640080" y="402336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06</a:t>
            </a:r>
            <a:endParaRPr lang="en-US" sz="1100" dirty="0"/>
          </a:p>
        </p:txBody>
      </p:sp>
      <p:sp>
        <p:nvSpPr>
          <p:cNvPr id="26" name="Text 24"/>
          <p:cNvSpPr/>
          <p:nvPr/>
        </p:nvSpPr>
        <p:spPr>
          <a:xfrm>
            <a:off x="1188720" y="397764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Cost &amp; Value</a:t>
            </a:r>
            <a:endParaRPr lang="en-US" sz="1400" dirty="0"/>
          </a:p>
        </p:txBody>
      </p:sp>
      <p:sp>
        <p:nvSpPr>
          <p:cNvPr id="27" name="Text 25"/>
          <p:cNvSpPr/>
          <p:nvPr/>
        </p:nvSpPr>
        <p:spPr>
          <a:xfrm>
            <a:off x="1188720" y="421538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Pricing model &amp; success metrics</a:t>
            </a:r>
            <a:endParaRPr lang="en-US" sz="1000" dirty="0"/>
          </a:p>
        </p:txBody>
      </p:sp>
      <p:sp>
        <p:nvSpPr>
          <p:cNvPr id="28" name="Shape 26"/>
          <p:cNvSpPr/>
          <p:nvPr/>
        </p:nvSpPr>
        <p:spPr>
          <a:xfrm>
            <a:off x="640080" y="4572000"/>
            <a:ext cx="384048" cy="384048"/>
          </a:xfrm>
          <a:prstGeom prst="ellipse">
            <a:avLst/>
          </a:prstGeom>
          <a:solidFill>
            <a:srgbClr val="9B59B6"/>
          </a:solidFill>
          <a:ln/>
        </p:spPr>
        <p:txBody>
          <a:bodyPr/>
          <a:lstStyle/>
          <a:p>
            <a:endParaRPr lang="en-US"/>
          </a:p>
        </p:txBody>
      </p:sp>
      <p:sp>
        <p:nvSpPr>
          <p:cNvPr id="29" name="Text 27"/>
          <p:cNvSpPr/>
          <p:nvPr/>
        </p:nvSpPr>
        <p:spPr>
          <a:xfrm>
            <a:off x="640080" y="4572000"/>
            <a:ext cx="384048" cy="384048"/>
          </a:xfrm>
          <a:prstGeom prst="rect">
            <a:avLst/>
          </a:prstGeom>
          <a:noFill/>
          <a:ln/>
        </p:spPr>
        <p:txBody>
          <a:bodyPr wrap="square" lIns="0" tIns="0" rIns="0" bIns="0" rtlCol="0" anchor="ctr"/>
          <a:lstStyle/>
          <a:p>
            <a:pPr marL="0" indent="0" algn="ctr">
              <a:buNone/>
            </a:pPr>
            <a:r>
              <a:rPr lang="en-US" sz="1100" b="1" dirty="0">
                <a:latin typeface="Trebuchet MS" pitchFamily="34" charset="0"/>
                <a:ea typeface="Trebuchet MS" pitchFamily="34" charset="-122"/>
                <a:cs typeface="Trebuchet MS" pitchFamily="34" charset="-120"/>
              </a:rPr>
              <a:t>07</a:t>
            </a:r>
            <a:endParaRPr lang="en-US" sz="1100" dirty="0"/>
          </a:p>
        </p:txBody>
      </p:sp>
      <p:sp>
        <p:nvSpPr>
          <p:cNvPr id="30" name="Text 28"/>
          <p:cNvSpPr/>
          <p:nvPr/>
        </p:nvSpPr>
        <p:spPr>
          <a:xfrm>
            <a:off x="1188720" y="4526280"/>
            <a:ext cx="2743200" cy="256032"/>
          </a:xfrm>
          <a:prstGeom prst="rect">
            <a:avLst/>
          </a:prstGeom>
          <a:noFill/>
          <a:ln/>
        </p:spPr>
        <p:txBody>
          <a:bodyPr wrap="square" lIns="0" tIns="0" rIns="0" bIns="0" rtlCol="0" anchor="ctr"/>
          <a:lstStyle/>
          <a:p>
            <a:pPr marL="0" indent="0" algn="l">
              <a:buNone/>
            </a:pPr>
            <a:r>
              <a:rPr lang="en-US" sz="1400" b="1" dirty="0">
                <a:latin typeface="Trebuchet MS" pitchFamily="34" charset="0"/>
                <a:ea typeface="Trebuchet MS" pitchFamily="34" charset="-122"/>
                <a:cs typeface="Trebuchet MS" pitchFamily="34" charset="-120"/>
              </a:rPr>
              <a:t>What's Next</a:t>
            </a:r>
            <a:endParaRPr lang="en-US" sz="1400" dirty="0"/>
          </a:p>
        </p:txBody>
      </p:sp>
      <p:sp>
        <p:nvSpPr>
          <p:cNvPr id="31" name="Text 29"/>
          <p:cNvSpPr/>
          <p:nvPr/>
        </p:nvSpPr>
        <p:spPr>
          <a:xfrm>
            <a:off x="1188720" y="4764024"/>
            <a:ext cx="4572000" cy="219456"/>
          </a:xfrm>
          <a:prstGeom prst="rect">
            <a:avLst/>
          </a:prstGeom>
          <a:noFill/>
          <a:ln/>
        </p:spPr>
        <p:txBody>
          <a:bodyPr wrap="square" lIns="0" tIns="0" rIns="0" bIns="0" rtlCol="0" anchor="ctr"/>
          <a:lstStyle/>
          <a:p>
            <a:pPr marL="0" indent="0" algn="l">
              <a:buNone/>
            </a:pPr>
            <a:r>
              <a:rPr lang="en-US" sz="1000" dirty="0">
                <a:latin typeface="Calibri" pitchFamily="34" charset="0"/>
                <a:ea typeface="Calibri" pitchFamily="34" charset="-122"/>
                <a:cs typeface="Calibri" pitchFamily="34" charset="-120"/>
              </a:rPr>
              <a:t>Roadmap, adoption plan &amp; cloud strategy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01</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The Problem</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Why the current approach isn't scaling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330452"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330452"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THE PROBLEM</a:t>
            </a:r>
            <a:endParaRPr lang="en-US" sz="800" dirty="0"/>
          </a:p>
        </p:txBody>
      </p:sp>
      <p:sp>
        <p:nvSpPr>
          <p:cNvPr id="5" name="Text 3"/>
          <p:cNvSpPr/>
          <p:nvPr/>
        </p:nvSpPr>
        <p:spPr>
          <a:xfrm>
            <a:off x="457200" y="502920"/>
            <a:ext cx="8229600" cy="502920"/>
          </a:xfrm>
          <a:prstGeom prst="rect">
            <a:avLst/>
          </a:prstGeom>
          <a:noFill/>
          <a:ln/>
        </p:spPr>
        <p:txBody>
          <a:bodyPr wrap="square" lIns="0" tIns="0" rIns="0" bIns="0" rtlCol="0" anchor="ctr"/>
          <a:lstStyle/>
          <a:p>
            <a:pPr marL="0" indent="0">
              <a:buNone/>
            </a:pPr>
            <a:r>
              <a:rPr lang="en-US" sz="3200" b="1" dirty="0">
                <a:latin typeface="Georgia" pitchFamily="34" charset="0"/>
                <a:ea typeface="Georgia" pitchFamily="34" charset="-122"/>
                <a:cs typeface="Georgia" pitchFamily="34" charset="-120"/>
              </a:rPr>
              <a:t>Current Operational Complexity</a:t>
            </a:r>
            <a:endParaRPr lang="en-US" sz="3200" dirty="0"/>
          </a:p>
        </p:txBody>
      </p:sp>
      <p:sp>
        <p:nvSpPr>
          <p:cNvPr id="6" name="Shape 4"/>
          <p:cNvSpPr/>
          <p:nvPr/>
        </p:nvSpPr>
        <p:spPr>
          <a:xfrm>
            <a:off x="457200" y="1280160"/>
            <a:ext cx="2651760" cy="1645920"/>
          </a:xfrm>
          <a:prstGeom prst="rect">
            <a:avLst/>
          </a:prstGeom>
          <a:solidFill>
            <a:srgbClr val="242424"/>
          </a:solidFill>
          <a:ln w="12700">
            <a:solidFill>
              <a:srgbClr val="333333"/>
            </a:solidFill>
            <a:prstDash val="solid"/>
          </a:ln>
        </p:spPr>
        <p:txBody>
          <a:bodyPr/>
          <a:lstStyle/>
          <a:p>
            <a:endParaRPr lang="en-US"/>
          </a:p>
        </p:txBody>
      </p:sp>
      <p:sp>
        <p:nvSpPr>
          <p:cNvPr id="7" name="Shape 5"/>
          <p:cNvSpPr/>
          <p:nvPr/>
        </p:nvSpPr>
        <p:spPr>
          <a:xfrm>
            <a:off x="457200" y="1280160"/>
            <a:ext cx="54864" cy="1645920"/>
          </a:xfrm>
          <a:prstGeom prst="rect">
            <a:avLst/>
          </a:prstGeom>
          <a:solidFill>
            <a:srgbClr val="E74C3C"/>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640080" y="1463040"/>
            <a:ext cx="320040" cy="320040"/>
          </a:xfrm>
          <a:prstGeom prst="rect">
            <a:avLst/>
          </a:prstGeom>
        </p:spPr>
      </p:pic>
      <p:sp>
        <p:nvSpPr>
          <p:cNvPr id="9" name="Text 6"/>
          <p:cNvSpPr/>
          <p:nvPr/>
        </p:nvSpPr>
        <p:spPr>
          <a:xfrm>
            <a:off x="1051560" y="14630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Alert Fatigue</a:t>
            </a:r>
            <a:endParaRPr lang="en-US" sz="1200" dirty="0"/>
          </a:p>
        </p:txBody>
      </p:sp>
      <p:sp>
        <p:nvSpPr>
          <p:cNvPr id="10" name="Text 7"/>
          <p:cNvSpPr/>
          <p:nvPr/>
        </p:nvSpPr>
        <p:spPr>
          <a:xfrm>
            <a:off x="640080" y="19202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Too many alerts across systems; engineers manually gather context from different tools</a:t>
            </a:r>
            <a:endParaRPr lang="en-US" sz="1000" dirty="0"/>
          </a:p>
        </p:txBody>
      </p:sp>
      <p:sp>
        <p:nvSpPr>
          <p:cNvPr id="11" name="Shape 8"/>
          <p:cNvSpPr/>
          <p:nvPr/>
        </p:nvSpPr>
        <p:spPr>
          <a:xfrm>
            <a:off x="3291840" y="1280160"/>
            <a:ext cx="2651760" cy="1645920"/>
          </a:xfrm>
          <a:prstGeom prst="rect">
            <a:avLst/>
          </a:prstGeom>
          <a:solidFill>
            <a:srgbClr val="242424"/>
          </a:solidFill>
          <a:ln w="12700">
            <a:solidFill>
              <a:srgbClr val="333333"/>
            </a:solidFill>
            <a:prstDash val="solid"/>
          </a:ln>
        </p:spPr>
        <p:txBody>
          <a:bodyPr/>
          <a:lstStyle/>
          <a:p>
            <a:endParaRPr lang="en-US"/>
          </a:p>
        </p:txBody>
      </p:sp>
      <p:sp>
        <p:nvSpPr>
          <p:cNvPr id="12" name="Shape 9"/>
          <p:cNvSpPr/>
          <p:nvPr/>
        </p:nvSpPr>
        <p:spPr>
          <a:xfrm>
            <a:off x="3291840" y="1280160"/>
            <a:ext cx="54864" cy="1645920"/>
          </a:xfrm>
          <a:prstGeom prst="rect">
            <a:avLst/>
          </a:prstGeom>
          <a:solidFill>
            <a:srgbClr val="E8751A"/>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3474720" y="1463040"/>
            <a:ext cx="320040" cy="320040"/>
          </a:xfrm>
          <a:prstGeom prst="rect">
            <a:avLst/>
          </a:prstGeom>
        </p:spPr>
      </p:pic>
      <p:sp>
        <p:nvSpPr>
          <p:cNvPr id="14" name="Text 10"/>
          <p:cNvSpPr/>
          <p:nvPr/>
        </p:nvSpPr>
        <p:spPr>
          <a:xfrm>
            <a:off x="3886200" y="14630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Slow MTTR</a:t>
            </a:r>
            <a:endParaRPr lang="en-US" sz="1200" dirty="0"/>
          </a:p>
        </p:txBody>
      </p:sp>
      <p:sp>
        <p:nvSpPr>
          <p:cNvPr id="15" name="Text 11"/>
          <p:cNvSpPr/>
          <p:nvPr/>
        </p:nvSpPr>
        <p:spPr>
          <a:xfrm>
            <a:off x="3474720" y="19202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Engineers spend significant time collecting information before troubleshooting can begin</a:t>
            </a:r>
            <a:endParaRPr lang="en-US" sz="1000" dirty="0"/>
          </a:p>
        </p:txBody>
      </p:sp>
      <p:sp>
        <p:nvSpPr>
          <p:cNvPr id="16" name="Shape 12"/>
          <p:cNvSpPr/>
          <p:nvPr/>
        </p:nvSpPr>
        <p:spPr>
          <a:xfrm>
            <a:off x="6126480" y="1280160"/>
            <a:ext cx="2651760" cy="1645920"/>
          </a:xfrm>
          <a:prstGeom prst="rect">
            <a:avLst/>
          </a:prstGeom>
          <a:solidFill>
            <a:srgbClr val="242424"/>
          </a:solidFill>
          <a:ln w="12700">
            <a:solidFill>
              <a:srgbClr val="333333"/>
            </a:solidFill>
            <a:prstDash val="solid"/>
          </a:ln>
        </p:spPr>
        <p:txBody>
          <a:bodyPr/>
          <a:lstStyle/>
          <a:p>
            <a:endParaRPr lang="en-US"/>
          </a:p>
        </p:txBody>
      </p:sp>
      <p:sp>
        <p:nvSpPr>
          <p:cNvPr id="17" name="Shape 13"/>
          <p:cNvSpPr/>
          <p:nvPr/>
        </p:nvSpPr>
        <p:spPr>
          <a:xfrm>
            <a:off x="6126480" y="1280160"/>
            <a:ext cx="54864" cy="1645920"/>
          </a:xfrm>
          <a:prstGeom prst="rect">
            <a:avLst/>
          </a:prstGeom>
          <a:solidFill>
            <a:srgbClr val="F4C542"/>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6309360" y="1463040"/>
            <a:ext cx="320040" cy="320040"/>
          </a:xfrm>
          <a:prstGeom prst="rect">
            <a:avLst/>
          </a:prstGeom>
        </p:spPr>
      </p:pic>
      <p:sp>
        <p:nvSpPr>
          <p:cNvPr id="19" name="Text 14"/>
          <p:cNvSpPr/>
          <p:nvPr/>
        </p:nvSpPr>
        <p:spPr>
          <a:xfrm>
            <a:off x="6720840" y="14630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Inconsistent RCA</a:t>
            </a:r>
            <a:endParaRPr lang="en-US" sz="1200" dirty="0"/>
          </a:p>
        </p:txBody>
      </p:sp>
      <p:sp>
        <p:nvSpPr>
          <p:cNvPr id="20" name="Text 15"/>
          <p:cNvSpPr/>
          <p:nvPr/>
        </p:nvSpPr>
        <p:spPr>
          <a:xfrm>
            <a:off x="6309360" y="19202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Post-mortems depend on who handled the incident and when it happened</a:t>
            </a:r>
            <a:endParaRPr lang="en-US" sz="1000" dirty="0"/>
          </a:p>
        </p:txBody>
      </p:sp>
      <p:sp>
        <p:nvSpPr>
          <p:cNvPr id="21" name="Shape 16"/>
          <p:cNvSpPr/>
          <p:nvPr/>
        </p:nvSpPr>
        <p:spPr>
          <a:xfrm>
            <a:off x="457200" y="3108960"/>
            <a:ext cx="2651760" cy="1645920"/>
          </a:xfrm>
          <a:prstGeom prst="rect">
            <a:avLst/>
          </a:prstGeom>
          <a:solidFill>
            <a:srgbClr val="242424"/>
          </a:solidFill>
          <a:ln w="12700">
            <a:solidFill>
              <a:srgbClr val="333333"/>
            </a:solidFill>
            <a:prstDash val="solid"/>
          </a:ln>
        </p:spPr>
        <p:txBody>
          <a:bodyPr/>
          <a:lstStyle/>
          <a:p>
            <a:endParaRPr lang="en-US"/>
          </a:p>
        </p:txBody>
      </p:sp>
      <p:sp>
        <p:nvSpPr>
          <p:cNvPr id="22" name="Shape 17"/>
          <p:cNvSpPr/>
          <p:nvPr/>
        </p:nvSpPr>
        <p:spPr>
          <a:xfrm>
            <a:off x="457200" y="3108960"/>
            <a:ext cx="54864" cy="1645920"/>
          </a:xfrm>
          <a:prstGeom prst="rect">
            <a:avLst/>
          </a:prstGeom>
          <a:solidFill>
            <a:srgbClr val="1ABC9C"/>
          </a:solidFill>
          <a:ln/>
        </p:spPr>
        <p:txBody>
          <a:bodyPr/>
          <a:lstStyle/>
          <a:p>
            <a:endParaRPr lang="en-US"/>
          </a:p>
        </p:txBody>
      </p:sp>
      <p:pic>
        <p:nvPicPr>
          <p:cNvPr id="23" name="Image 3" descr="preencoded.png"/>
          <p:cNvPicPr>
            <a:picLocks noChangeAspect="1"/>
          </p:cNvPicPr>
          <p:nvPr/>
        </p:nvPicPr>
        <p:blipFill>
          <a:blip r:embed="rId6"/>
          <a:stretch>
            <a:fillRect/>
          </a:stretch>
        </p:blipFill>
        <p:spPr>
          <a:xfrm>
            <a:off x="640080" y="3291840"/>
            <a:ext cx="320040" cy="320040"/>
          </a:xfrm>
          <a:prstGeom prst="rect">
            <a:avLst/>
          </a:prstGeom>
        </p:spPr>
      </p:pic>
      <p:sp>
        <p:nvSpPr>
          <p:cNvPr id="24" name="Text 18"/>
          <p:cNvSpPr/>
          <p:nvPr/>
        </p:nvSpPr>
        <p:spPr>
          <a:xfrm>
            <a:off x="1051560" y="32918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Communication Overhead</a:t>
            </a:r>
            <a:endParaRPr lang="en-US" sz="1200" dirty="0"/>
          </a:p>
        </p:txBody>
      </p:sp>
      <p:sp>
        <p:nvSpPr>
          <p:cNvPr id="25" name="Text 19"/>
          <p:cNvSpPr/>
          <p:nvPr/>
        </p:nvSpPr>
        <p:spPr>
          <a:xfrm>
            <a:off x="640080" y="37490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Engineers must resolve incidents while explaining impact to stakeholders</a:t>
            </a:r>
            <a:endParaRPr lang="en-US" sz="1000" dirty="0"/>
          </a:p>
        </p:txBody>
      </p:sp>
      <p:sp>
        <p:nvSpPr>
          <p:cNvPr id="26" name="Shape 20"/>
          <p:cNvSpPr/>
          <p:nvPr/>
        </p:nvSpPr>
        <p:spPr>
          <a:xfrm>
            <a:off x="3291840" y="3108960"/>
            <a:ext cx="2651760" cy="1645920"/>
          </a:xfrm>
          <a:prstGeom prst="rect">
            <a:avLst/>
          </a:prstGeom>
          <a:solidFill>
            <a:srgbClr val="242424"/>
          </a:solidFill>
          <a:ln w="12700">
            <a:solidFill>
              <a:srgbClr val="333333"/>
            </a:solidFill>
            <a:prstDash val="solid"/>
          </a:ln>
        </p:spPr>
        <p:txBody>
          <a:bodyPr/>
          <a:lstStyle/>
          <a:p>
            <a:endParaRPr lang="en-US"/>
          </a:p>
        </p:txBody>
      </p:sp>
      <p:sp>
        <p:nvSpPr>
          <p:cNvPr id="27" name="Shape 21"/>
          <p:cNvSpPr/>
          <p:nvPr/>
        </p:nvSpPr>
        <p:spPr>
          <a:xfrm>
            <a:off x="3291840" y="3108960"/>
            <a:ext cx="54864" cy="1645920"/>
          </a:xfrm>
          <a:prstGeom prst="rect">
            <a:avLst/>
          </a:prstGeom>
          <a:solidFill>
            <a:srgbClr val="3498DB"/>
          </a:solidFill>
          <a:ln/>
        </p:spPr>
        <p:txBody>
          <a:bodyPr/>
          <a:lstStyle/>
          <a:p>
            <a:endParaRPr lang="en-US"/>
          </a:p>
        </p:txBody>
      </p:sp>
      <p:pic>
        <p:nvPicPr>
          <p:cNvPr id="28" name="Image 4" descr="preencoded.png"/>
          <p:cNvPicPr>
            <a:picLocks noChangeAspect="1"/>
          </p:cNvPicPr>
          <p:nvPr/>
        </p:nvPicPr>
        <p:blipFill>
          <a:blip r:embed="rId7"/>
          <a:stretch>
            <a:fillRect/>
          </a:stretch>
        </p:blipFill>
        <p:spPr>
          <a:xfrm>
            <a:off x="3474720" y="3291840"/>
            <a:ext cx="320040" cy="320040"/>
          </a:xfrm>
          <a:prstGeom prst="rect">
            <a:avLst/>
          </a:prstGeom>
        </p:spPr>
      </p:pic>
      <p:sp>
        <p:nvSpPr>
          <p:cNvPr id="29" name="Text 22"/>
          <p:cNvSpPr/>
          <p:nvPr/>
        </p:nvSpPr>
        <p:spPr>
          <a:xfrm>
            <a:off x="3886200" y="32918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Knowledge Silos</a:t>
            </a:r>
            <a:endParaRPr lang="en-US" sz="1200" dirty="0"/>
          </a:p>
        </p:txBody>
      </p:sp>
      <p:sp>
        <p:nvSpPr>
          <p:cNvPr id="30" name="Text 23"/>
          <p:cNvSpPr/>
          <p:nvPr/>
        </p:nvSpPr>
        <p:spPr>
          <a:xfrm>
            <a:off x="3474720" y="37490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Critical operational knowledge lives only in senior engineers' heads</a:t>
            </a:r>
            <a:endParaRPr lang="en-US" sz="1000" dirty="0"/>
          </a:p>
        </p:txBody>
      </p:sp>
      <p:sp>
        <p:nvSpPr>
          <p:cNvPr id="31" name="Shape 24"/>
          <p:cNvSpPr/>
          <p:nvPr/>
        </p:nvSpPr>
        <p:spPr>
          <a:xfrm>
            <a:off x="6126480" y="3108960"/>
            <a:ext cx="2651760" cy="1645920"/>
          </a:xfrm>
          <a:prstGeom prst="rect">
            <a:avLst/>
          </a:prstGeom>
          <a:solidFill>
            <a:srgbClr val="242424"/>
          </a:solidFill>
          <a:ln w="12700">
            <a:solidFill>
              <a:srgbClr val="333333"/>
            </a:solidFill>
            <a:prstDash val="solid"/>
          </a:ln>
        </p:spPr>
        <p:txBody>
          <a:bodyPr/>
          <a:lstStyle/>
          <a:p>
            <a:endParaRPr lang="en-US"/>
          </a:p>
        </p:txBody>
      </p:sp>
      <p:sp>
        <p:nvSpPr>
          <p:cNvPr id="32" name="Shape 25"/>
          <p:cNvSpPr/>
          <p:nvPr/>
        </p:nvSpPr>
        <p:spPr>
          <a:xfrm>
            <a:off x="6126480" y="3108960"/>
            <a:ext cx="54864" cy="1645920"/>
          </a:xfrm>
          <a:prstGeom prst="rect">
            <a:avLst/>
          </a:prstGeom>
          <a:solidFill>
            <a:srgbClr val="9B59B6"/>
          </a:solidFill>
          <a:ln/>
        </p:spPr>
        <p:txBody>
          <a:bodyPr/>
          <a:lstStyle/>
          <a:p>
            <a:endParaRPr lang="en-US"/>
          </a:p>
        </p:txBody>
      </p:sp>
      <p:pic>
        <p:nvPicPr>
          <p:cNvPr id="33" name="Image 5" descr="preencoded.png"/>
          <p:cNvPicPr>
            <a:picLocks noChangeAspect="1"/>
          </p:cNvPicPr>
          <p:nvPr/>
        </p:nvPicPr>
        <p:blipFill>
          <a:blip r:embed="rId8"/>
          <a:stretch>
            <a:fillRect/>
          </a:stretch>
        </p:blipFill>
        <p:spPr>
          <a:xfrm>
            <a:off x="6309360" y="3291840"/>
            <a:ext cx="320040" cy="320040"/>
          </a:xfrm>
          <a:prstGeom prst="rect">
            <a:avLst/>
          </a:prstGeom>
        </p:spPr>
      </p:pic>
      <p:sp>
        <p:nvSpPr>
          <p:cNvPr id="34" name="Text 26"/>
          <p:cNvSpPr/>
          <p:nvPr/>
        </p:nvSpPr>
        <p:spPr>
          <a:xfrm>
            <a:off x="6720840" y="3291840"/>
            <a:ext cx="1828800" cy="320040"/>
          </a:xfrm>
          <a:prstGeom prst="rect">
            <a:avLst/>
          </a:prstGeom>
          <a:noFill/>
          <a:ln/>
        </p:spPr>
        <p:txBody>
          <a:bodyPr wrap="square" lIns="0" tIns="0" rIns="0" bIns="0" rtlCol="0" anchor="ctr"/>
          <a:lstStyle/>
          <a:p>
            <a:pPr marL="0" indent="0" algn="l">
              <a:buNone/>
            </a:pPr>
            <a:r>
              <a:rPr lang="en-US" sz="1200" b="1" dirty="0">
                <a:solidFill>
                  <a:srgbClr val="FFFFFF"/>
                </a:solidFill>
                <a:latin typeface="Trebuchet MS" pitchFamily="34" charset="0"/>
                <a:ea typeface="Trebuchet MS" pitchFamily="34" charset="-122"/>
                <a:cs typeface="Trebuchet MS" pitchFamily="34" charset="-120"/>
              </a:rPr>
              <a:t>Tool Sprawl</a:t>
            </a:r>
            <a:endParaRPr lang="en-US" sz="1200" dirty="0"/>
          </a:p>
        </p:txBody>
      </p:sp>
      <p:sp>
        <p:nvSpPr>
          <p:cNvPr id="35" name="Text 27"/>
          <p:cNvSpPr/>
          <p:nvPr/>
        </p:nvSpPr>
        <p:spPr>
          <a:xfrm>
            <a:off x="6309360" y="3749040"/>
            <a:ext cx="2286000" cy="822960"/>
          </a:xfrm>
          <a:prstGeom prst="rect">
            <a:avLst/>
          </a:prstGeom>
          <a:noFill/>
          <a:ln/>
        </p:spPr>
        <p:txBody>
          <a:bodyPr wrap="square" lIns="0" tIns="0" rIns="0" bIns="0" rtlCol="0" anchor="t"/>
          <a:lstStyle/>
          <a:p>
            <a:pPr marL="0" indent="0" algn="l">
              <a:buNone/>
            </a:pPr>
            <a:r>
              <a:rPr lang="en-US" sz="1000" dirty="0">
                <a:solidFill>
                  <a:srgbClr val="CCCCCC"/>
                </a:solidFill>
                <a:latin typeface="Calibri" pitchFamily="34" charset="0"/>
                <a:ea typeface="Calibri" pitchFamily="34" charset="-122"/>
                <a:cs typeface="Calibri" pitchFamily="34" charset="-120"/>
              </a:rPr>
              <a:t>Adding more dashboards increases noise rather than solving the problem</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330452"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330452"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THE PROBLEM</a:t>
            </a:r>
            <a:endParaRPr lang="en-US" sz="800" dirty="0"/>
          </a:p>
        </p:txBody>
      </p:sp>
      <p:sp>
        <p:nvSpPr>
          <p:cNvPr id="5" name="Text 3"/>
          <p:cNvSpPr/>
          <p:nvPr/>
        </p:nvSpPr>
        <p:spPr>
          <a:xfrm>
            <a:off x="457200" y="502920"/>
            <a:ext cx="8229600" cy="502920"/>
          </a:xfrm>
          <a:prstGeom prst="rect">
            <a:avLst/>
          </a:prstGeom>
          <a:noFill/>
          <a:ln/>
        </p:spPr>
        <p:txBody>
          <a:bodyPr wrap="square" lIns="0" tIns="0" rIns="0" bIns="0" rtlCol="0" anchor="ctr"/>
          <a:lstStyle/>
          <a:p>
            <a:pPr marL="0" indent="0">
              <a:buNone/>
            </a:pPr>
            <a:r>
              <a:rPr lang="en-US" sz="3200" b="1" dirty="0">
                <a:latin typeface="Georgia" pitchFamily="34" charset="0"/>
                <a:ea typeface="Georgia" pitchFamily="34" charset="-122"/>
                <a:cs typeface="Georgia" pitchFamily="34" charset="-120"/>
              </a:rPr>
              <a:t>What Are We Solving?</a:t>
            </a:r>
            <a:endParaRPr lang="en-US" sz="3200" dirty="0"/>
          </a:p>
        </p:txBody>
      </p:sp>
      <p:sp>
        <p:nvSpPr>
          <p:cNvPr id="6" name="Shape 4"/>
          <p:cNvSpPr/>
          <p:nvPr/>
        </p:nvSpPr>
        <p:spPr>
          <a:xfrm>
            <a:off x="457200" y="1188720"/>
            <a:ext cx="8229600" cy="1097280"/>
          </a:xfrm>
          <a:prstGeom prst="rect">
            <a:avLst/>
          </a:prstGeom>
          <a:solidFill>
            <a:srgbClr val="242424"/>
          </a:solidFill>
          <a:ln w="25400">
            <a:solidFill>
              <a:srgbClr val="E8751A"/>
            </a:solidFill>
            <a:prstDash val="solid"/>
          </a:ln>
        </p:spPr>
        <p:txBody>
          <a:bodyPr/>
          <a:lstStyle/>
          <a:p>
            <a:endParaRPr lang="en-US"/>
          </a:p>
        </p:txBody>
      </p:sp>
      <p:sp>
        <p:nvSpPr>
          <p:cNvPr id="7" name="Text 5"/>
          <p:cNvSpPr/>
          <p:nvPr/>
        </p:nvSpPr>
        <p:spPr>
          <a:xfrm>
            <a:off x="731520" y="1280160"/>
            <a:ext cx="7680960" cy="914400"/>
          </a:xfrm>
          <a:prstGeom prst="rect">
            <a:avLst/>
          </a:prstGeom>
          <a:noFill/>
          <a:ln/>
        </p:spPr>
        <p:txBody>
          <a:bodyPr wrap="square" lIns="0" tIns="0" rIns="0" bIns="0" rtlCol="0" anchor="ctr"/>
          <a:lstStyle/>
          <a:p>
            <a:pPr marL="0" indent="0" algn="l">
              <a:buNone/>
            </a:pPr>
            <a:r>
              <a:rPr lang="en-US" sz="1600" b="1" dirty="0">
                <a:solidFill>
                  <a:srgbClr val="E8751A"/>
                </a:solidFill>
                <a:latin typeface="Calibri" pitchFamily="34" charset="0"/>
                <a:ea typeface="Calibri" pitchFamily="34" charset="-122"/>
                <a:cs typeface="Calibri" pitchFamily="34" charset="-120"/>
              </a:rPr>
              <a:t>Core Problem:  </a:t>
            </a:r>
            <a:r>
              <a:rPr lang="en-US" sz="1600" dirty="0">
                <a:solidFill>
                  <a:srgbClr val="FFFFFF"/>
                </a:solidFill>
                <a:latin typeface="Calibri" pitchFamily="34" charset="0"/>
                <a:ea typeface="Calibri" pitchFamily="34" charset="-122"/>
                <a:cs typeface="Calibri" pitchFamily="34" charset="-120"/>
              </a:rPr>
              <a:t>SRE engineers spend most of incident response time on information gathering — not problem solving.</a:t>
            </a:r>
            <a:endParaRPr lang="en-US" sz="1600" dirty="0"/>
          </a:p>
        </p:txBody>
      </p:sp>
      <p:sp>
        <p:nvSpPr>
          <p:cNvPr id="8" name="Shape 6"/>
          <p:cNvSpPr/>
          <p:nvPr/>
        </p:nvSpPr>
        <p:spPr>
          <a:xfrm>
            <a:off x="457200" y="2606040"/>
            <a:ext cx="2651760" cy="2103120"/>
          </a:xfrm>
          <a:prstGeom prst="rect">
            <a:avLst/>
          </a:prstGeom>
          <a:solidFill>
            <a:srgbClr val="242424"/>
          </a:solidFill>
          <a:ln w="12700">
            <a:solidFill>
              <a:srgbClr val="333333"/>
            </a:solidFill>
            <a:prstDash val="solid"/>
          </a:ln>
        </p:spPr>
        <p:txBody>
          <a:bodyPr/>
          <a:lstStyle/>
          <a:p>
            <a:endParaRPr lang="en-US"/>
          </a:p>
        </p:txBody>
      </p:sp>
      <p:sp>
        <p:nvSpPr>
          <p:cNvPr id="9" name="Shape 7"/>
          <p:cNvSpPr/>
          <p:nvPr/>
        </p:nvSpPr>
        <p:spPr>
          <a:xfrm>
            <a:off x="457200" y="2606040"/>
            <a:ext cx="2651760" cy="45720"/>
          </a:xfrm>
          <a:prstGeom prst="rect">
            <a:avLst/>
          </a:prstGeom>
          <a:solidFill>
            <a:srgbClr val="1ABC9C"/>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1508760" y="2834640"/>
            <a:ext cx="457200" cy="457200"/>
          </a:xfrm>
          <a:prstGeom prst="rect">
            <a:avLst/>
          </a:prstGeom>
        </p:spPr>
      </p:pic>
      <p:sp>
        <p:nvSpPr>
          <p:cNvPr id="11" name="Text 8"/>
          <p:cNvSpPr/>
          <p:nvPr/>
        </p:nvSpPr>
        <p:spPr>
          <a:xfrm>
            <a:off x="594360" y="3383280"/>
            <a:ext cx="23774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Automate Context Gathering</a:t>
            </a:r>
            <a:endParaRPr lang="en-US" sz="1300" dirty="0"/>
          </a:p>
        </p:txBody>
      </p:sp>
      <p:sp>
        <p:nvSpPr>
          <p:cNvPr id="12" name="Text 9"/>
          <p:cNvSpPr/>
          <p:nvPr/>
        </p:nvSpPr>
        <p:spPr>
          <a:xfrm>
            <a:off x="594360" y="3794760"/>
            <a:ext cx="2377440" cy="777240"/>
          </a:xfrm>
          <a:prstGeom prst="rect">
            <a:avLst/>
          </a:prstGeom>
          <a:noFill/>
          <a:ln/>
        </p:spPr>
        <p:txBody>
          <a:bodyPr wrap="square" lIns="0" tIns="0" rIns="0" bIns="0" rtlCol="0" anchor="t"/>
          <a:lstStyle/>
          <a:p>
            <a:pPr marL="0" indent="0" algn="ctr">
              <a:buNone/>
            </a:pPr>
            <a:r>
              <a:rPr lang="en-US" sz="1000" dirty="0">
                <a:solidFill>
                  <a:srgbClr val="CCCCCC"/>
                </a:solidFill>
                <a:latin typeface="Calibri" pitchFamily="34" charset="0"/>
                <a:ea typeface="Calibri" pitchFamily="34" charset="-122"/>
                <a:cs typeface="Calibri" pitchFamily="34" charset="-120"/>
              </a:rPr>
              <a:t>AI agent collects pod status, logs, events, and metrics — in seconds, not minutes</a:t>
            </a:r>
            <a:endParaRPr lang="en-US" sz="1000" dirty="0"/>
          </a:p>
        </p:txBody>
      </p:sp>
      <p:sp>
        <p:nvSpPr>
          <p:cNvPr id="13" name="Shape 10"/>
          <p:cNvSpPr/>
          <p:nvPr/>
        </p:nvSpPr>
        <p:spPr>
          <a:xfrm>
            <a:off x="3291840" y="2606040"/>
            <a:ext cx="2651760" cy="2103120"/>
          </a:xfrm>
          <a:prstGeom prst="rect">
            <a:avLst/>
          </a:prstGeom>
          <a:solidFill>
            <a:srgbClr val="242424"/>
          </a:solidFill>
          <a:ln w="12700">
            <a:solidFill>
              <a:srgbClr val="333333"/>
            </a:solidFill>
            <a:prstDash val="solid"/>
          </a:ln>
        </p:spPr>
        <p:txBody>
          <a:bodyPr/>
          <a:lstStyle/>
          <a:p>
            <a:endParaRPr lang="en-US"/>
          </a:p>
        </p:txBody>
      </p:sp>
      <p:sp>
        <p:nvSpPr>
          <p:cNvPr id="14" name="Shape 11"/>
          <p:cNvSpPr/>
          <p:nvPr/>
        </p:nvSpPr>
        <p:spPr>
          <a:xfrm>
            <a:off x="3291840" y="2606040"/>
            <a:ext cx="2651760" cy="45720"/>
          </a:xfrm>
          <a:prstGeom prst="rect">
            <a:avLst/>
          </a:prstGeom>
          <a:solidFill>
            <a:srgbClr val="E8751A"/>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343400" y="2834640"/>
            <a:ext cx="457200" cy="457200"/>
          </a:xfrm>
          <a:prstGeom prst="rect">
            <a:avLst/>
          </a:prstGeom>
        </p:spPr>
      </p:pic>
      <p:sp>
        <p:nvSpPr>
          <p:cNvPr id="16" name="Text 12"/>
          <p:cNvSpPr/>
          <p:nvPr/>
        </p:nvSpPr>
        <p:spPr>
          <a:xfrm>
            <a:off x="3429000" y="3383280"/>
            <a:ext cx="23774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Intelligent Root Cause Analysis</a:t>
            </a:r>
            <a:endParaRPr lang="en-US" sz="1300" dirty="0"/>
          </a:p>
        </p:txBody>
      </p:sp>
      <p:sp>
        <p:nvSpPr>
          <p:cNvPr id="17" name="Text 13"/>
          <p:cNvSpPr/>
          <p:nvPr/>
        </p:nvSpPr>
        <p:spPr>
          <a:xfrm>
            <a:off x="3429000" y="3794760"/>
            <a:ext cx="2377440" cy="777240"/>
          </a:xfrm>
          <a:prstGeom prst="rect">
            <a:avLst/>
          </a:prstGeom>
          <a:noFill/>
          <a:ln/>
        </p:spPr>
        <p:txBody>
          <a:bodyPr wrap="square" lIns="0" tIns="0" rIns="0" bIns="0" rtlCol="0" anchor="t"/>
          <a:lstStyle/>
          <a:p>
            <a:pPr marL="0" indent="0" algn="ctr">
              <a:buNone/>
            </a:pPr>
            <a:r>
              <a:rPr lang="en-US" sz="1000" dirty="0">
                <a:solidFill>
                  <a:srgbClr val="CCCCCC"/>
                </a:solidFill>
                <a:latin typeface="Calibri" pitchFamily="34" charset="0"/>
                <a:ea typeface="Calibri" pitchFamily="34" charset="-122"/>
                <a:cs typeface="Calibri" pitchFamily="34" charset="-120"/>
              </a:rPr>
              <a:t>LangGraph reasoning loop correlates evidence and generates structured RCA hypotheses</a:t>
            </a:r>
            <a:endParaRPr lang="en-US" sz="1000" dirty="0"/>
          </a:p>
        </p:txBody>
      </p:sp>
      <p:sp>
        <p:nvSpPr>
          <p:cNvPr id="18" name="Shape 14"/>
          <p:cNvSpPr/>
          <p:nvPr/>
        </p:nvSpPr>
        <p:spPr>
          <a:xfrm>
            <a:off x="6126480" y="2606040"/>
            <a:ext cx="2651760" cy="2103120"/>
          </a:xfrm>
          <a:prstGeom prst="rect">
            <a:avLst/>
          </a:prstGeom>
          <a:solidFill>
            <a:srgbClr val="242424"/>
          </a:solidFill>
          <a:ln w="12700">
            <a:solidFill>
              <a:srgbClr val="333333"/>
            </a:solidFill>
            <a:prstDash val="solid"/>
          </a:ln>
        </p:spPr>
        <p:txBody>
          <a:bodyPr/>
          <a:lstStyle/>
          <a:p>
            <a:endParaRPr lang="en-US"/>
          </a:p>
        </p:txBody>
      </p:sp>
      <p:sp>
        <p:nvSpPr>
          <p:cNvPr id="19" name="Shape 15"/>
          <p:cNvSpPr/>
          <p:nvPr/>
        </p:nvSpPr>
        <p:spPr>
          <a:xfrm>
            <a:off x="6126480" y="2606040"/>
            <a:ext cx="2651760" cy="45720"/>
          </a:xfrm>
          <a:prstGeom prst="rect">
            <a:avLst/>
          </a:prstGeom>
          <a:solidFill>
            <a:srgbClr val="3CB371"/>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7178040" y="2834640"/>
            <a:ext cx="457200" cy="457200"/>
          </a:xfrm>
          <a:prstGeom prst="rect">
            <a:avLst/>
          </a:prstGeom>
        </p:spPr>
      </p:pic>
      <p:sp>
        <p:nvSpPr>
          <p:cNvPr id="21" name="Text 16"/>
          <p:cNvSpPr/>
          <p:nvPr/>
        </p:nvSpPr>
        <p:spPr>
          <a:xfrm>
            <a:off x="6263640" y="3383280"/>
            <a:ext cx="23774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Consistent, Auditable Output</a:t>
            </a:r>
            <a:endParaRPr lang="en-US" sz="1300" dirty="0"/>
          </a:p>
        </p:txBody>
      </p:sp>
      <p:sp>
        <p:nvSpPr>
          <p:cNvPr id="22" name="Text 17"/>
          <p:cNvSpPr/>
          <p:nvPr/>
        </p:nvSpPr>
        <p:spPr>
          <a:xfrm>
            <a:off x="6263640" y="3794760"/>
            <a:ext cx="2377440" cy="777240"/>
          </a:xfrm>
          <a:prstGeom prst="rect">
            <a:avLst/>
          </a:prstGeom>
          <a:noFill/>
          <a:ln/>
        </p:spPr>
        <p:txBody>
          <a:bodyPr wrap="square" lIns="0" tIns="0" rIns="0" bIns="0" rtlCol="0" anchor="t"/>
          <a:lstStyle/>
          <a:p>
            <a:pPr marL="0" indent="0" algn="ctr">
              <a:buNone/>
            </a:pPr>
            <a:r>
              <a:rPr lang="en-US" sz="1000" dirty="0">
                <a:solidFill>
                  <a:srgbClr val="CCCCCC"/>
                </a:solidFill>
                <a:latin typeface="Calibri" pitchFamily="34" charset="0"/>
                <a:ea typeface="Calibri" pitchFamily="34" charset="-122"/>
                <a:cs typeface="Calibri" pitchFamily="34" charset="-120"/>
              </a:rPr>
              <a:t>Every investigation produces a structured finding — regardless of who's on-call</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02</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The Vision</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An AI co-pilot for SRE — not a replacement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234440"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234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THE VISION</a:t>
            </a:r>
            <a:endParaRPr lang="en-US" sz="800" dirty="0"/>
          </a:p>
        </p:txBody>
      </p:sp>
      <p:sp>
        <p:nvSpPr>
          <p:cNvPr id="5" name="Text 3"/>
          <p:cNvSpPr/>
          <p:nvPr/>
        </p:nvSpPr>
        <p:spPr>
          <a:xfrm>
            <a:off x="457200" y="502920"/>
            <a:ext cx="8229600" cy="502920"/>
          </a:xfrm>
          <a:prstGeom prst="rect">
            <a:avLst/>
          </a:prstGeom>
          <a:noFill/>
          <a:ln/>
        </p:spPr>
        <p:txBody>
          <a:bodyPr wrap="square" lIns="0" tIns="0" rIns="0" bIns="0" rtlCol="0" anchor="ctr"/>
          <a:lstStyle/>
          <a:p>
            <a:pPr marL="0" indent="0">
              <a:buNone/>
            </a:pPr>
            <a:r>
              <a:rPr lang="en-US" sz="3000" b="1" dirty="0">
                <a:latin typeface="Georgia" pitchFamily="34" charset="0"/>
                <a:ea typeface="Georgia" pitchFamily="34" charset="-122"/>
                <a:cs typeface="Georgia" pitchFamily="34" charset="-120"/>
              </a:rPr>
              <a:t>Vision: AI SRE Intelligence Layer</a:t>
            </a:r>
            <a:endParaRPr lang="en-US" sz="3000" dirty="0"/>
          </a:p>
        </p:txBody>
      </p:sp>
      <p:sp>
        <p:nvSpPr>
          <p:cNvPr id="6" name="Text 4"/>
          <p:cNvSpPr/>
          <p:nvPr/>
        </p:nvSpPr>
        <p:spPr>
          <a:xfrm>
            <a:off x="457200" y="1188720"/>
            <a:ext cx="4114800" cy="1188720"/>
          </a:xfrm>
          <a:prstGeom prst="rect">
            <a:avLst/>
          </a:prstGeom>
          <a:noFill/>
          <a:ln/>
        </p:spPr>
        <p:txBody>
          <a:bodyPr wrap="square" lIns="0" tIns="0" rIns="0" bIns="0" rtlCol="0" anchor="ctr"/>
          <a:lstStyle/>
          <a:p>
            <a:pPr marL="0" indent="0" algn="l">
              <a:buNone/>
            </a:pPr>
            <a:r>
              <a:rPr lang="en-US" sz="1300" b="1" dirty="0">
                <a:solidFill>
                  <a:srgbClr val="E8751A"/>
                </a:solidFill>
                <a:latin typeface="Calibri" pitchFamily="34" charset="0"/>
                <a:ea typeface="Calibri" pitchFamily="34" charset="-122"/>
                <a:cs typeface="Calibri" pitchFamily="34" charset="-120"/>
              </a:rPr>
              <a:t>An AI "co-pilot", not an autonomous SRE:</a:t>
            </a:r>
            <a:endParaRPr lang="en-US" sz="1300" dirty="0"/>
          </a:p>
          <a:p>
            <a:pPr marL="0" indent="0" algn="l">
              <a:buNone/>
            </a:pPr>
            <a:r>
              <a:rPr lang="en-US" sz="1200" dirty="0">
                <a:latin typeface="Calibri" pitchFamily="34" charset="0"/>
                <a:ea typeface="Calibri" pitchFamily="34" charset="-122"/>
                <a:cs typeface="Calibri" pitchFamily="34" charset="-120"/>
              </a:rPr>
              <a:t>observes signals, reasons about incidents, and recommends actions — humans stay in control.</a:t>
            </a:r>
            <a:endParaRPr lang="en-US" sz="1300" dirty="0"/>
          </a:p>
          <a:p>
            <a:pPr marL="0" indent="0" algn="l">
              <a:buNone/>
            </a:pPr>
            <a:endParaRPr lang="en-US" sz="1300" dirty="0"/>
          </a:p>
          <a:p>
            <a:pPr marL="0" indent="0" algn="l">
              <a:buNone/>
            </a:pPr>
            <a:r>
              <a:rPr lang="en-US" sz="1200" b="1" dirty="0">
                <a:solidFill>
                  <a:srgbClr val="1ABC9C"/>
                </a:solidFill>
                <a:latin typeface="Calibri" pitchFamily="34" charset="0"/>
                <a:ea typeface="Calibri" pitchFamily="34" charset="-122"/>
                <a:cs typeface="Calibri" pitchFamily="34" charset="-120"/>
              </a:rPr>
              <a:t>Core Principles:</a:t>
            </a:r>
            <a:endParaRPr lang="en-US" sz="1300" dirty="0"/>
          </a:p>
        </p:txBody>
      </p:sp>
      <p:pic>
        <p:nvPicPr>
          <p:cNvPr id="7" name="Image 0" descr="preencoded.png"/>
          <p:cNvPicPr>
            <a:picLocks noChangeAspect="1"/>
          </p:cNvPicPr>
          <p:nvPr/>
        </p:nvPicPr>
        <p:blipFill>
          <a:blip r:embed="rId3"/>
          <a:stretch>
            <a:fillRect/>
          </a:stretch>
        </p:blipFill>
        <p:spPr>
          <a:xfrm>
            <a:off x="640080" y="2441448"/>
            <a:ext cx="228600" cy="228600"/>
          </a:xfrm>
          <a:prstGeom prst="rect">
            <a:avLst/>
          </a:prstGeom>
        </p:spPr>
      </p:pic>
      <p:sp>
        <p:nvSpPr>
          <p:cNvPr id="8" name="Text 5"/>
          <p:cNvSpPr/>
          <p:nvPr/>
        </p:nvSpPr>
        <p:spPr>
          <a:xfrm>
            <a:off x="960120" y="2423160"/>
            <a:ext cx="3657600" cy="274320"/>
          </a:xfrm>
          <a:prstGeom prst="rect">
            <a:avLst/>
          </a:prstGeom>
          <a:noFill/>
          <a:ln/>
        </p:spPr>
        <p:txBody>
          <a:bodyPr wrap="square" lIns="0" tIns="0" rIns="0" bIns="0" rtlCol="0" anchor="ctr"/>
          <a:lstStyle/>
          <a:p>
            <a:pPr marL="0" indent="0" algn="l">
              <a:buNone/>
            </a:pPr>
            <a:r>
              <a:rPr lang="en-US" sz="1100" dirty="0">
                <a:latin typeface="Calibri" pitchFamily="34" charset="0"/>
                <a:ea typeface="Calibri" pitchFamily="34" charset="-122"/>
                <a:cs typeface="Calibri" pitchFamily="34" charset="-120"/>
              </a:rPr>
              <a:t>Read-only access by default</a:t>
            </a:r>
            <a:endParaRPr lang="en-US" sz="1100" dirty="0"/>
          </a:p>
        </p:txBody>
      </p:sp>
      <p:pic>
        <p:nvPicPr>
          <p:cNvPr id="9" name="Image 1" descr="preencoded.png"/>
          <p:cNvPicPr>
            <a:picLocks noChangeAspect="1"/>
          </p:cNvPicPr>
          <p:nvPr/>
        </p:nvPicPr>
        <p:blipFill>
          <a:blip r:embed="rId4"/>
          <a:stretch>
            <a:fillRect/>
          </a:stretch>
        </p:blipFill>
        <p:spPr>
          <a:xfrm>
            <a:off x="640080" y="2852928"/>
            <a:ext cx="228600" cy="228600"/>
          </a:xfrm>
          <a:prstGeom prst="rect">
            <a:avLst/>
          </a:prstGeom>
        </p:spPr>
      </p:pic>
      <p:sp>
        <p:nvSpPr>
          <p:cNvPr id="10" name="Text 6"/>
          <p:cNvSpPr/>
          <p:nvPr/>
        </p:nvSpPr>
        <p:spPr>
          <a:xfrm>
            <a:off x="960120" y="2834640"/>
            <a:ext cx="3657600" cy="274320"/>
          </a:xfrm>
          <a:prstGeom prst="rect">
            <a:avLst/>
          </a:prstGeom>
          <a:noFill/>
          <a:ln/>
        </p:spPr>
        <p:txBody>
          <a:bodyPr wrap="square" lIns="0" tIns="0" rIns="0" bIns="0" rtlCol="0" anchor="ctr"/>
          <a:lstStyle/>
          <a:p>
            <a:pPr marL="0" indent="0" algn="l">
              <a:buNone/>
            </a:pPr>
            <a:r>
              <a:rPr lang="en-US" sz="1100" dirty="0">
                <a:latin typeface="Calibri" pitchFamily="34" charset="0"/>
                <a:ea typeface="Calibri" pitchFamily="34" charset="-122"/>
                <a:cs typeface="Calibri" pitchFamily="34" charset="-120"/>
              </a:rPr>
              <a:t>Human-in-the-loop approvals</a:t>
            </a:r>
            <a:endParaRPr lang="en-US" sz="1100" dirty="0"/>
          </a:p>
        </p:txBody>
      </p:sp>
      <p:pic>
        <p:nvPicPr>
          <p:cNvPr id="11" name="Image 2" descr="preencoded.png"/>
          <p:cNvPicPr>
            <a:picLocks noChangeAspect="1"/>
          </p:cNvPicPr>
          <p:nvPr/>
        </p:nvPicPr>
        <p:blipFill>
          <a:blip r:embed="rId5"/>
          <a:stretch>
            <a:fillRect/>
          </a:stretch>
        </p:blipFill>
        <p:spPr>
          <a:xfrm>
            <a:off x="640080" y="3264408"/>
            <a:ext cx="228600" cy="228600"/>
          </a:xfrm>
          <a:prstGeom prst="rect">
            <a:avLst/>
          </a:prstGeom>
        </p:spPr>
      </p:pic>
      <p:sp>
        <p:nvSpPr>
          <p:cNvPr id="12" name="Text 7"/>
          <p:cNvSpPr/>
          <p:nvPr/>
        </p:nvSpPr>
        <p:spPr>
          <a:xfrm>
            <a:off x="960120" y="3246120"/>
            <a:ext cx="3657600" cy="274320"/>
          </a:xfrm>
          <a:prstGeom prst="rect">
            <a:avLst/>
          </a:prstGeom>
          <a:noFill/>
          <a:ln/>
        </p:spPr>
        <p:txBody>
          <a:bodyPr wrap="square" lIns="0" tIns="0" rIns="0" bIns="0" rtlCol="0" anchor="ctr"/>
          <a:lstStyle/>
          <a:p>
            <a:pPr marL="0" indent="0" algn="l">
              <a:buNone/>
            </a:pPr>
            <a:r>
              <a:rPr lang="en-US" sz="1100" dirty="0">
                <a:latin typeface="Calibri" pitchFamily="34" charset="0"/>
                <a:ea typeface="Calibri" pitchFamily="34" charset="-122"/>
                <a:cs typeface="Calibri" pitchFamily="34" charset="-120"/>
              </a:rPr>
              <a:t>Full audit trails on every action</a:t>
            </a:r>
            <a:endParaRPr lang="en-US" sz="1100" dirty="0"/>
          </a:p>
        </p:txBody>
      </p:sp>
      <p:pic>
        <p:nvPicPr>
          <p:cNvPr id="13" name="Image 3" descr="preencoded.png"/>
          <p:cNvPicPr>
            <a:picLocks noChangeAspect="1"/>
          </p:cNvPicPr>
          <p:nvPr/>
        </p:nvPicPr>
        <p:blipFill>
          <a:blip r:embed="rId6"/>
          <a:stretch>
            <a:fillRect/>
          </a:stretch>
        </p:blipFill>
        <p:spPr>
          <a:xfrm>
            <a:off x="640080" y="3675888"/>
            <a:ext cx="228600" cy="228600"/>
          </a:xfrm>
          <a:prstGeom prst="rect">
            <a:avLst/>
          </a:prstGeom>
        </p:spPr>
      </p:pic>
      <p:sp>
        <p:nvSpPr>
          <p:cNvPr id="14" name="Text 8"/>
          <p:cNvSpPr/>
          <p:nvPr/>
        </p:nvSpPr>
        <p:spPr>
          <a:xfrm>
            <a:off x="960120" y="3657600"/>
            <a:ext cx="3657600" cy="274320"/>
          </a:xfrm>
          <a:prstGeom prst="rect">
            <a:avLst/>
          </a:prstGeom>
          <a:noFill/>
          <a:ln/>
        </p:spPr>
        <p:txBody>
          <a:bodyPr wrap="square" lIns="0" tIns="0" rIns="0" bIns="0" rtlCol="0" anchor="ctr"/>
          <a:lstStyle/>
          <a:p>
            <a:pPr marL="0" indent="0" algn="l">
              <a:buNone/>
            </a:pPr>
            <a:r>
              <a:rPr lang="en-US" sz="1100" dirty="0">
                <a:latin typeface="Calibri" pitchFamily="34" charset="0"/>
                <a:ea typeface="Calibri" pitchFamily="34" charset="-122"/>
                <a:cs typeface="Calibri" pitchFamily="34" charset="-120"/>
              </a:rPr>
              <a:t>Local-first processing</a:t>
            </a:r>
            <a:endParaRPr lang="en-US" sz="1100" dirty="0"/>
          </a:p>
        </p:txBody>
      </p:sp>
      <p:sp>
        <p:nvSpPr>
          <p:cNvPr id="15" name="Shape 9"/>
          <p:cNvSpPr/>
          <p:nvPr/>
        </p:nvSpPr>
        <p:spPr>
          <a:xfrm>
            <a:off x="4937760" y="1143000"/>
            <a:ext cx="3931920" cy="594360"/>
          </a:xfrm>
          <a:prstGeom prst="rect">
            <a:avLst/>
          </a:prstGeom>
          <a:solidFill>
            <a:srgbClr val="242424"/>
          </a:solidFill>
          <a:ln w="19050">
            <a:solidFill>
              <a:srgbClr val="E8751A"/>
            </a:solidFill>
            <a:prstDash val="solid"/>
          </a:ln>
        </p:spPr>
        <p:txBody>
          <a:bodyPr/>
          <a:lstStyle/>
          <a:p>
            <a:endParaRPr lang="en-US"/>
          </a:p>
        </p:txBody>
      </p:sp>
      <p:sp>
        <p:nvSpPr>
          <p:cNvPr id="16" name="Text 10"/>
          <p:cNvSpPr/>
          <p:nvPr/>
        </p:nvSpPr>
        <p:spPr>
          <a:xfrm>
            <a:off x="5074920" y="1188720"/>
            <a:ext cx="365760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Troubleshooting / RCA</a:t>
            </a:r>
            <a:endParaRPr lang="en-US" sz="1100" dirty="0"/>
          </a:p>
        </p:txBody>
      </p:sp>
      <p:sp>
        <p:nvSpPr>
          <p:cNvPr id="17" name="Text 11"/>
          <p:cNvSpPr/>
          <p:nvPr/>
        </p:nvSpPr>
        <p:spPr>
          <a:xfrm>
            <a:off x="5074920" y="1444752"/>
            <a:ext cx="3657600" cy="228600"/>
          </a:xfrm>
          <a:prstGeom prst="rect">
            <a:avLst/>
          </a:prstGeom>
          <a:noFill/>
          <a:ln/>
        </p:spPr>
        <p:txBody>
          <a:bodyPr wrap="square" lIns="0" tIns="0" rIns="0" bIns="0" rtlCol="0" anchor="ctr"/>
          <a:lstStyle/>
          <a:p>
            <a:pPr marL="0" indent="0" algn="ctr">
              <a:buNone/>
            </a:pPr>
            <a:r>
              <a:rPr lang="en-US" sz="900" dirty="0">
                <a:solidFill>
                  <a:srgbClr val="999999"/>
                </a:solidFill>
                <a:latin typeface="Calibri" pitchFamily="34" charset="0"/>
                <a:ea typeface="Calibri" pitchFamily="34" charset="-122"/>
                <a:cs typeface="Calibri" pitchFamily="34" charset="-120"/>
              </a:rPr>
              <a:t>Correlates findings, generates incident summary</a:t>
            </a:r>
            <a:endParaRPr lang="en-US" sz="900" dirty="0"/>
          </a:p>
        </p:txBody>
      </p:sp>
      <p:sp>
        <p:nvSpPr>
          <p:cNvPr id="18" name="Shape 12"/>
          <p:cNvSpPr/>
          <p:nvPr/>
        </p:nvSpPr>
        <p:spPr>
          <a:xfrm>
            <a:off x="4937760" y="1874520"/>
            <a:ext cx="3931920" cy="594360"/>
          </a:xfrm>
          <a:prstGeom prst="rect">
            <a:avLst/>
          </a:prstGeom>
          <a:solidFill>
            <a:srgbClr val="242424"/>
          </a:solidFill>
          <a:ln w="19050">
            <a:solidFill>
              <a:srgbClr val="1ABC9C"/>
            </a:solidFill>
            <a:prstDash val="solid"/>
          </a:ln>
        </p:spPr>
        <p:txBody>
          <a:bodyPr/>
          <a:lstStyle/>
          <a:p>
            <a:endParaRPr lang="en-US"/>
          </a:p>
        </p:txBody>
      </p:sp>
      <p:sp>
        <p:nvSpPr>
          <p:cNvPr id="19" name="Text 13"/>
          <p:cNvSpPr/>
          <p:nvPr/>
        </p:nvSpPr>
        <p:spPr>
          <a:xfrm>
            <a:off x="5074920" y="1920240"/>
            <a:ext cx="365760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Shared Memory Layer</a:t>
            </a:r>
            <a:endParaRPr lang="en-US" sz="1100" dirty="0"/>
          </a:p>
        </p:txBody>
      </p:sp>
      <p:sp>
        <p:nvSpPr>
          <p:cNvPr id="20" name="Text 14"/>
          <p:cNvSpPr/>
          <p:nvPr/>
        </p:nvSpPr>
        <p:spPr>
          <a:xfrm>
            <a:off x="5074920" y="2176272"/>
            <a:ext cx="3657600" cy="228600"/>
          </a:xfrm>
          <a:prstGeom prst="rect">
            <a:avLst/>
          </a:prstGeom>
          <a:noFill/>
          <a:ln/>
        </p:spPr>
        <p:txBody>
          <a:bodyPr wrap="square" lIns="0" tIns="0" rIns="0" bIns="0" rtlCol="0" anchor="ctr"/>
          <a:lstStyle/>
          <a:p>
            <a:pPr marL="0" indent="0" algn="ctr">
              <a:buNone/>
            </a:pPr>
            <a:r>
              <a:rPr lang="en-US" sz="900" dirty="0">
                <a:solidFill>
                  <a:srgbClr val="999999"/>
                </a:solidFill>
                <a:latin typeface="Calibri" pitchFamily="34" charset="0"/>
                <a:ea typeface="Calibri" pitchFamily="34" charset="-122"/>
                <a:cs typeface="Calibri" pitchFamily="34" charset="-120"/>
              </a:rPr>
              <a:t>Short-term: Active  ·  Long-term: Historical</a:t>
            </a:r>
            <a:endParaRPr lang="en-US" sz="900" dirty="0"/>
          </a:p>
        </p:txBody>
      </p:sp>
      <p:sp>
        <p:nvSpPr>
          <p:cNvPr id="21" name="Shape 15"/>
          <p:cNvSpPr/>
          <p:nvPr/>
        </p:nvSpPr>
        <p:spPr>
          <a:xfrm>
            <a:off x="4937760" y="2606040"/>
            <a:ext cx="3931920" cy="594360"/>
          </a:xfrm>
          <a:prstGeom prst="rect">
            <a:avLst/>
          </a:prstGeom>
          <a:solidFill>
            <a:srgbClr val="242424"/>
          </a:solidFill>
          <a:ln w="19050">
            <a:solidFill>
              <a:srgbClr val="3CB371"/>
            </a:solidFill>
            <a:prstDash val="solid"/>
          </a:ln>
        </p:spPr>
        <p:txBody>
          <a:bodyPr/>
          <a:lstStyle/>
          <a:p>
            <a:endParaRPr lang="en-US"/>
          </a:p>
        </p:txBody>
      </p:sp>
      <p:sp>
        <p:nvSpPr>
          <p:cNvPr id="22" name="Text 16"/>
          <p:cNvSpPr/>
          <p:nvPr/>
        </p:nvSpPr>
        <p:spPr>
          <a:xfrm>
            <a:off x="5074920" y="2651760"/>
            <a:ext cx="365760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SRE Intelligence Layer</a:t>
            </a:r>
            <a:endParaRPr lang="en-US" sz="1100" dirty="0"/>
          </a:p>
        </p:txBody>
      </p:sp>
      <p:sp>
        <p:nvSpPr>
          <p:cNvPr id="23" name="Text 17"/>
          <p:cNvSpPr/>
          <p:nvPr/>
        </p:nvSpPr>
        <p:spPr>
          <a:xfrm>
            <a:off x="5074920" y="2907792"/>
            <a:ext cx="3657600" cy="228600"/>
          </a:xfrm>
          <a:prstGeom prst="rect">
            <a:avLst/>
          </a:prstGeom>
          <a:noFill/>
          <a:ln/>
        </p:spPr>
        <p:txBody>
          <a:bodyPr wrap="square" lIns="0" tIns="0" rIns="0" bIns="0" rtlCol="0" anchor="ctr"/>
          <a:lstStyle/>
          <a:p>
            <a:pPr marL="0" indent="0" algn="ctr">
              <a:buNone/>
            </a:pPr>
            <a:r>
              <a:rPr lang="en-US" sz="900" dirty="0">
                <a:solidFill>
                  <a:srgbClr val="999999"/>
                </a:solidFill>
                <a:latin typeface="Calibri" pitchFamily="34" charset="0"/>
                <a:ea typeface="Calibri" pitchFamily="34" charset="-122"/>
                <a:cs typeface="Calibri" pitchFamily="34" charset="-120"/>
              </a:rPr>
              <a:t>Orchestrator Agent (LangGraph + Agent Runtime)</a:t>
            </a:r>
            <a:endParaRPr lang="en-US" sz="900" dirty="0"/>
          </a:p>
        </p:txBody>
      </p:sp>
      <p:sp>
        <p:nvSpPr>
          <p:cNvPr id="24" name="Shape 18"/>
          <p:cNvSpPr/>
          <p:nvPr/>
        </p:nvSpPr>
        <p:spPr>
          <a:xfrm>
            <a:off x="4937760" y="3337560"/>
            <a:ext cx="3931920" cy="594360"/>
          </a:xfrm>
          <a:prstGeom prst="rect">
            <a:avLst/>
          </a:prstGeom>
          <a:solidFill>
            <a:srgbClr val="242424"/>
          </a:solidFill>
          <a:ln w="19050">
            <a:solidFill>
              <a:srgbClr val="3498DB"/>
            </a:solidFill>
            <a:prstDash val="solid"/>
          </a:ln>
        </p:spPr>
        <p:txBody>
          <a:bodyPr/>
          <a:lstStyle/>
          <a:p>
            <a:endParaRPr lang="en-US"/>
          </a:p>
        </p:txBody>
      </p:sp>
      <p:sp>
        <p:nvSpPr>
          <p:cNvPr id="25" name="Text 19"/>
          <p:cNvSpPr/>
          <p:nvPr/>
        </p:nvSpPr>
        <p:spPr>
          <a:xfrm>
            <a:off x="5074920" y="3383280"/>
            <a:ext cx="365760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Domain Analysis Tools (MCP Servers)</a:t>
            </a:r>
            <a:endParaRPr lang="en-US" sz="1100" dirty="0"/>
          </a:p>
        </p:txBody>
      </p:sp>
      <p:sp>
        <p:nvSpPr>
          <p:cNvPr id="26" name="Text 20"/>
          <p:cNvSpPr/>
          <p:nvPr/>
        </p:nvSpPr>
        <p:spPr>
          <a:xfrm>
            <a:off x="5074920" y="3639312"/>
            <a:ext cx="3657600" cy="228600"/>
          </a:xfrm>
          <a:prstGeom prst="rect">
            <a:avLst/>
          </a:prstGeom>
          <a:noFill/>
          <a:ln/>
        </p:spPr>
        <p:txBody>
          <a:bodyPr wrap="square" lIns="0" tIns="0" rIns="0" bIns="0" rtlCol="0" anchor="ctr"/>
          <a:lstStyle/>
          <a:p>
            <a:pPr marL="0" indent="0" algn="ctr">
              <a:buNone/>
            </a:pPr>
            <a:r>
              <a:rPr lang="en-US" sz="900" dirty="0">
                <a:solidFill>
                  <a:srgbClr val="999999"/>
                </a:solidFill>
                <a:latin typeface="Calibri" pitchFamily="34" charset="0"/>
                <a:ea typeface="Calibri" pitchFamily="34" charset="-122"/>
                <a:cs typeface="Calibri" pitchFamily="34" charset="-120"/>
              </a:rPr>
              <a:t>Logs · Metrics · Infra · Docs · Alerts</a:t>
            </a:r>
            <a:endParaRPr lang="en-US" sz="900" dirty="0"/>
          </a:p>
        </p:txBody>
      </p:sp>
      <p:sp>
        <p:nvSpPr>
          <p:cNvPr id="27" name="Text 21"/>
          <p:cNvSpPr/>
          <p:nvPr/>
        </p:nvSpPr>
        <p:spPr>
          <a:xfrm>
            <a:off x="6675120" y="1667610"/>
            <a:ext cx="457200" cy="274320"/>
          </a:xfrm>
          <a:prstGeom prst="rect">
            <a:avLst/>
          </a:prstGeom>
          <a:noFill/>
          <a:ln/>
        </p:spPr>
        <p:txBody>
          <a:bodyPr wrap="square" lIns="0" tIns="0" rIns="0" bIns="0" rtlCol="0" anchor="ctr"/>
          <a:lstStyle/>
          <a:p>
            <a:pPr marL="0" indent="0" algn="ctr">
              <a:buNone/>
            </a:pPr>
            <a:r>
              <a:rPr lang="en-US" sz="1200" dirty="0">
                <a:solidFill>
                  <a:srgbClr val="666666"/>
                </a:solidFill>
              </a:rPr>
              <a:t>▼</a:t>
            </a:r>
            <a:endParaRPr lang="en-US" sz="1200" dirty="0"/>
          </a:p>
        </p:txBody>
      </p:sp>
      <p:sp>
        <p:nvSpPr>
          <p:cNvPr id="28" name="Text 22"/>
          <p:cNvSpPr/>
          <p:nvPr/>
        </p:nvSpPr>
        <p:spPr>
          <a:xfrm>
            <a:off x="6675120" y="2409444"/>
            <a:ext cx="457200" cy="274320"/>
          </a:xfrm>
          <a:prstGeom prst="rect">
            <a:avLst/>
          </a:prstGeom>
          <a:noFill/>
          <a:ln/>
        </p:spPr>
        <p:txBody>
          <a:bodyPr wrap="square" lIns="0" tIns="0" rIns="0" bIns="0" rtlCol="0" anchor="ctr"/>
          <a:lstStyle/>
          <a:p>
            <a:pPr marL="0" indent="0" algn="ctr">
              <a:buNone/>
            </a:pPr>
            <a:r>
              <a:rPr lang="en-US" sz="1200" dirty="0">
                <a:solidFill>
                  <a:srgbClr val="666666"/>
                </a:solidFill>
              </a:rPr>
              <a:t>▼</a:t>
            </a:r>
            <a:endParaRPr lang="en-US" sz="1200" dirty="0"/>
          </a:p>
        </p:txBody>
      </p:sp>
      <p:sp>
        <p:nvSpPr>
          <p:cNvPr id="29" name="Text 23"/>
          <p:cNvSpPr/>
          <p:nvPr/>
        </p:nvSpPr>
        <p:spPr>
          <a:xfrm>
            <a:off x="6675120" y="3140113"/>
            <a:ext cx="457200" cy="274320"/>
          </a:xfrm>
          <a:prstGeom prst="rect">
            <a:avLst/>
          </a:prstGeom>
          <a:noFill/>
          <a:ln/>
        </p:spPr>
        <p:txBody>
          <a:bodyPr wrap="square" lIns="0" tIns="0" rIns="0" bIns="0" rtlCol="0" anchor="ctr"/>
          <a:lstStyle/>
          <a:p>
            <a:pPr marL="0" indent="0" algn="ctr">
              <a:buNone/>
            </a:pPr>
            <a:r>
              <a:rPr lang="en-US" sz="1200" dirty="0">
                <a:solidFill>
                  <a:srgbClr val="666666"/>
                </a:solidFill>
              </a:rPr>
              <a:t>▼</a:t>
            </a:r>
            <a:endParaRPr lang="en-US" sz="1200" dirty="0"/>
          </a:p>
        </p:txBody>
      </p:sp>
      <p:sp>
        <p:nvSpPr>
          <p:cNvPr id="30" name="Text 24"/>
          <p:cNvSpPr/>
          <p:nvPr/>
        </p:nvSpPr>
        <p:spPr>
          <a:xfrm>
            <a:off x="457200" y="4480560"/>
            <a:ext cx="8229600" cy="320040"/>
          </a:xfrm>
          <a:prstGeom prst="rect">
            <a:avLst/>
          </a:prstGeom>
          <a:noFill/>
          <a:ln/>
        </p:spPr>
        <p:txBody>
          <a:bodyPr wrap="square" lIns="0" tIns="0" rIns="0" bIns="0" rtlCol="0" anchor="ctr"/>
          <a:lstStyle/>
          <a:p>
            <a:pPr marL="0" indent="0" algn="ctr">
              <a:buNone/>
            </a:pPr>
            <a:r>
              <a:rPr lang="en-US" sz="1000" i="1" dirty="0">
                <a:solidFill>
                  <a:srgbClr val="666666"/>
                </a:solidFill>
                <a:latin typeface="Calibri" pitchFamily="34" charset="0"/>
                <a:ea typeface="Calibri" pitchFamily="34" charset="-122"/>
                <a:cs typeface="Calibri" pitchFamily="34" charset="-120"/>
              </a:rPr>
              <a:t>Built on Google Agent Engine for cloud-native scalability and enterprise guardrails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234440"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234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THE VISION</a:t>
            </a:r>
            <a:endParaRPr lang="en-US" sz="800" dirty="0"/>
          </a:p>
        </p:txBody>
      </p:sp>
      <p:sp>
        <p:nvSpPr>
          <p:cNvPr id="5" name="Text 3"/>
          <p:cNvSpPr/>
          <p:nvPr/>
        </p:nvSpPr>
        <p:spPr>
          <a:xfrm>
            <a:off x="457200" y="502920"/>
            <a:ext cx="8229600" cy="502920"/>
          </a:xfrm>
          <a:prstGeom prst="rect">
            <a:avLst/>
          </a:prstGeom>
          <a:noFill/>
          <a:ln/>
        </p:spPr>
        <p:txBody>
          <a:bodyPr wrap="square" lIns="0" tIns="0" rIns="0" bIns="0" rtlCol="0" anchor="ctr"/>
          <a:lstStyle/>
          <a:p>
            <a:pPr marL="0" indent="0">
              <a:buNone/>
            </a:pPr>
            <a:r>
              <a:rPr lang="en-US" sz="3000" b="1" dirty="0">
                <a:latin typeface="Georgia" pitchFamily="34" charset="0"/>
                <a:ea typeface="Georgia" pitchFamily="34" charset="-122"/>
                <a:cs typeface="Georgia" pitchFamily="34" charset="-120"/>
              </a:rPr>
              <a:t>SRE Workflow: Before vs After</a:t>
            </a:r>
            <a:endParaRPr lang="en-US" sz="3000" dirty="0"/>
          </a:p>
        </p:txBody>
      </p:sp>
      <p:sp>
        <p:nvSpPr>
          <p:cNvPr id="6" name="Shape 4"/>
          <p:cNvSpPr/>
          <p:nvPr/>
        </p:nvSpPr>
        <p:spPr>
          <a:xfrm>
            <a:off x="457200" y="1188720"/>
            <a:ext cx="3840480" cy="365760"/>
          </a:xfrm>
          <a:prstGeom prst="rect">
            <a:avLst/>
          </a:prstGeom>
          <a:solidFill>
            <a:srgbClr val="E74C3C"/>
          </a:solidFill>
          <a:ln/>
        </p:spPr>
        <p:txBody>
          <a:bodyPr/>
          <a:lstStyle/>
          <a:p>
            <a:endParaRPr lang="en-US"/>
          </a:p>
        </p:txBody>
      </p:sp>
      <p:sp>
        <p:nvSpPr>
          <p:cNvPr id="7" name="Text 5"/>
          <p:cNvSpPr/>
          <p:nvPr/>
        </p:nvSpPr>
        <p:spPr>
          <a:xfrm>
            <a:off x="457200" y="1188720"/>
            <a:ext cx="3840480" cy="365760"/>
          </a:xfrm>
          <a:prstGeom prst="rect">
            <a:avLst/>
          </a:prstGeom>
          <a:noFill/>
          <a:ln/>
        </p:spPr>
        <p:txBody>
          <a:bodyPr wrap="square" lIns="0" tIns="0" rIns="0" bIns="0" rtlCol="0" anchor="ctr"/>
          <a:lstStyle/>
          <a:p>
            <a:pPr marL="0" indent="0" algn="ctr">
              <a:buNone/>
            </a:pPr>
            <a:r>
              <a:rPr lang="en-US" sz="1200" b="1" kern="0" spc="200" dirty="0">
                <a:solidFill>
                  <a:srgbClr val="FFFFFF"/>
                </a:solidFill>
                <a:latin typeface="Trebuchet MS" pitchFamily="34" charset="0"/>
                <a:ea typeface="Trebuchet MS" pitchFamily="34" charset="-122"/>
                <a:cs typeface="Trebuchet MS" pitchFamily="34" charset="-120"/>
              </a:rPr>
              <a:t>CURRENT WORKFLOW</a:t>
            </a:r>
            <a:endParaRPr lang="en-US" sz="1200" dirty="0"/>
          </a:p>
        </p:txBody>
      </p:sp>
      <p:sp>
        <p:nvSpPr>
          <p:cNvPr id="8" name="Shape 6"/>
          <p:cNvSpPr/>
          <p:nvPr/>
        </p:nvSpPr>
        <p:spPr>
          <a:xfrm>
            <a:off x="457200" y="1691640"/>
            <a:ext cx="3840480" cy="301752"/>
          </a:xfrm>
          <a:prstGeom prst="rect">
            <a:avLst/>
          </a:prstGeom>
          <a:solidFill>
            <a:srgbClr val="242424"/>
          </a:solidFill>
          <a:ln/>
        </p:spPr>
        <p:txBody>
          <a:bodyPr/>
          <a:lstStyle/>
          <a:p>
            <a:endParaRPr lang="en-US"/>
          </a:p>
        </p:txBody>
      </p:sp>
      <p:sp>
        <p:nvSpPr>
          <p:cNvPr id="9" name="Text 7"/>
          <p:cNvSpPr/>
          <p:nvPr/>
        </p:nvSpPr>
        <p:spPr>
          <a:xfrm>
            <a:off x="594360" y="1691640"/>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1.  Alert triggers → SRE On-Call notified</a:t>
            </a:r>
            <a:endParaRPr lang="en-US" sz="1000" dirty="0"/>
          </a:p>
        </p:txBody>
      </p:sp>
      <p:sp>
        <p:nvSpPr>
          <p:cNvPr id="10" name="Shape 8"/>
          <p:cNvSpPr/>
          <p:nvPr/>
        </p:nvSpPr>
        <p:spPr>
          <a:xfrm>
            <a:off x="457200" y="2039112"/>
            <a:ext cx="3840480" cy="301752"/>
          </a:xfrm>
          <a:prstGeom prst="rect">
            <a:avLst/>
          </a:prstGeom>
          <a:solidFill>
            <a:srgbClr val="2A2A2A"/>
          </a:solidFill>
          <a:ln/>
        </p:spPr>
        <p:txBody>
          <a:bodyPr/>
          <a:lstStyle/>
          <a:p>
            <a:endParaRPr lang="en-US"/>
          </a:p>
        </p:txBody>
      </p:sp>
      <p:sp>
        <p:nvSpPr>
          <p:cNvPr id="11" name="Text 9"/>
          <p:cNvSpPr/>
          <p:nvPr/>
        </p:nvSpPr>
        <p:spPr>
          <a:xfrm>
            <a:off x="594360" y="2039112"/>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2.  Manually check alert context / service</a:t>
            </a:r>
            <a:endParaRPr lang="en-US" sz="1000" dirty="0"/>
          </a:p>
        </p:txBody>
      </p:sp>
      <p:sp>
        <p:nvSpPr>
          <p:cNvPr id="12" name="Shape 10"/>
          <p:cNvSpPr/>
          <p:nvPr/>
        </p:nvSpPr>
        <p:spPr>
          <a:xfrm>
            <a:off x="457200" y="2386584"/>
            <a:ext cx="3840480" cy="301752"/>
          </a:xfrm>
          <a:prstGeom prst="rect">
            <a:avLst/>
          </a:prstGeom>
          <a:solidFill>
            <a:srgbClr val="242424"/>
          </a:solidFill>
          <a:ln/>
        </p:spPr>
        <p:txBody>
          <a:bodyPr/>
          <a:lstStyle/>
          <a:p>
            <a:endParaRPr lang="en-US"/>
          </a:p>
        </p:txBody>
      </p:sp>
      <p:sp>
        <p:nvSpPr>
          <p:cNvPr id="13" name="Text 11"/>
          <p:cNvSpPr/>
          <p:nvPr/>
        </p:nvSpPr>
        <p:spPr>
          <a:xfrm>
            <a:off x="594360" y="2386584"/>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3.  Open runbooks / documentation</a:t>
            </a:r>
            <a:endParaRPr lang="en-US" sz="1000" dirty="0"/>
          </a:p>
        </p:txBody>
      </p:sp>
      <p:sp>
        <p:nvSpPr>
          <p:cNvPr id="14" name="Shape 12"/>
          <p:cNvSpPr/>
          <p:nvPr/>
        </p:nvSpPr>
        <p:spPr>
          <a:xfrm>
            <a:off x="457200" y="2734056"/>
            <a:ext cx="3840480" cy="301752"/>
          </a:xfrm>
          <a:prstGeom prst="rect">
            <a:avLst/>
          </a:prstGeom>
          <a:solidFill>
            <a:srgbClr val="2A2A2A"/>
          </a:solidFill>
          <a:ln/>
        </p:spPr>
        <p:txBody>
          <a:bodyPr/>
          <a:lstStyle/>
          <a:p>
            <a:endParaRPr lang="en-US"/>
          </a:p>
        </p:txBody>
      </p:sp>
      <p:sp>
        <p:nvSpPr>
          <p:cNvPr id="15" name="Text 13"/>
          <p:cNvSpPr/>
          <p:nvPr/>
        </p:nvSpPr>
        <p:spPr>
          <a:xfrm>
            <a:off x="594360" y="2734056"/>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4.  SSH into systems, check logs manually</a:t>
            </a:r>
            <a:endParaRPr lang="en-US" sz="1000" dirty="0"/>
          </a:p>
        </p:txBody>
      </p:sp>
      <p:sp>
        <p:nvSpPr>
          <p:cNvPr id="16" name="Shape 14"/>
          <p:cNvSpPr/>
          <p:nvPr/>
        </p:nvSpPr>
        <p:spPr>
          <a:xfrm>
            <a:off x="457200" y="3081528"/>
            <a:ext cx="3840480" cy="301752"/>
          </a:xfrm>
          <a:prstGeom prst="rect">
            <a:avLst/>
          </a:prstGeom>
          <a:solidFill>
            <a:srgbClr val="242424"/>
          </a:solidFill>
          <a:ln/>
        </p:spPr>
        <p:txBody>
          <a:bodyPr/>
          <a:lstStyle/>
          <a:p>
            <a:endParaRPr lang="en-US"/>
          </a:p>
        </p:txBody>
      </p:sp>
      <p:sp>
        <p:nvSpPr>
          <p:cNvPr id="17" name="Text 15"/>
          <p:cNvSpPr/>
          <p:nvPr/>
        </p:nvSpPr>
        <p:spPr>
          <a:xfrm>
            <a:off x="594360" y="3081528"/>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5.  Check metrics dashboards one by one</a:t>
            </a:r>
            <a:endParaRPr lang="en-US" sz="1000" dirty="0"/>
          </a:p>
        </p:txBody>
      </p:sp>
      <p:sp>
        <p:nvSpPr>
          <p:cNvPr id="18" name="Shape 16"/>
          <p:cNvSpPr/>
          <p:nvPr/>
        </p:nvSpPr>
        <p:spPr>
          <a:xfrm>
            <a:off x="457200" y="3429000"/>
            <a:ext cx="3840480" cy="301752"/>
          </a:xfrm>
          <a:prstGeom prst="rect">
            <a:avLst/>
          </a:prstGeom>
          <a:solidFill>
            <a:srgbClr val="2A2A2A"/>
          </a:solidFill>
          <a:ln/>
        </p:spPr>
        <p:txBody>
          <a:bodyPr/>
          <a:lstStyle/>
          <a:p>
            <a:endParaRPr lang="en-US"/>
          </a:p>
        </p:txBody>
      </p:sp>
      <p:sp>
        <p:nvSpPr>
          <p:cNvPr id="19" name="Text 17"/>
          <p:cNvSpPr/>
          <p:nvPr/>
        </p:nvSpPr>
        <p:spPr>
          <a:xfrm>
            <a:off x="594360" y="3429000"/>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6.  Look at recent deployments / changes</a:t>
            </a:r>
            <a:endParaRPr lang="en-US" sz="1000" dirty="0"/>
          </a:p>
        </p:txBody>
      </p:sp>
      <p:sp>
        <p:nvSpPr>
          <p:cNvPr id="20" name="Shape 18"/>
          <p:cNvSpPr/>
          <p:nvPr/>
        </p:nvSpPr>
        <p:spPr>
          <a:xfrm>
            <a:off x="457200" y="3776472"/>
            <a:ext cx="3840480" cy="301752"/>
          </a:xfrm>
          <a:prstGeom prst="rect">
            <a:avLst/>
          </a:prstGeom>
          <a:solidFill>
            <a:srgbClr val="242424"/>
          </a:solidFill>
          <a:ln/>
        </p:spPr>
        <p:txBody>
          <a:bodyPr/>
          <a:lstStyle/>
          <a:p>
            <a:endParaRPr lang="en-US"/>
          </a:p>
        </p:txBody>
      </p:sp>
      <p:sp>
        <p:nvSpPr>
          <p:cNvPr id="21" name="Text 19"/>
          <p:cNvSpPr/>
          <p:nvPr/>
        </p:nvSpPr>
        <p:spPr>
          <a:xfrm>
            <a:off x="594360" y="3776472"/>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7.  Correlate findings mentally</a:t>
            </a:r>
            <a:endParaRPr lang="en-US" sz="1000" dirty="0"/>
          </a:p>
        </p:txBody>
      </p:sp>
      <p:sp>
        <p:nvSpPr>
          <p:cNvPr id="22" name="Shape 20"/>
          <p:cNvSpPr/>
          <p:nvPr/>
        </p:nvSpPr>
        <p:spPr>
          <a:xfrm>
            <a:off x="457200" y="4123944"/>
            <a:ext cx="3840480" cy="301752"/>
          </a:xfrm>
          <a:prstGeom prst="rect">
            <a:avLst/>
          </a:prstGeom>
          <a:solidFill>
            <a:srgbClr val="2A2A2A"/>
          </a:solidFill>
          <a:ln/>
        </p:spPr>
        <p:txBody>
          <a:bodyPr/>
          <a:lstStyle/>
          <a:p>
            <a:endParaRPr lang="en-US"/>
          </a:p>
        </p:txBody>
      </p:sp>
      <p:sp>
        <p:nvSpPr>
          <p:cNvPr id="23" name="Text 21"/>
          <p:cNvSpPr/>
          <p:nvPr/>
        </p:nvSpPr>
        <p:spPr>
          <a:xfrm>
            <a:off x="594360" y="4123944"/>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8.  Write up RCA from scratch</a:t>
            </a:r>
            <a:endParaRPr lang="en-US" sz="1000" dirty="0"/>
          </a:p>
        </p:txBody>
      </p:sp>
      <p:sp>
        <p:nvSpPr>
          <p:cNvPr id="24" name="Shape 22"/>
          <p:cNvSpPr/>
          <p:nvPr/>
        </p:nvSpPr>
        <p:spPr>
          <a:xfrm>
            <a:off x="4846320" y="1188720"/>
            <a:ext cx="3840480" cy="365760"/>
          </a:xfrm>
          <a:prstGeom prst="rect">
            <a:avLst/>
          </a:prstGeom>
          <a:solidFill>
            <a:srgbClr val="3CB371"/>
          </a:solidFill>
          <a:ln/>
        </p:spPr>
        <p:txBody>
          <a:bodyPr/>
          <a:lstStyle/>
          <a:p>
            <a:endParaRPr lang="en-US"/>
          </a:p>
        </p:txBody>
      </p:sp>
      <p:sp>
        <p:nvSpPr>
          <p:cNvPr id="25" name="Text 23"/>
          <p:cNvSpPr/>
          <p:nvPr/>
        </p:nvSpPr>
        <p:spPr>
          <a:xfrm>
            <a:off x="4846320" y="1188720"/>
            <a:ext cx="3840480" cy="365760"/>
          </a:xfrm>
          <a:prstGeom prst="rect">
            <a:avLst/>
          </a:prstGeom>
          <a:noFill/>
          <a:ln/>
        </p:spPr>
        <p:txBody>
          <a:bodyPr wrap="square" lIns="0" tIns="0" rIns="0" bIns="0" rtlCol="0" anchor="ctr"/>
          <a:lstStyle/>
          <a:p>
            <a:pPr marL="0" indent="0" algn="ctr">
              <a:buNone/>
            </a:pPr>
            <a:r>
              <a:rPr lang="en-US" sz="1200" b="1" kern="0" spc="200" dirty="0">
                <a:solidFill>
                  <a:srgbClr val="FFFFFF"/>
                </a:solidFill>
                <a:latin typeface="Trebuchet MS" pitchFamily="34" charset="0"/>
                <a:ea typeface="Trebuchet MS" pitchFamily="34" charset="-122"/>
                <a:cs typeface="Trebuchet MS" pitchFamily="34" charset="-120"/>
              </a:rPr>
              <a:t>WITH SRE AI LAYER</a:t>
            </a:r>
            <a:endParaRPr lang="en-US" sz="1200" dirty="0"/>
          </a:p>
        </p:txBody>
      </p:sp>
      <p:sp>
        <p:nvSpPr>
          <p:cNvPr id="26" name="Shape 24"/>
          <p:cNvSpPr/>
          <p:nvPr/>
        </p:nvSpPr>
        <p:spPr>
          <a:xfrm>
            <a:off x="4846320" y="1691640"/>
            <a:ext cx="3840480" cy="301752"/>
          </a:xfrm>
          <a:prstGeom prst="rect">
            <a:avLst/>
          </a:prstGeom>
          <a:solidFill>
            <a:srgbClr val="242424"/>
          </a:solidFill>
          <a:ln/>
        </p:spPr>
        <p:txBody>
          <a:bodyPr/>
          <a:lstStyle/>
          <a:p>
            <a:endParaRPr lang="en-US"/>
          </a:p>
        </p:txBody>
      </p:sp>
      <p:sp>
        <p:nvSpPr>
          <p:cNvPr id="27" name="Text 25"/>
          <p:cNvSpPr/>
          <p:nvPr/>
        </p:nvSpPr>
        <p:spPr>
          <a:xfrm>
            <a:off x="4983480" y="1691640"/>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1.  Alert triggers → AI agent auto-invoked</a:t>
            </a:r>
            <a:endParaRPr lang="en-US" sz="1000" dirty="0"/>
          </a:p>
        </p:txBody>
      </p:sp>
      <p:sp>
        <p:nvSpPr>
          <p:cNvPr id="28" name="Shape 26"/>
          <p:cNvSpPr/>
          <p:nvPr/>
        </p:nvSpPr>
        <p:spPr>
          <a:xfrm>
            <a:off x="4846320" y="2039112"/>
            <a:ext cx="3840480" cy="301752"/>
          </a:xfrm>
          <a:prstGeom prst="rect">
            <a:avLst/>
          </a:prstGeom>
          <a:solidFill>
            <a:srgbClr val="2A2A2A"/>
          </a:solidFill>
          <a:ln/>
        </p:spPr>
        <p:txBody>
          <a:bodyPr/>
          <a:lstStyle/>
          <a:p>
            <a:endParaRPr lang="en-US"/>
          </a:p>
        </p:txBody>
      </p:sp>
      <p:sp>
        <p:nvSpPr>
          <p:cNvPr id="29" name="Text 27"/>
          <p:cNvSpPr/>
          <p:nvPr/>
        </p:nvSpPr>
        <p:spPr>
          <a:xfrm>
            <a:off x="4983480" y="2039112"/>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2.  Agent queries all relevant data sources</a:t>
            </a:r>
            <a:endParaRPr lang="en-US" sz="1000" dirty="0"/>
          </a:p>
        </p:txBody>
      </p:sp>
      <p:sp>
        <p:nvSpPr>
          <p:cNvPr id="30" name="Shape 28"/>
          <p:cNvSpPr/>
          <p:nvPr/>
        </p:nvSpPr>
        <p:spPr>
          <a:xfrm>
            <a:off x="4846320" y="2386584"/>
            <a:ext cx="3840480" cy="301752"/>
          </a:xfrm>
          <a:prstGeom prst="rect">
            <a:avLst/>
          </a:prstGeom>
          <a:solidFill>
            <a:srgbClr val="242424"/>
          </a:solidFill>
          <a:ln/>
        </p:spPr>
        <p:txBody>
          <a:bodyPr/>
          <a:lstStyle/>
          <a:p>
            <a:endParaRPr lang="en-US"/>
          </a:p>
        </p:txBody>
      </p:sp>
      <p:sp>
        <p:nvSpPr>
          <p:cNvPr id="31" name="Text 29"/>
          <p:cNvSpPr/>
          <p:nvPr/>
        </p:nvSpPr>
        <p:spPr>
          <a:xfrm>
            <a:off x="4983480" y="2386584"/>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3.  Retrieves runbooks + past incident context</a:t>
            </a:r>
            <a:endParaRPr lang="en-US" sz="1000" dirty="0"/>
          </a:p>
        </p:txBody>
      </p:sp>
      <p:sp>
        <p:nvSpPr>
          <p:cNvPr id="32" name="Shape 30"/>
          <p:cNvSpPr/>
          <p:nvPr/>
        </p:nvSpPr>
        <p:spPr>
          <a:xfrm>
            <a:off x="4846320" y="2734056"/>
            <a:ext cx="3840480" cy="301752"/>
          </a:xfrm>
          <a:prstGeom prst="rect">
            <a:avLst/>
          </a:prstGeom>
          <a:solidFill>
            <a:srgbClr val="2A2A2A"/>
          </a:solidFill>
          <a:ln/>
        </p:spPr>
        <p:txBody>
          <a:bodyPr/>
          <a:lstStyle/>
          <a:p>
            <a:endParaRPr lang="en-US"/>
          </a:p>
        </p:txBody>
      </p:sp>
      <p:sp>
        <p:nvSpPr>
          <p:cNvPr id="33" name="Text 31"/>
          <p:cNvSpPr/>
          <p:nvPr/>
        </p:nvSpPr>
        <p:spPr>
          <a:xfrm>
            <a:off x="4983480" y="2734056"/>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4.  Pulls logs, events, pod status via MCP</a:t>
            </a:r>
            <a:endParaRPr lang="en-US" sz="1000" dirty="0"/>
          </a:p>
        </p:txBody>
      </p:sp>
      <p:sp>
        <p:nvSpPr>
          <p:cNvPr id="34" name="Shape 32"/>
          <p:cNvSpPr/>
          <p:nvPr/>
        </p:nvSpPr>
        <p:spPr>
          <a:xfrm>
            <a:off x="4846320" y="3081528"/>
            <a:ext cx="3840480" cy="301752"/>
          </a:xfrm>
          <a:prstGeom prst="rect">
            <a:avLst/>
          </a:prstGeom>
          <a:solidFill>
            <a:srgbClr val="242424"/>
          </a:solidFill>
          <a:ln/>
        </p:spPr>
        <p:txBody>
          <a:bodyPr/>
          <a:lstStyle/>
          <a:p>
            <a:endParaRPr lang="en-US"/>
          </a:p>
        </p:txBody>
      </p:sp>
      <p:sp>
        <p:nvSpPr>
          <p:cNvPr id="35" name="Text 33"/>
          <p:cNvSpPr/>
          <p:nvPr/>
        </p:nvSpPr>
        <p:spPr>
          <a:xfrm>
            <a:off x="4983480" y="3081528"/>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5.  Correlates metrics automatically</a:t>
            </a:r>
            <a:endParaRPr lang="en-US" sz="1000" dirty="0"/>
          </a:p>
        </p:txBody>
      </p:sp>
      <p:sp>
        <p:nvSpPr>
          <p:cNvPr id="36" name="Shape 34"/>
          <p:cNvSpPr/>
          <p:nvPr/>
        </p:nvSpPr>
        <p:spPr>
          <a:xfrm>
            <a:off x="4846320" y="3429000"/>
            <a:ext cx="3840480" cy="301752"/>
          </a:xfrm>
          <a:prstGeom prst="rect">
            <a:avLst/>
          </a:prstGeom>
          <a:solidFill>
            <a:srgbClr val="2A2A2A"/>
          </a:solidFill>
          <a:ln/>
        </p:spPr>
        <p:txBody>
          <a:bodyPr/>
          <a:lstStyle/>
          <a:p>
            <a:endParaRPr lang="en-US"/>
          </a:p>
        </p:txBody>
      </p:sp>
      <p:sp>
        <p:nvSpPr>
          <p:cNvPr id="37" name="Text 35"/>
          <p:cNvSpPr/>
          <p:nvPr/>
        </p:nvSpPr>
        <p:spPr>
          <a:xfrm>
            <a:off x="4983480" y="3429000"/>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6.  Checks deployment history if available</a:t>
            </a:r>
            <a:endParaRPr lang="en-US" sz="1000" dirty="0"/>
          </a:p>
        </p:txBody>
      </p:sp>
      <p:sp>
        <p:nvSpPr>
          <p:cNvPr id="38" name="Shape 36"/>
          <p:cNvSpPr/>
          <p:nvPr/>
        </p:nvSpPr>
        <p:spPr>
          <a:xfrm>
            <a:off x="4846320" y="3776472"/>
            <a:ext cx="3840480" cy="301752"/>
          </a:xfrm>
          <a:prstGeom prst="rect">
            <a:avLst/>
          </a:prstGeom>
          <a:solidFill>
            <a:srgbClr val="242424"/>
          </a:solidFill>
          <a:ln/>
        </p:spPr>
        <p:txBody>
          <a:bodyPr/>
          <a:lstStyle/>
          <a:p>
            <a:endParaRPr lang="en-US"/>
          </a:p>
        </p:txBody>
      </p:sp>
      <p:sp>
        <p:nvSpPr>
          <p:cNvPr id="39" name="Text 37"/>
          <p:cNvSpPr/>
          <p:nvPr/>
        </p:nvSpPr>
        <p:spPr>
          <a:xfrm>
            <a:off x="4983480" y="3776472"/>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7.  AI reasons over evidence iteratively</a:t>
            </a:r>
            <a:endParaRPr lang="en-US" sz="1000" dirty="0"/>
          </a:p>
        </p:txBody>
      </p:sp>
      <p:sp>
        <p:nvSpPr>
          <p:cNvPr id="40" name="Shape 38"/>
          <p:cNvSpPr/>
          <p:nvPr/>
        </p:nvSpPr>
        <p:spPr>
          <a:xfrm>
            <a:off x="4846320" y="4123944"/>
            <a:ext cx="3840480" cy="301752"/>
          </a:xfrm>
          <a:prstGeom prst="rect">
            <a:avLst/>
          </a:prstGeom>
          <a:solidFill>
            <a:srgbClr val="2A2A2A"/>
          </a:solidFill>
          <a:ln/>
        </p:spPr>
        <p:txBody>
          <a:bodyPr/>
          <a:lstStyle/>
          <a:p>
            <a:endParaRPr lang="en-US"/>
          </a:p>
        </p:txBody>
      </p:sp>
      <p:sp>
        <p:nvSpPr>
          <p:cNvPr id="41" name="Text 39"/>
          <p:cNvSpPr/>
          <p:nvPr/>
        </p:nvSpPr>
        <p:spPr>
          <a:xfrm>
            <a:off x="4983480" y="4123944"/>
            <a:ext cx="3566160" cy="301752"/>
          </a:xfrm>
          <a:prstGeom prst="rect">
            <a:avLst/>
          </a:prstGeom>
          <a:noFill/>
          <a:ln/>
        </p:spPr>
        <p:txBody>
          <a:bodyPr wrap="square" lIns="0" tIns="0" rIns="0" bIns="0" rtlCol="0" anchor="ctr"/>
          <a:lstStyle/>
          <a:p>
            <a:pPr marL="0" indent="0" algn="l">
              <a:buNone/>
            </a:pPr>
            <a:r>
              <a:rPr lang="en-US" sz="1000" dirty="0">
                <a:solidFill>
                  <a:srgbClr val="CCCCCC"/>
                </a:solidFill>
                <a:latin typeface="Calibri" pitchFamily="34" charset="0"/>
                <a:ea typeface="Calibri" pitchFamily="34" charset="-122"/>
                <a:cs typeface="Calibri" pitchFamily="34" charset="-120"/>
              </a:rPr>
              <a:t>8.  Structured RCA delivered to engineer</a:t>
            </a:r>
            <a:endParaRPr lang="en-US" sz="1000" dirty="0"/>
          </a:p>
        </p:txBody>
      </p:sp>
      <p:sp>
        <p:nvSpPr>
          <p:cNvPr id="42" name="Shape 40"/>
          <p:cNvSpPr/>
          <p:nvPr/>
        </p:nvSpPr>
        <p:spPr>
          <a:xfrm>
            <a:off x="457200" y="4572000"/>
            <a:ext cx="3840480" cy="320040"/>
          </a:xfrm>
          <a:prstGeom prst="rect">
            <a:avLst/>
          </a:prstGeom>
          <a:solidFill>
            <a:srgbClr val="3D1010"/>
          </a:solidFill>
          <a:ln/>
        </p:spPr>
        <p:txBody>
          <a:bodyPr/>
          <a:lstStyle/>
          <a:p>
            <a:endParaRPr lang="en-US"/>
          </a:p>
        </p:txBody>
      </p:sp>
      <p:sp>
        <p:nvSpPr>
          <p:cNvPr id="43" name="Text 41"/>
          <p:cNvSpPr/>
          <p:nvPr/>
        </p:nvSpPr>
        <p:spPr>
          <a:xfrm>
            <a:off x="457200" y="4572000"/>
            <a:ext cx="3840480" cy="320040"/>
          </a:xfrm>
          <a:prstGeom prst="rect">
            <a:avLst/>
          </a:prstGeom>
          <a:noFill/>
          <a:ln/>
        </p:spPr>
        <p:txBody>
          <a:bodyPr wrap="square" lIns="0" tIns="0" rIns="0" bIns="0" rtlCol="0" anchor="ctr"/>
          <a:lstStyle/>
          <a:p>
            <a:pPr marL="0" indent="0" algn="ctr">
              <a:buNone/>
            </a:pPr>
            <a:r>
              <a:rPr lang="en-US" sz="1100" b="1" dirty="0">
                <a:solidFill>
                  <a:srgbClr val="E74C3C"/>
                </a:solidFill>
                <a:latin typeface="Calibri" pitchFamily="34" charset="0"/>
                <a:ea typeface="Calibri" pitchFamily="34" charset="-122"/>
                <a:cs typeface="Calibri" pitchFamily="34" charset="-120"/>
              </a:rPr>
              <a:t>⏱  30–60 min avg MTTR</a:t>
            </a:r>
            <a:endParaRPr lang="en-US" sz="1100" dirty="0"/>
          </a:p>
        </p:txBody>
      </p:sp>
      <p:sp>
        <p:nvSpPr>
          <p:cNvPr id="44" name="Shape 42"/>
          <p:cNvSpPr/>
          <p:nvPr/>
        </p:nvSpPr>
        <p:spPr>
          <a:xfrm>
            <a:off x="4846320" y="4572000"/>
            <a:ext cx="3840480" cy="320040"/>
          </a:xfrm>
          <a:prstGeom prst="rect">
            <a:avLst/>
          </a:prstGeom>
          <a:solidFill>
            <a:srgbClr val="0D2E1A"/>
          </a:solidFill>
          <a:ln/>
        </p:spPr>
        <p:txBody>
          <a:bodyPr/>
          <a:lstStyle/>
          <a:p>
            <a:endParaRPr lang="en-US"/>
          </a:p>
        </p:txBody>
      </p:sp>
      <p:sp>
        <p:nvSpPr>
          <p:cNvPr id="45" name="Text 43"/>
          <p:cNvSpPr/>
          <p:nvPr/>
        </p:nvSpPr>
        <p:spPr>
          <a:xfrm>
            <a:off x="4846320" y="4572000"/>
            <a:ext cx="3840480" cy="320040"/>
          </a:xfrm>
          <a:prstGeom prst="rect">
            <a:avLst/>
          </a:prstGeom>
          <a:noFill/>
          <a:ln/>
        </p:spPr>
        <p:txBody>
          <a:bodyPr wrap="square" lIns="0" tIns="0" rIns="0" bIns="0" rtlCol="0" anchor="ctr"/>
          <a:lstStyle/>
          <a:p>
            <a:pPr marL="0" indent="0" algn="ctr">
              <a:buNone/>
            </a:pPr>
            <a:r>
              <a:rPr lang="en-US" sz="1100" b="1" dirty="0">
                <a:solidFill>
                  <a:srgbClr val="3CB371"/>
                </a:solidFill>
                <a:latin typeface="Calibri" pitchFamily="34" charset="0"/>
                <a:ea typeface="Calibri" pitchFamily="34" charset="-122"/>
                <a:cs typeface="Calibri" pitchFamily="34" charset="-120"/>
              </a:rPr>
              <a:t>⚡  &lt; 2 min context + RCA draft</a:t>
            </a:r>
            <a:endParaRPr lang="en-US" sz="1100" dirty="0"/>
          </a:p>
        </p:txBody>
      </p:sp>
      <p:sp>
        <p:nvSpPr>
          <p:cNvPr id="47" name="Right Bracket 46">
            <a:extLst>
              <a:ext uri="{FF2B5EF4-FFF2-40B4-BE49-F238E27FC236}">
                <a16:creationId xmlns:a16="http://schemas.microsoft.com/office/drawing/2014/main" id="{CC532CF3-AD91-CFA3-D038-33F0CCFA8234}"/>
              </a:ext>
            </a:extLst>
          </p:cNvPr>
          <p:cNvSpPr/>
          <p:nvPr/>
        </p:nvSpPr>
        <p:spPr>
          <a:xfrm>
            <a:off x="4301401" y="2039112"/>
            <a:ext cx="112705" cy="2386584"/>
          </a:xfrm>
          <a:prstGeom prst="rightBracket">
            <a:avLst/>
          </a:prstGeom>
          <a:solidFill>
            <a:srgbClr val="00B050"/>
          </a:solidFill>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03</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How We Built It</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Architecture, LangGraph reasoning, and MCP integration</a:t>
            </a:r>
            <a:endParaRPr lang="en-US" sz="1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554480" cy="256032"/>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1A1A1A"/>
                </a:solidFill>
                <a:latin typeface="Trebuchet MS"/>
              </a:rPr>
              <a:t>HOW WE BUILT IT</a:t>
            </a:r>
          </a:p>
        </p:txBody>
      </p:sp>
      <p:sp>
        <p:nvSpPr>
          <p:cNvPr id="4" name="TextBox 3"/>
          <p:cNvSpPr txBox="1"/>
          <p:nvPr/>
        </p:nvSpPr>
        <p:spPr>
          <a:xfrm>
            <a:off x="457200" y="594360"/>
            <a:ext cx="8229600" cy="411480"/>
          </a:xfrm>
          <a:prstGeom prst="rect">
            <a:avLst/>
          </a:prstGeom>
          <a:noFill/>
        </p:spPr>
        <p:txBody>
          <a:bodyPr wrap="square" anchor="t">
            <a:spAutoFit/>
          </a:bodyPr>
          <a:lstStyle/>
          <a:p>
            <a:pPr algn="l"/>
            <a:r>
              <a:rPr sz="2000" b="1" i="0">
                <a:solidFill>
                  <a:srgbClr val="FFFFFF"/>
                </a:solidFill>
                <a:latin typeface="Calibri"/>
              </a:rPr>
              <a:t>How a Request Flows — Today, Live</a:t>
            </a:r>
          </a:p>
        </p:txBody>
      </p:sp>
      <p:sp>
        <p:nvSpPr>
          <p:cNvPr id="5" name="Rectangle 4"/>
          <p:cNvSpPr/>
          <p:nvPr/>
        </p:nvSpPr>
        <p:spPr>
          <a:xfrm>
            <a:off x="457200" y="1417320"/>
            <a:ext cx="1536192" cy="10515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17320"/>
            <a:ext cx="1536192" cy="36576"/>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00200"/>
            <a:ext cx="1389888" cy="411480"/>
          </a:xfrm>
          <a:prstGeom prst="rect">
            <a:avLst/>
          </a:prstGeom>
          <a:noFill/>
        </p:spPr>
        <p:txBody>
          <a:bodyPr wrap="square" anchor="t">
            <a:spAutoFit/>
          </a:bodyPr>
          <a:lstStyle/>
          <a:p>
            <a:pPr algn="l"/>
            <a:r>
              <a:rPr sz="1150" b="1" i="0">
                <a:solidFill>
                  <a:srgbClr val="FFFFFF"/>
                </a:solidFill>
                <a:latin typeface="Calibri"/>
              </a:rPr>
              <a:t>Invocation</a:t>
            </a:r>
          </a:p>
        </p:txBody>
      </p:sp>
      <p:sp>
        <p:nvSpPr>
          <p:cNvPr id="8" name="TextBox 7"/>
          <p:cNvSpPr txBox="1"/>
          <p:nvPr/>
        </p:nvSpPr>
        <p:spPr>
          <a:xfrm>
            <a:off x="530352" y="1965960"/>
            <a:ext cx="1389888" cy="457200"/>
          </a:xfrm>
          <a:prstGeom prst="rect">
            <a:avLst/>
          </a:prstGeom>
          <a:noFill/>
        </p:spPr>
        <p:txBody>
          <a:bodyPr wrap="square" anchor="t">
            <a:spAutoFit/>
          </a:bodyPr>
          <a:lstStyle/>
          <a:p>
            <a:pPr algn="l"/>
            <a:r>
              <a:rPr sz="900" b="0" i="0">
                <a:solidFill>
                  <a:srgbClr val="999999"/>
                </a:solidFill>
                <a:latin typeface="Calibri"/>
              </a:rPr>
              <a:t>Engineer / CLI</a:t>
            </a:r>
          </a:p>
        </p:txBody>
      </p:sp>
      <p:sp>
        <p:nvSpPr>
          <p:cNvPr id="9" name="TextBox 8"/>
          <p:cNvSpPr txBox="1"/>
          <p:nvPr/>
        </p:nvSpPr>
        <p:spPr>
          <a:xfrm>
            <a:off x="1993391" y="1737360"/>
            <a:ext cx="91440" cy="365760"/>
          </a:xfrm>
          <a:prstGeom prst="rect">
            <a:avLst/>
          </a:prstGeom>
          <a:noFill/>
        </p:spPr>
        <p:txBody>
          <a:bodyPr wrap="square" anchor="t">
            <a:spAutoFit/>
          </a:bodyPr>
          <a:lstStyle/>
          <a:p>
            <a:pPr algn="ctr"/>
            <a:r>
              <a:rPr sz="1600" b="0" i="0">
                <a:solidFill>
                  <a:srgbClr val="999999"/>
                </a:solidFill>
                <a:latin typeface="Calibri"/>
              </a:rPr>
              <a:t>→</a:t>
            </a:r>
          </a:p>
        </p:txBody>
      </p:sp>
      <p:sp>
        <p:nvSpPr>
          <p:cNvPr id="10" name="Rectangle 9"/>
          <p:cNvSpPr/>
          <p:nvPr/>
        </p:nvSpPr>
        <p:spPr>
          <a:xfrm>
            <a:off x="2084832" y="1417320"/>
            <a:ext cx="1536192" cy="10515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1417320"/>
            <a:ext cx="1536192" cy="36576"/>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57984" y="1600200"/>
            <a:ext cx="1389888" cy="411480"/>
          </a:xfrm>
          <a:prstGeom prst="rect">
            <a:avLst/>
          </a:prstGeom>
          <a:noFill/>
        </p:spPr>
        <p:txBody>
          <a:bodyPr wrap="square" anchor="t">
            <a:spAutoFit/>
          </a:bodyPr>
          <a:lstStyle/>
          <a:p>
            <a:pPr algn="l"/>
            <a:r>
              <a:rPr sz="1150" b="1" i="0">
                <a:solidFill>
                  <a:srgbClr val="FFFFFF"/>
                </a:solidFill>
                <a:latin typeface="Calibri"/>
              </a:rPr>
              <a:t>Agent Engine</a:t>
            </a:r>
          </a:p>
        </p:txBody>
      </p:sp>
      <p:sp>
        <p:nvSpPr>
          <p:cNvPr id="13" name="TextBox 12"/>
          <p:cNvSpPr txBox="1"/>
          <p:nvPr/>
        </p:nvSpPr>
        <p:spPr>
          <a:xfrm>
            <a:off x="2157984" y="1965960"/>
            <a:ext cx="1389888" cy="457200"/>
          </a:xfrm>
          <a:prstGeom prst="rect">
            <a:avLst/>
          </a:prstGeom>
          <a:noFill/>
        </p:spPr>
        <p:txBody>
          <a:bodyPr wrap="square" anchor="t">
            <a:spAutoFit/>
          </a:bodyPr>
          <a:lstStyle/>
          <a:p>
            <a:pPr algn="l"/>
            <a:r>
              <a:rPr sz="900" b="0" i="0">
                <a:solidFill>
                  <a:srgbClr val="999999"/>
                </a:solidFill>
                <a:latin typeface="Calibri"/>
              </a:rPr>
              <a:t>Vertex AI · LangGraph</a:t>
            </a:r>
          </a:p>
        </p:txBody>
      </p:sp>
      <p:sp>
        <p:nvSpPr>
          <p:cNvPr id="14" name="TextBox 13"/>
          <p:cNvSpPr txBox="1"/>
          <p:nvPr/>
        </p:nvSpPr>
        <p:spPr>
          <a:xfrm>
            <a:off x="3621024" y="1737360"/>
            <a:ext cx="91440" cy="365760"/>
          </a:xfrm>
          <a:prstGeom prst="rect">
            <a:avLst/>
          </a:prstGeom>
          <a:noFill/>
        </p:spPr>
        <p:txBody>
          <a:bodyPr wrap="square" anchor="t">
            <a:spAutoFit/>
          </a:bodyPr>
          <a:lstStyle/>
          <a:p>
            <a:pPr algn="ctr"/>
            <a:r>
              <a:rPr sz="1600" b="0" i="0">
                <a:solidFill>
                  <a:srgbClr val="999999"/>
                </a:solidFill>
                <a:latin typeface="Calibri"/>
              </a:rPr>
              <a:t>→</a:t>
            </a:r>
          </a:p>
        </p:txBody>
      </p:sp>
      <p:sp>
        <p:nvSpPr>
          <p:cNvPr id="15" name="Rectangle 14"/>
          <p:cNvSpPr/>
          <p:nvPr/>
        </p:nvSpPr>
        <p:spPr>
          <a:xfrm>
            <a:off x="3712464" y="1417320"/>
            <a:ext cx="1536192" cy="10515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12464" y="1417320"/>
            <a:ext cx="1536192" cy="36576"/>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85616" y="1600200"/>
            <a:ext cx="1389888" cy="411480"/>
          </a:xfrm>
          <a:prstGeom prst="rect">
            <a:avLst/>
          </a:prstGeom>
          <a:noFill/>
        </p:spPr>
        <p:txBody>
          <a:bodyPr wrap="square" anchor="t">
            <a:spAutoFit/>
          </a:bodyPr>
          <a:lstStyle/>
          <a:p>
            <a:pPr algn="l"/>
            <a:r>
              <a:rPr sz="1150" b="1" i="0">
                <a:solidFill>
                  <a:srgbClr val="FFFFFF"/>
                </a:solidFill>
                <a:latin typeface="Calibri"/>
              </a:rPr>
              <a:t>Agent Gateway</a:t>
            </a:r>
          </a:p>
        </p:txBody>
      </p:sp>
      <p:sp>
        <p:nvSpPr>
          <p:cNvPr id="18" name="TextBox 17"/>
          <p:cNvSpPr txBox="1"/>
          <p:nvPr/>
        </p:nvSpPr>
        <p:spPr>
          <a:xfrm>
            <a:off x="3785616" y="1965960"/>
            <a:ext cx="1389888" cy="457200"/>
          </a:xfrm>
          <a:prstGeom prst="rect">
            <a:avLst/>
          </a:prstGeom>
          <a:noFill/>
        </p:spPr>
        <p:txBody>
          <a:bodyPr wrap="square" anchor="t">
            <a:spAutoFit/>
          </a:bodyPr>
          <a:lstStyle/>
          <a:p>
            <a:pPr algn="l"/>
            <a:r>
              <a:rPr sz="900" b="0" i="0">
                <a:solidFill>
                  <a:srgbClr val="999999"/>
                </a:solidFill>
                <a:latin typeface="Calibri"/>
              </a:rPr>
              <a:t>Scoped identity · IAP</a:t>
            </a:r>
          </a:p>
        </p:txBody>
      </p:sp>
      <p:sp>
        <p:nvSpPr>
          <p:cNvPr id="19" name="TextBox 18"/>
          <p:cNvSpPr txBox="1"/>
          <p:nvPr/>
        </p:nvSpPr>
        <p:spPr>
          <a:xfrm>
            <a:off x="5248656" y="1737360"/>
            <a:ext cx="91440" cy="365760"/>
          </a:xfrm>
          <a:prstGeom prst="rect">
            <a:avLst/>
          </a:prstGeom>
          <a:noFill/>
        </p:spPr>
        <p:txBody>
          <a:bodyPr wrap="square" anchor="t">
            <a:spAutoFit/>
          </a:bodyPr>
          <a:lstStyle/>
          <a:p>
            <a:pPr algn="ctr"/>
            <a:r>
              <a:rPr sz="1600" b="0" i="0">
                <a:solidFill>
                  <a:srgbClr val="999999"/>
                </a:solidFill>
                <a:latin typeface="Calibri"/>
              </a:rPr>
              <a:t>→</a:t>
            </a:r>
          </a:p>
        </p:txBody>
      </p:sp>
      <p:sp>
        <p:nvSpPr>
          <p:cNvPr id="20" name="Rectangle 19"/>
          <p:cNvSpPr/>
          <p:nvPr/>
        </p:nvSpPr>
        <p:spPr>
          <a:xfrm>
            <a:off x="5340096" y="1417320"/>
            <a:ext cx="1536192" cy="10515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40096" y="1417320"/>
            <a:ext cx="1536192" cy="36576"/>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13248" y="1600200"/>
            <a:ext cx="1389888" cy="411480"/>
          </a:xfrm>
          <a:prstGeom prst="rect">
            <a:avLst/>
          </a:prstGeom>
          <a:noFill/>
        </p:spPr>
        <p:txBody>
          <a:bodyPr wrap="square" anchor="t">
            <a:spAutoFit/>
          </a:bodyPr>
          <a:lstStyle/>
          <a:p>
            <a:pPr algn="l"/>
            <a:r>
              <a:rPr sz="1150" b="1" i="0">
                <a:solidFill>
                  <a:srgbClr val="FFFFFF"/>
                </a:solidFill>
                <a:latin typeface="Calibri"/>
              </a:rPr>
              <a:t>GKE Remote MCP</a:t>
            </a:r>
          </a:p>
        </p:txBody>
      </p:sp>
      <p:sp>
        <p:nvSpPr>
          <p:cNvPr id="23" name="TextBox 22"/>
          <p:cNvSpPr txBox="1"/>
          <p:nvPr/>
        </p:nvSpPr>
        <p:spPr>
          <a:xfrm>
            <a:off x="5413248" y="1965960"/>
            <a:ext cx="1389888" cy="457200"/>
          </a:xfrm>
          <a:prstGeom prst="rect">
            <a:avLst/>
          </a:prstGeom>
          <a:noFill/>
        </p:spPr>
        <p:txBody>
          <a:bodyPr wrap="square" anchor="t">
            <a:spAutoFit/>
          </a:bodyPr>
          <a:lstStyle/>
          <a:p>
            <a:pPr algn="l"/>
            <a:r>
              <a:rPr sz="900" b="0" i="0">
                <a:solidFill>
                  <a:srgbClr val="999999"/>
                </a:solidFill>
                <a:latin typeface="Calibri"/>
              </a:rPr>
              <a:t>Google-managed</a:t>
            </a:r>
          </a:p>
        </p:txBody>
      </p:sp>
      <p:sp>
        <p:nvSpPr>
          <p:cNvPr id="24" name="TextBox 23"/>
          <p:cNvSpPr txBox="1"/>
          <p:nvPr/>
        </p:nvSpPr>
        <p:spPr>
          <a:xfrm>
            <a:off x="6876288" y="1737360"/>
            <a:ext cx="91440" cy="365760"/>
          </a:xfrm>
          <a:prstGeom prst="rect">
            <a:avLst/>
          </a:prstGeom>
          <a:noFill/>
        </p:spPr>
        <p:txBody>
          <a:bodyPr wrap="square" anchor="t">
            <a:spAutoFit/>
          </a:bodyPr>
          <a:lstStyle/>
          <a:p>
            <a:pPr algn="ctr"/>
            <a:r>
              <a:rPr sz="1600" b="0" i="0">
                <a:solidFill>
                  <a:srgbClr val="999999"/>
                </a:solidFill>
                <a:latin typeface="Calibri"/>
              </a:rPr>
              <a:t>→</a:t>
            </a:r>
          </a:p>
        </p:txBody>
      </p:sp>
      <p:sp>
        <p:nvSpPr>
          <p:cNvPr id="25" name="Rectangle 24"/>
          <p:cNvSpPr/>
          <p:nvPr/>
        </p:nvSpPr>
        <p:spPr>
          <a:xfrm>
            <a:off x="6967728" y="1417320"/>
            <a:ext cx="1536192" cy="10515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67728" y="1417320"/>
            <a:ext cx="1536192" cy="36576"/>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0" y="1600200"/>
            <a:ext cx="1389888" cy="411480"/>
          </a:xfrm>
          <a:prstGeom prst="rect">
            <a:avLst/>
          </a:prstGeom>
          <a:noFill/>
        </p:spPr>
        <p:txBody>
          <a:bodyPr wrap="square" anchor="t">
            <a:spAutoFit/>
          </a:bodyPr>
          <a:lstStyle/>
          <a:p>
            <a:pPr algn="l"/>
            <a:r>
              <a:rPr sz="1150" b="1" i="0">
                <a:solidFill>
                  <a:srgbClr val="FFFFFF"/>
                </a:solidFill>
                <a:latin typeface="Calibri"/>
              </a:rPr>
              <a:t>GKE Cluster</a:t>
            </a:r>
          </a:p>
        </p:txBody>
      </p:sp>
      <p:sp>
        <p:nvSpPr>
          <p:cNvPr id="28" name="TextBox 27"/>
          <p:cNvSpPr txBox="1"/>
          <p:nvPr/>
        </p:nvSpPr>
        <p:spPr>
          <a:xfrm>
            <a:off x="7040880" y="1965960"/>
            <a:ext cx="1389888" cy="457200"/>
          </a:xfrm>
          <a:prstGeom prst="rect">
            <a:avLst/>
          </a:prstGeom>
          <a:noFill/>
        </p:spPr>
        <p:txBody>
          <a:bodyPr wrap="square" anchor="t">
            <a:spAutoFit/>
          </a:bodyPr>
          <a:lstStyle/>
          <a:p>
            <a:pPr algn="l"/>
            <a:r>
              <a:rPr sz="900" b="0" i="0">
                <a:solidFill>
                  <a:srgbClr val="999999"/>
                </a:solidFill>
                <a:latin typeface="Calibri"/>
              </a:rPr>
              <a:t>Live pods, logs, events</a:t>
            </a:r>
          </a:p>
        </p:txBody>
      </p:sp>
      <p:sp>
        <p:nvSpPr>
          <p:cNvPr id="29" name="Rectangle 28"/>
          <p:cNvSpPr/>
          <p:nvPr/>
        </p:nvSpPr>
        <p:spPr>
          <a:xfrm>
            <a:off x="457200" y="2697480"/>
            <a:ext cx="8229600" cy="82296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697480"/>
            <a:ext cx="54864" cy="822960"/>
          </a:xfrm>
          <a:prstGeom prst="rect">
            <a:avLst/>
          </a:prstGeom>
          <a:solidFill>
            <a:srgbClr val="E87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2816352"/>
            <a:ext cx="7772400" cy="640080"/>
          </a:xfrm>
          <a:prstGeom prst="rect">
            <a:avLst/>
          </a:prstGeom>
          <a:noFill/>
        </p:spPr>
        <p:txBody>
          <a:bodyPr wrap="square" anchor="t">
            <a:spAutoFit/>
          </a:bodyPr>
          <a:lstStyle/>
          <a:p>
            <a:pPr algn="l"/>
            <a:r>
              <a:rPr sz="1150" b="0" i="0">
                <a:solidFill>
                  <a:srgbClr val="CCCCCC"/>
                </a:solidFill>
                <a:latin typeface="Calibri"/>
              </a:rPr>
              <a:t>Evidence returns the same path; the agent loops back and re-checks confidence before writing the final RCA. Every hop shown here is live today — nothing is planned/future.</a:t>
            </a:r>
          </a:p>
        </p:txBody>
      </p:sp>
      <p:sp>
        <p:nvSpPr>
          <p:cNvPr id="32" name="TextBox 31"/>
          <p:cNvSpPr txBox="1"/>
          <p:nvPr/>
        </p:nvSpPr>
        <p:spPr>
          <a:xfrm>
            <a:off x="457200" y="3703320"/>
            <a:ext cx="8229600" cy="365760"/>
          </a:xfrm>
          <a:prstGeom prst="rect">
            <a:avLst/>
          </a:prstGeom>
          <a:noFill/>
        </p:spPr>
        <p:txBody>
          <a:bodyPr wrap="square" anchor="t">
            <a:spAutoFit/>
          </a:bodyPr>
          <a:lstStyle/>
          <a:p>
            <a:pPr algn="l"/>
            <a:r>
              <a:rPr sz="1000" b="0" i="1">
                <a:solidFill>
                  <a:srgbClr val="999999"/>
                </a:solidFill>
                <a:latin typeface="Calibri"/>
              </a:rPr>
              <a:t>Agent Gateway reaches Google's APIs over the public backbone — no private/VPC hop, by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554480" cy="256032"/>
          </a:xfrm>
          <a:prstGeom prst="rect">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1A1A1A"/>
                </a:solidFill>
                <a:latin typeface="Trebuchet MS"/>
              </a:rPr>
              <a:t>HOW WE BUILT IT</a:t>
            </a:r>
          </a:p>
        </p:txBody>
      </p:sp>
      <p:sp>
        <p:nvSpPr>
          <p:cNvPr id="4" name="TextBox 3"/>
          <p:cNvSpPr txBox="1"/>
          <p:nvPr/>
        </p:nvSpPr>
        <p:spPr>
          <a:xfrm>
            <a:off x="457200" y="594360"/>
            <a:ext cx="8229600" cy="411480"/>
          </a:xfrm>
          <a:prstGeom prst="rect">
            <a:avLst/>
          </a:prstGeom>
          <a:noFill/>
        </p:spPr>
        <p:txBody>
          <a:bodyPr wrap="square" anchor="t">
            <a:spAutoFit/>
          </a:bodyPr>
          <a:lstStyle/>
          <a:p>
            <a:pPr algn="l"/>
            <a:r>
              <a:rPr sz="2000" b="1" i="0">
                <a:solidFill>
                  <a:srgbClr val="FFFFFF"/>
                </a:solidFill>
                <a:latin typeface="Calibri"/>
              </a:rPr>
              <a:t>The Agent Loop: Route → Investigate → Evaluate → Report</a:t>
            </a:r>
          </a:p>
        </p:txBody>
      </p:sp>
      <p:sp>
        <p:nvSpPr>
          <p:cNvPr id="5" name="Rectangle 4"/>
          <p:cNvSpPr/>
          <p:nvPr/>
        </p:nvSpPr>
        <p:spPr>
          <a:xfrm>
            <a:off x="457200" y="1371600"/>
            <a:ext cx="1938528" cy="201168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1938528" cy="45720"/>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36192"/>
            <a:ext cx="1664208" cy="365760"/>
          </a:xfrm>
          <a:prstGeom prst="rect">
            <a:avLst/>
          </a:prstGeom>
          <a:noFill/>
        </p:spPr>
        <p:txBody>
          <a:bodyPr wrap="square" anchor="t">
            <a:spAutoFit/>
          </a:bodyPr>
          <a:lstStyle/>
          <a:p>
            <a:pPr algn="l"/>
            <a:r>
              <a:rPr sz="1800" b="1" i="0">
                <a:solidFill>
                  <a:srgbClr val="3498DB"/>
                </a:solidFill>
                <a:latin typeface="Georgia"/>
              </a:rPr>
              <a:t>①</a:t>
            </a:r>
          </a:p>
        </p:txBody>
      </p:sp>
      <p:sp>
        <p:nvSpPr>
          <p:cNvPr id="8" name="TextBox 7"/>
          <p:cNvSpPr txBox="1"/>
          <p:nvPr/>
        </p:nvSpPr>
        <p:spPr>
          <a:xfrm>
            <a:off x="594360" y="1920240"/>
            <a:ext cx="1664208" cy="320040"/>
          </a:xfrm>
          <a:prstGeom prst="rect">
            <a:avLst/>
          </a:prstGeom>
          <a:noFill/>
        </p:spPr>
        <p:txBody>
          <a:bodyPr wrap="square" anchor="t">
            <a:spAutoFit/>
          </a:bodyPr>
          <a:lstStyle/>
          <a:p>
            <a:pPr algn="l"/>
            <a:r>
              <a:rPr sz="1400" b="1" i="0">
                <a:solidFill>
                  <a:srgbClr val="FFFFFF"/>
                </a:solidFill>
                <a:latin typeface="Calibri"/>
              </a:rPr>
              <a:t>Route</a:t>
            </a:r>
          </a:p>
        </p:txBody>
      </p:sp>
      <p:sp>
        <p:nvSpPr>
          <p:cNvPr id="9" name="TextBox 8"/>
          <p:cNvSpPr txBox="1"/>
          <p:nvPr/>
        </p:nvSpPr>
        <p:spPr>
          <a:xfrm>
            <a:off x="594360" y="2267712"/>
            <a:ext cx="1664208" cy="1005840"/>
          </a:xfrm>
          <a:prstGeom prst="rect">
            <a:avLst/>
          </a:prstGeom>
          <a:noFill/>
        </p:spPr>
        <p:txBody>
          <a:bodyPr wrap="square" anchor="t">
            <a:spAutoFit/>
          </a:bodyPr>
          <a:lstStyle/>
          <a:p>
            <a:pPr algn="l"/>
            <a:r>
              <a:rPr sz="1000" b="0" i="0">
                <a:solidFill>
                  <a:srgbClr val="999999"/>
                </a:solidFill>
                <a:latin typeface="Calibri"/>
              </a:rPr>
              <a:t>Identify the affected cluster. Select the right MCP source and tool.</a:t>
            </a:r>
          </a:p>
        </p:txBody>
      </p:sp>
      <p:sp>
        <p:nvSpPr>
          <p:cNvPr id="10" name="Rectangle 9"/>
          <p:cNvSpPr/>
          <p:nvPr/>
        </p:nvSpPr>
        <p:spPr>
          <a:xfrm>
            <a:off x="2468880" y="1371600"/>
            <a:ext cx="1938528" cy="201168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468880" y="1371600"/>
            <a:ext cx="1938528" cy="45720"/>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06040" y="1536192"/>
            <a:ext cx="1664208" cy="365760"/>
          </a:xfrm>
          <a:prstGeom prst="rect">
            <a:avLst/>
          </a:prstGeom>
          <a:noFill/>
        </p:spPr>
        <p:txBody>
          <a:bodyPr wrap="square" anchor="t">
            <a:spAutoFit/>
          </a:bodyPr>
          <a:lstStyle/>
          <a:p>
            <a:pPr algn="l"/>
            <a:r>
              <a:rPr sz="1800" b="1" i="0">
                <a:solidFill>
                  <a:srgbClr val="1ABC9C"/>
                </a:solidFill>
                <a:latin typeface="Georgia"/>
              </a:rPr>
              <a:t>②</a:t>
            </a:r>
          </a:p>
        </p:txBody>
      </p:sp>
      <p:sp>
        <p:nvSpPr>
          <p:cNvPr id="13" name="TextBox 12"/>
          <p:cNvSpPr txBox="1"/>
          <p:nvPr/>
        </p:nvSpPr>
        <p:spPr>
          <a:xfrm>
            <a:off x="2606040" y="1920240"/>
            <a:ext cx="1664208" cy="320040"/>
          </a:xfrm>
          <a:prstGeom prst="rect">
            <a:avLst/>
          </a:prstGeom>
          <a:noFill/>
        </p:spPr>
        <p:txBody>
          <a:bodyPr wrap="square" anchor="t">
            <a:spAutoFit/>
          </a:bodyPr>
          <a:lstStyle/>
          <a:p>
            <a:pPr algn="l"/>
            <a:r>
              <a:rPr sz="1400" b="1" i="0">
                <a:solidFill>
                  <a:srgbClr val="FFFFFF"/>
                </a:solidFill>
                <a:latin typeface="Calibri"/>
              </a:rPr>
              <a:t>Investigate</a:t>
            </a:r>
          </a:p>
        </p:txBody>
      </p:sp>
      <p:sp>
        <p:nvSpPr>
          <p:cNvPr id="14" name="TextBox 13"/>
          <p:cNvSpPr txBox="1"/>
          <p:nvPr/>
        </p:nvSpPr>
        <p:spPr>
          <a:xfrm>
            <a:off x="2606040" y="2267712"/>
            <a:ext cx="1664208" cy="1005840"/>
          </a:xfrm>
          <a:prstGeom prst="rect">
            <a:avLst/>
          </a:prstGeom>
          <a:noFill/>
        </p:spPr>
        <p:txBody>
          <a:bodyPr wrap="square" anchor="t">
            <a:spAutoFit/>
          </a:bodyPr>
          <a:lstStyle/>
          <a:p>
            <a:pPr algn="l"/>
            <a:r>
              <a:rPr sz="1000" b="0" i="0">
                <a:solidFill>
                  <a:srgbClr val="999999"/>
                </a:solidFill>
                <a:latin typeface="Calibri"/>
              </a:rPr>
              <a:t>Collect logs, events, pod state, configuration — real evidence.</a:t>
            </a:r>
          </a:p>
        </p:txBody>
      </p:sp>
      <p:sp>
        <p:nvSpPr>
          <p:cNvPr id="15" name="Rectangle 14"/>
          <p:cNvSpPr/>
          <p:nvPr/>
        </p:nvSpPr>
        <p:spPr>
          <a:xfrm>
            <a:off x="4480560" y="1371600"/>
            <a:ext cx="1938528" cy="201168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60" y="1371600"/>
            <a:ext cx="1938528" cy="45720"/>
          </a:xfrm>
          <a:prstGeom prst="rect">
            <a:avLst/>
          </a:prstGeom>
          <a:solidFill>
            <a:srgbClr val="F4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536192"/>
            <a:ext cx="1664208" cy="365760"/>
          </a:xfrm>
          <a:prstGeom prst="rect">
            <a:avLst/>
          </a:prstGeom>
          <a:noFill/>
        </p:spPr>
        <p:txBody>
          <a:bodyPr wrap="square" anchor="t">
            <a:spAutoFit/>
          </a:bodyPr>
          <a:lstStyle/>
          <a:p>
            <a:pPr algn="l"/>
            <a:r>
              <a:rPr sz="1800" b="1" i="0">
                <a:solidFill>
                  <a:srgbClr val="F4C542"/>
                </a:solidFill>
                <a:latin typeface="Georgia"/>
              </a:rPr>
              <a:t>③</a:t>
            </a:r>
          </a:p>
        </p:txBody>
      </p:sp>
      <p:sp>
        <p:nvSpPr>
          <p:cNvPr id="18" name="TextBox 17"/>
          <p:cNvSpPr txBox="1"/>
          <p:nvPr/>
        </p:nvSpPr>
        <p:spPr>
          <a:xfrm>
            <a:off x="4617720" y="1920240"/>
            <a:ext cx="1664208" cy="320040"/>
          </a:xfrm>
          <a:prstGeom prst="rect">
            <a:avLst/>
          </a:prstGeom>
          <a:noFill/>
        </p:spPr>
        <p:txBody>
          <a:bodyPr wrap="square" anchor="t">
            <a:spAutoFit/>
          </a:bodyPr>
          <a:lstStyle/>
          <a:p>
            <a:pPr algn="l"/>
            <a:r>
              <a:rPr sz="1400" b="1" i="0">
                <a:solidFill>
                  <a:srgbClr val="FFFFFF"/>
                </a:solidFill>
                <a:latin typeface="Calibri"/>
              </a:rPr>
              <a:t>Evaluate</a:t>
            </a:r>
          </a:p>
        </p:txBody>
      </p:sp>
      <p:sp>
        <p:nvSpPr>
          <p:cNvPr id="19" name="TextBox 18"/>
          <p:cNvSpPr txBox="1"/>
          <p:nvPr/>
        </p:nvSpPr>
        <p:spPr>
          <a:xfrm>
            <a:off x="4617720" y="2267712"/>
            <a:ext cx="1664208" cy="1005840"/>
          </a:xfrm>
          <a:prstGeom prst="rect">
            <a:avLst/>
          </a:prstGeom>
          <a:noFill/>
        </p:spPr>
        <p:txBody>
          <a:bodyPr wrap="square" anchor="t">
            <a:spAutoFit/>
          </a:bodyPr>
          <a:lstStyle/>
          <a:p>
            <a:pPr algn="l"/>
            <a:r>
              <a:rPr sz="1000" b="0" i="0">
                <a:solidFill>
                  <a:srgbClr val="999999"/>
                </a:solidFill>
                <a:latin typeface="Calibri"/>
              </a:rPr>
              <a:t>Score completeness and confidence. Continue or exit the loop.</a:t>
            </a:r>
          </a:p>
        </p:txBody>
      </p:sp>
      <p:sp>
        <p:nvSpPr>
          <p:cNvPr id="20" name="Rectangle 19"/>
          <p:cNvSpPr/>
          <p:nvPr/>
        </p:nvSpPr>
        <p:spPr>
          <a:xfrm>
            <a:off x="6492240" y="1371600"/>
            <a:ext cx="1938528" cy="201168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371600"/>
            <a:ext cx="1938528" cy="45720"/>
          </a:xfrm>
          <a:prstGeom prst="rect">
            <a:avLst/>
          </a:prstGeom>
          <a:solidFill>
            <a:srgbClr val="E87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1536192"/>
            <a:ext cx="1664208" cy="365760"/>
          </a:xfrm>
          <a:prstGeom prst="rect">
            <a:avLst/>
          </a:prstGeom>
          <a:noFill/>
        </p:spPr>
        <p:txBody>
          <a:bodyPr wrap="square" anchor="t">
            <a:spAutoFit/>
          </a:bodyPr>
          <a:lstStyle/>
          <a:p>
            <a:pPr algn="l"/>
            <a:r>
              <a:rPr sz="1800" b="1" i="0">
                <a:solidFill>
                  <a:srgbClr val="E8751A"/>
                </a:solidFill>
                <a:latin typeface="Georgia"/>
              </a:rPr>
              <a:t>④</a:t>
            </a:r>
          </a:p>
        </p:txBody>
      </p:sp>
      <p:sp>
        <p:nvSpPr>
          <p:cNvPr id="23" name="TextBox 22"/>
          <p:cNvSpPr txBox="1"/>
          <p:nvPr/>
        </p:nvSpPr>
        <p:spPr>
          <a:xfrm>
            <a:off x="6629400" y="1920240"/>
            <a:ext cx="1664208" cy="320040"/>
          </a:xfrm>
          <a:prstGeom prst="rect">
            <a:avLst/>
          </a:prstGeom>
          <a:noFill/>
        </p:spPr>
        <p:txBody>
          <a:bodyPr wrap="square" anchor="t">
            <a:spAutoFit/>
          </a:bodyPr>
          <a:lstStyle/>
          <a:p>
            <a:pPr algn="l"/>
            <a:r>
              <a:rPr sz="1400" b="1" i="0">
                <a:solidFill>
                  <a:srgbClr val="FFFFFF"/>
                </a:solidFill>
                <a:latin typeface="Calibri"/>
              </a:rPr>
              <a:t>Report</a:t>
            </a:r>
          </a:p>
        </p:txBody>
      </p:sp>
      <p:sp>
        <p:nvSpPr>
          <p:cNvPr id="24" name="TextBox 23"/>
          <p:cNvSpPr txBox="1"/>
          <p:nvPr/>
        </p:nvSpPr>
        <p:spPr>
          <a:xfrm>
            <a:off x="6629400" y="2267712"/>
            <a:ext cx="1664208" cy="1005840"/>
          </a:xfrm>
          <a:prstGeom prst="rect">
            <a:avLst/>
          </a:prstGeom>
          <a:noFill/>
        </p:spPr>
        <p:txBody>
          <a:bodyPr wrap="square" anchor="t">
            <a:spAutoFit/>
          </a:bodyPr>
          <a:lstStyle/>
          <a:p>
            <a:pPr algn="l"/>
            <a:r>
              <a:rPr sz="1000" b="0" i="0">
                <a:solidFill>
                  <a:srgbClr val="999999"/>
                </a:solidFill>
                <a:latin typeface="Calibri"/>
              </a:rPr>
              <a:t>Evidence-backed RCA, handed to the human for review.</a:t>
            </a:r>
          </a:p>
        </p:txBody>
      </p:sp>
      <p:sp>
        <p:nvSpPr>
          <p:cNvPr id="25" name="TextBox 24"/>
          <p:cNvSpPr txBox="1"/>
          <p:nvPr/>
        </p:nvSpPr>
        <p:spPr>
          <a:xfrm>
            <a:off x="457200" y="3566160"/>
            <a:ext cx="8229600" cy="365760"/>
          </a:xfrm>
          <a:prstGeom prst="rect">
            <a:avLst/>
          </a:prstGeom>
          <a:noFill/>
        </p:spPr>
        <p:txBody>
          <a:bodyPr wrap="square" anchor="t">
            <a:spAutoFit/>
          </a:bodyPr>
          <a:lstStyle/>
          <a:p>
            <a:pPr algn="l"/>
            <a:r>
              <a:rPr sz="1200" b="0" i="1">
                <a:solidFill>
                  <a:srgbClr val="CCCCCC"/>
                </a:solidFill>
                <a:latin typeface="Calibri"/>
              </a:rPr>
              <a:t>This loop is what separates an investigator from a chatbot that just answers.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TextBox 2"/>
          <p:cNvSpPr txBox="1"/>
          <p:nvPr/>
        </p:nvSpPr>
        <p:spPr>
          <a:xfrm>
            <a:off x="457200" y="1097280"/>
            <a:ext cx="1828800" cy="1371600"/>
          </a:xfrm>
          <a:prstGeom prst="rect">
            <a:avLst/>
          </a:prstGeom>
          <a:noFill/>
        </p:spPr>
        <p:txBody>
          <a:bodyPr wrap="square" anchor="t">
            <a:spAutoFit/>
          </a:bodyPr>
          <a:lstStyle/>
          <a:p>
            <a:pPr algn="l"/>
            <a:r>
              <a:rPr sz="7200" b="1" i="0">
                <a:solidFill>
                  <a:srgbClr val="E8751A"/>
                </a:solidFill>
                <a:latin typeface="Georgia"/>
              </a:rPr>
              <a:t>04</a:t>
            </a:r>
          </a:p>
        </p:txBody>
      </p:sp>
      <p:sp>
        <p:nvSpPr>
          <p:cNvPr id="4" name="TextBox 3"/>
          <p:cNvSpPr txBox="1"/>
          <p:nvPr/>
        </p:nvSpPr>
        <p:spPr>
          <a:xfrm>
            <a:off x="457200" y="2743200"/>
            <a:ext cx="8229600" cy="914400"/>
          </a:xfrm>
          <a:prstGeom prst="rect">
            <a:avLst/>
          </a:prstGeom>
          <a:noFill/>
        </p:spPr>
        <p:txBody>
          <a:bodyPr wrap="square" anchor="t">
            <a:spAutoFit/>
          </a:bodyPr>
          <a:lstStyle/>
          <a:p>
            <a:pPr algn="l"/>
            <a:r>
              <a:rPr sz="3600" b="1" i="0">
                <a:solidFill>
                  <a:srgbClr val="FFFFFF"/>
                </a:solidFill>
                <a:latin typeface="Georgia"/>
              </a:rPr>
              <a:t>Security &amp; Trust</a:t>
            </a:r>
          </a:p>
        </p:txBody>
      </p:sp>
      <p:sp>
        <p:nvSpPr>
          <p:cNvPr id="5" name="TextBox 4"/>
          <p:cNvSpPr txBox="1"/>
          <p:nvPr/>
        </p:nvSpPr>
        <p:spPr>
          <a:xfrm>
            <a:off x="457200" y="3566160"/>
            <a:ext cx="8229600" cy="457200"/>
          </a:xfrm>
          <a:prstGeom prst="rect">
            <a:avLst/>
          </a:prstGeom>
          <a:noFill/>
        </p:spPr>
        <p:txBody>
          <a:bodyPr wrap="square" anchor="t">
            <a:spAutoFit/>
          </a:bodyPr>
          <a:lstStyle/>
          <a:p>
            <a:pPr algn="l"/>
            <a:r>
              <a:rPr sz="1400" b="0" i="0">
                <a:solidFill>
                  <a:srgbClr val="999999"/>
                </a:solidFill>
                <a:latin typeface="Calibri"/>
              </a:rPr>
              <a:t>Authentication, governance &amp; data handling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554480" cy="25603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1A1A1A"/>
                </a:solidFill>
                <a:latin typeface="Trebuchet MS"/>
              </a:rPr>
              <a:t>SECURITY &amp; TRUST</a:t>
            </a:r>
          </a:p>
        </p:txBody>
      </p:sp>
      <p:sp>
        <p:nvSpPr>
          <p:cNvPr id="4" name="TextBox 3"/>
          <p:cNvSpPr txBox="1"/>
          <p:nvPr/>
        </p:nvSpPr>
        <p:spPr>
          <a:xfrm>
            <a:off x="457200" y="594360"/>
            <a:ext cx="8229600" cy="411480"/>
          </a:xfrm>
          <a:prstGeom prst="rect">
            <a:avLst/>
          </a:prstGeom>
          <a:noFill/>
        </p:spPr>
        <p:txBody>
          <a:bodyPr wrap="square" anchor="t">
            <a:spAutoFit/>
          </a:bodyPr>
          <a:lstStyle/>
          <a:p>
            <a:pPr algn="l"/>
            <a:r>
              <a:rPr sz="2000" b="1" i="0">
                <a:solidFill>
                  <a:srgbClr val="FFFFFF"/>
                </a:solidFill>
                <a:latin typeface="Calibri"/>
              </a:rPr>
              <a:t>Security, Authentication &amp; Governance</a:t>
            </a:r>
          </a:p>
        </p:txBody>
      </p:sp>
      <p:sp>
        <p:nvSpPr>
          <p:cNvPr id="5" name="Rectangle 4"/>
          <p:cNvSpPr/>
          <p:nvPr/>
        </p:nvSpPr>
        <p:spPr>
          <a:xfrm>
            <a:off x="457200" y="1371600"/>
            <a:ext cx="1572768"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1572768" cy="45720"/>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36192"/>
            <a:ext cx="1389888" cy="502920"/>
          </a:xfrm>
          <a:prstGeom prst="rect">
            <a:avLst/>
          </a:prstGeom>
          <a:noFill/>
        </p:spPr>
        <p:txBody>
          <a:bodyPr wrap="square" anchor="t">
            <a:spAutoFit/>
          </a:bodyPr>
          <a:lstStyle/>
          <a:p>
            <a:pPr algn="l"/>
            <a:r>
              <a:rPr sz="1100" b="1" i="0">
                <a:solidFill>
                  <a:srgbClr val="FFFFFF"/>
                </a:solidFill>
                <a:latin typeface="Calibri"/>
              </a:rPr>
              <a:t>Least-Privilege Access</a:t>
            </a:r>
          </a:p>
        </p:txBody>
      </p:sp>
      <p:sp>
        <p:nvSpPr>
          <p:cNvPr id="8" name="TextBox 7"/>
          <p:cNvSpPr txBox="1"/>
          <p:nvPr/>
        </p:nvSpPr>
        <p:spPr>
          <a:xfrm>
            <a:off x="548640" y="2057400"/>
            <a:ext cx="1389888" cy="457200"/>
          </a:xfrm>
          <a:prstGeom prst="rect">
            <a:avLst/>
          </a:prstGeom>
          <a:noFill/>
        </p:spPr>
        <p:txBody>
          <a:bodyPr wrap="square" anchor="t">
            <a:spAutoFit/>
          </a:bodyPr>
          <a:lstStyle/>
          <a:p>
            <a:pPr algn="l"/>
            <a:r>
              <a:rPr sz="850" b="0" i="0">
                <a:solidFill>
                  <a:srgbClr val="CCCCCC"/>
                </a:solidFill>
                <a:latin typeface="Calibri"/>
              </a:rPr>
              <a:t>✓ Model Armor filters input &amp; output</a:t>
            </a:r>
          </a:p>
        </p:txBody>
      </p:sp>
      <p:sp>
        <p:nvSpPr>
          <p:cNvPr id="9" name="TextBox 8"/>
          <p:cNvSpPr txBox="1"/>
          <p:nvPr/>
        </p:nvSpPr>
        <p:spPr>
          <a:xfrm>
            <a:off x="548640" y="2514600"/>
            <a:ext cx="1389888" cy="457200"/>
          </a:xfrm>
          <a:prstGeom prst="rect">
            <a:avLst/>
          </a:prstGeom>
          <a:noFill/>
        </p:spPr>
        <p:txBody>
          <a:bodyPr wrap="square" anchor="t">
            <a:spAutoFit/>
          </a:bodyPr>
          <a:lstStyle/>
          <a:p>
            <a:pPr algn="l"/>
            <a:r>
              <a:rPr sz="850" b="0" i="0">
                <a:solidFill>
                  <a:srgbClr val="CCCCCC"/>
                </a:solidFill>
                <a:latin typeface="Calibri"/>
              </a:rPr>
              <a:t>✓ Scoped IAM roles — no broad grants</a:t>
            </a:r>
          </a:p>
        </p:txBody>
      </p:sp>
      <p:sp>
        <p:nvSpPr>
          <p:cNvPr id="10" name="Rectangle 9"/>
          <p:cNvSpPr/>
          <p:nvPr/>
        </p:nvSpPr>
        <p:spPr>
          <a:xfrm>
            <a:off x="2084832" y="1371600"/>
            <a:ext cx="1572768"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84832" y="1371600"/>
            <a:ext cx="1572768" cy="45720"/>
          </a:xfrm>
          <a:prstGeom prst="rect">
            <a:avLst/>
          </a:prstGeom>
          <a:solidFill>
            <a:srgbClr val="E87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1536192"/>
            <a:ext cx="1389888" cy="502920"/>
          </a:xfrm>
          <a:prstGeom prst="rect">
            <a:avLst/>
          </a:prstGeom>
          <a:noFill/>
        </p:spPr>
        <p:txBody>
          <a:bodyPr wrap="square" anchor="t">
            <a:spAutoFit/>
          </a:bodyPr>
          <a:lstStyle/>
          <a:p>
            <a:pPr algn="l"/>
            <a:r>
              <a:rPr sz="1100" b="1" i="0">
                <a:solidFill>
                  <a:srgbClr val="FFFFFF"/>
                </a:solidFill>
                <a:latin typeface="Calibri"/>
              </a:rPr>
              <a:t>Scoped Identity</a:t>
            </a:r>
          </a:p>
        </p:txBody>
      </p:sp>
      <p:sp>
        <p:nvSpPr>
          <p:cNvPr id="13" name="TextBox 12"/>
          <p:cNvSpPr txBox="1"/>
          <p:nvPr/>
        </p:nvSpPr>
        <p:spPr>
          <a:xfrm>
            <a:off x="2176272" y="2057400"/>
            <a:ext cx="1389888" cy="457200"/>
          </a:xfrm>
          <a:prstGeom prst="rect">
            <a:avLst/>
          </a:prstGeom>
          <a:noFill/>
        </p:spPr>
        <p:txBody>
          <a:bodyPr wrap="square" anchor="t">
            <a:spAutoFit/>
          </a:bodyPr>
          <a:lstStyle/>
          <a:p>
            <a:pPr algn="l"/>
            <a:r>
              <a:rPr sz="850" b="0" i="0">
                <a:solidFill>
                  <a:srgbClr val="CCCCCC"/>
                </a:solidFill>
                <a:latin typeface="Calibri"/>
              </a:rPr>
              <a:t>✓ Workload Identity (SPIFFE)</a:t>
            </a:r>
          </a:p>
        </p:txBody>
      </p:sp>
      <p:sp>
        <p:nvSpPr>
          <p:cNvPr id="14" name="TextBox 13"/>
          <p:cNvSpPr txBox="1"/>
          <p:nvPr/>
        </p:nvSpPr>
        <p:spPr>
          <a:xfrm>
            <a:off x="2176272" y="2514600"/>
            <a:ext cx="1389888" cy="457200"/>
          </a:xfrm>
          <a:prstGeom prst="rect">
            <a:avLst/>
          </a:prstGeom>
          <a:noFill/>
        </p:spPr>
        <p:txBody>
          <a:bodyPr wrap="square" anchor="t">
            <a:spAutoFit/>
          </a:bodyPr>
          <a:lstStyle/>
          <a:p>
            <a:pPr algn="l"/>
            <a:r>
              <a:rPr sz="850" b="0" i="0">
                <a:solidFill>
                  <a:srgbClr val="CCCCCC"/>
                </a:solidFill>
                <a:latin typeface="Calibri"/>
              </a:rPr>
              <a:t>✓ No static service-account keys</a:t>
            </a:r>
          </a:p>
        </p:txBody>
      </p:sp>
      <p:sp>
        <p:nvSpPr>
          <p:cNvPr id="15" name="Rectangle 14"/>
          <p:cNvSpPr/>
          <p:nvPr/>
        </p:nvSpPr>
        <p:spPr>
          <a:xfrm>
            <a:off x="3712464" y="1371600"/>
            <a:ext cx="1572768"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12464" y="1371600"/>
            <a:ext cx="1572768" cy="45720"/>
          </a:xfrm>
          <a:prstGeom prst="rect">
            <a:avLst/>
          </a:prstGeom>
          <a:solidFill>
            <a:srgbClr val="3CB3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1536192"/>
            <a:ext cx="1389888" cy="502920"/>
          </a:xfrm>
          <a:prstGeom prst="rect">
            <a:avLst/>
          </a:prstGeom>
          <a:noFill/>
        </p:spPr>
        <p:txBody>
          <a:bodyPr wrap="square" anchor="t">
            <a:spAutoFit/>
          </a:bodyPr>
          <a:lstStyle/>
          <a:p>
            <a:pPr algn="l"/>
            <a:r>
              <a:rPr sz="1100" b="1" i="0">
                <a:solidFill>
                  <a:srgbClr val="FFFFFF"/>
                </a:solidFill>
                <a:latin typeface="Calibri"/>
              </a:rPr>
              <a:t>Read-Only Investigation</a:t>
            </a:r>
          </a:p>
        </p:txBody>
      </p:sp>
      <p:sp>
        <p:nvSpPr>
          <p:cNvPr id="18" name="TextBox 17"/>
          <p:cNvSpPr txBox="1"/>
          <p:nvPr/>
        </p:nvSpPr>
        <p:spPr>
          <a:xfrm>
            <a:off x="3803904" y="2057400"/>
            <a:ext cx="1389888" cy="457200"/>
          </a:xfrm>
          <a:prstGeom prst="rect">
            <a:avLst/>
          </a:prstGeom>
          <a:noFill/>
        </p:spPr>
        <p:txBody>
          <a:bodyPr wrap="square" anchor="t">
            <a:spAutoFit/>
          </a:bodyPr>
          <a:lstStyle/>
          <a:p>
            <a:pPr algn="l"/>
            <a:r>
              <a:rPr sz="850" b="0" i="0">
                <a:solidFill>
                  <a:srgbClr val="CCCCCC"/>
                </a:solidFill>
                <a:latin typeface="Calibri"/>
              </a:rPr>
              <a:t>✓ GKE Remote MCP tools are GET-only</a:t>
            </a:r>
          </a:p>
        </p:txBody>
      </p:sp>
      <p:sp>
        <p:nvSpPr>
          <p:cNvPr id="19" name="TextBox 18"/>
          <p:cNvSpPr txBox="1"/>
          <p:nvPr/>
        </p:nvSpPr>
        <p:spPr>
          <a:xfrm>
            <a:off x="3803904" y="2514600"/>
            <a:ext cx="1389888" cy="457200"/>
          </a:xfrm>
          <a:prstGeom prst="rect">
            <a:avLst/>
          </a:prstGeom>
          <a:noFill/>
        </p:spPr>
        <p:txBody>
          <a:bodyPr wrap="square" anchor="t">
            <a:spAutoFit/>
          </a:bodyPr>
          <a:lstStyle/>
          <a:p>
            <a:pPr algn="l"/>
            <a:r>
              <a:rPr sz="850" b="0" i="0">
                <a:solidFill>
                  <a:srgbClr val="CCCCCC"/>
                </a:solidFill>
                <a:latin typeface="Calibri"/>
              </a:rPr>
              <a:t>✓ No write/exec on the cluster</a:t>
            </a:r>
          </a:p>
        </p:txBody>
      </p:sp>
      <p:sp>
        <p:nvSpPr>
          <p:cNvPr id="20" name="Rectangle 19"/>
          <p:cNvSpPr/>
          <p:nvPr/>
        </p:nvSpPr>
        <p:spPr>
          <a:xfrm>
            <a:off x="5340096" y="1371600"/>
            <a:ext cx="1572768"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40096" y="1371600"/>
            <a:ext cx="1572768" cy="45720"/>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31536" y="1536192"/>
            <a:ext cx="1389888" cy="502920"/>
          </a:xfrm>
          <a:prstGeom prst="rect">
            <a:avLst/>
          </a:prstGeom>
          <a:noFill/>
        </p:spPr>
        <p:txBody>
          <a:bodyPr wrap="square" anchor="t">
            <a:spAutoFit/>
          </a:bodyPr>
          <a:lstStyle/>
          <a:p>
            <a:pPr algn="l"/>
            <a:r>
              <a:rPr sz="1100" b="1" i="0">
                <a:solidFill>
                  <a:srgbClr val="FFFFFF"/>
                </a:solidFill>
                <a:latin typeface="Calibri"/>
              </a:rPr>
              <a:t>Gateway Governance</a:t>
            </a:r>
          </a:p>
        </p:txBody>
      </p:sp>
      <p:sp>
        <p:nvSpPr>
          <p:cNvPr id="23" name="TextBox 22"/>
          <p:cNvSpPr txBox="1"/>
          <p:nvPr/>
        </p:nvSpPr>
        <p:spPr>
          <a:xfrm>
            <a:off x="5431536" y="2057400"/>
            <a:ext cx="1389888" cy="457200"/>
          </a:xfrm>
          <a:prstGeom prst="rect">
            <a:avLst/>
          </a:prstGeom>
          <a:noFill/>
        </p:spPr>
        <p:txBody>
          <a:bodyPr wrap="square" anchor="t">
            <a:spAutoFit/>
          </a:bodyPr>
          <a:lstStyle/>
          <a:p>
            <a:pPr algn="l"/>
            <a:r>
              <a:rPr sz="850" b="0" i="0">
                <a:solidFill>
                  <a:srgbClr val="CCCCCC"/>
                </a:solidFill>
                <a:latin typeface="Calibri"/>
              </a:rPr>
              <a:t>✓ Agent Gateway routes every call</a:t>
            </a:r>
          </a:p>
        </p:txBody>
      </p:sp>
      <p:sp>
        <p:nvSpPr>
          <p:cNvPr id="24" name="TextBox 23"/>
          <p:cNvSpPr txBox="1"/>
          <p:nvPr/>
        </p:nvSpPr>
        <p:spPr>
          <a:xfrm>
            <a:off x="5431536" y="2514600"/>
            <a:ext cx="1389888" cy="457200"/>
          </a:xfrm>
          <a:prstGeom prst="rect">
            <a:avLst/>
          </a:prstGeom>
          <a:noFill/>
        </p:spPr>
        <p:txBody>
          <a:bodyPr wrap="square" anchor="t">
            <a:spAutoFit/>
          </a:bodyPr>
          <a:lstStyle/>
          <a:p>
            <a:pPr algn="l"/>
            <a:r>
              <a:rPr sz="850" b="0" i="0">
                <a:solidFill>
                  <a:srgbClr val="CCCCCC"/>
                </a:solidFill>
                <a:latin typeface="Calibri"/>
              </a:rPr>
              <a:t>✓ IAP-authorized, not open network</a:t>
            </a:r>
          </a:p>
        </p:txBody>
      </p:sp>
      <p:sp>
        <p:nvSpPr>
          <p:cNvPr id="25" name="Rectangle 24"/>
          <p:cNvSpPr/>
          <p:nvPr/>
        </p:nvSpPr>
        <p:spPr>
          <a:xfrm>
            <a:off x="6967728" y="1371600"/>
            <a:ext cx="1572768"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67728" y="1371600"/>
            <a:ext cx="1572768" cy="45720"/>
          </a:xfrm>
          <a:prstGeom prst="rect">
            <a:avLst/>
          </a:prstGeom>
          <a:solidFill>
            <a:srgbClr val="9B59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59168" y="1536192"/>
            <a:ext cx="1389888" cy="502920"/>
          </a:xfrm>
          <a:prstGeom prst="rect">
            <a:avLst/>
          </a:prstGeom>
          <a:noFill/>
        </p:spPr>
        <p:txBody>
          <a:bodyPr wrap="square" anchor="t">
            <a:spAutoFit/>
          </a:bodyPr>
          <a:lstStyle/>
          <a:p>
            <a:pPr algn="l"/>
            <a:r>
              <a:rPr sz="1100" b="1" i="0">
                <a:solidFill>
                  <a:srgbClr val="FFFFFF"/>
                </a:solidFill>
                <a:latin typeface="Calibri"/>
              </a:rPr>
              <a:t>Human-in-the-Loop</a:t>
            </a:r>
          </a:p>
        </p:txBody>
      </p:sp>
      <p:sp>
        <p:nvSpPr>
          <p:cNvPr id="28" name="TextBox 27"/>
          <p:cNvSpPr txBox="1"/>
          <p:nvPr/>
        </p:nvSpPr>
        <p:spPr>
          <a:xfrm>
            <a:off x="7059168" y="2057400"/>
            <a:ext cx="1389888" cy="457200"/>
          </a:xfrm>
          <a:prstGeom prst="rect">
            <a:avLst/>
          </a:prstGeom>
          <a:noFill/>
        </p:spPr>
        <p:txBody>
          <a:bodyPr wrap="square" anchor="t">
            <a:spAutoFit/>
          </a:bodyPr>
          <a:lstStyle/>
          <a:p>
            <a:pPr algn="l"/>
            <a:r>
              <a:rPr sz="850" b="0" i="0">
                <a:solidFill>
                  <a:srgbClr val="CCCCCC"/>
                </a:solidFill>
                <a:latin typeface="Calibri"/>
              </a:rPr>
              <a:t>✓ Agent recommends, engineer approves</a:t>
            </a:r>
          </a:p>
        </p:txBody>
      </p:sp>
      <p:sp>
        <p:nvSpPr>
          <p:cNvPr id="29" name="TextBox 28"/>
          <p:cNvSpPr txBox="1"/>
          <p:nvPr/>
        </p:nvSpPr>
        <p:spPr>
          <a:xfrm>
            <a:off x="7059168" y="2514600"/>
            <a:ext cx="1389888" cy="457200"/>
          </a:xfrm>
          <a:prstGeom prst="rect">
            <a:avLst/>
          </a:prstGeom>
          <a:noFill/>
        </p:spPr>
        <p:txBody>
          <a:bodyPr wrap="square" anchor="t">
            <a:spAutoFit/>
          </a:bodyPr>
          <a:lstStyle/>
          <a:p>
            <a:pPr algn="l"/>
            <a:r>
              <a:rPr sz="850" b="0" i="0">
                <a:solidFill>
                  <a:srgbClr val="CCCCCC"/>
                </a:solidFill>
                <a:latin typeface="Calibri"/>
              </a:rPr>
              <a:t>✓ Full audit trail via Cloud Logging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05</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Proof It Works</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Live demo &amp; observability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138428"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138428"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LIVE DEMO</a:t>
            </a:r>
            <a:endParaRPr lang="en-US" sz="800" dirty="0"/>
          </a:p>
        </p:txBody>
      </p:sp>
      <p:sp>
        <p:nvSpPr>
          <p:cNvPr id="5" name="Text 3"/>
          <p:cNvSpPr/>
          <p:nvPr/>
        </p:nvSpPr>
        <p:spPr>
          <a:xfrm>
            <a:off x="457200" y="594360"/>
            <a:ext cx="8229600" cy="411480"/>
          </a:xfrm>
          <a:prstGeom prst="rect">
            <a:avLst/>
          </a:prstGeom>
          <a:noFill/>
          <a:ln/>
        </p:spPr>
        <p:txBody>
          <a:bodyPr wrap="square" lIns="0" tIns="0" rIns="0" bIns="0" rtlCol="0" anchor="ctr"/>
          <a:lstStyle/>
          <a:p>
            <a:pPr marL="0" indent="0">
              <a:buNone/>
            </a:pPr>
            <a:r>
              <a:rPr lang="en-US" sz="2400" b="1" dirty="0">
                <a:latin typeface="Georgia" pitchFamily="34" charset="0"/>
                <a:ea typeface="Georgia" pitchFamily="34" charset="-122"/>
                <a:cs typeface="Georgia" pitchFamily="34" charset="-120"/>
              </a:rPr>
              <a:t>Test Cases: Real Kubernetes Failure Scenarios</a:t>
            </a:r>
            <a:endParaRPr lang="en-US" sz="2400" dirty="0"/>
          </a:p>
        </p:txBody>
      </p:sp>
      <p:sp>
        <p:nvSpPr>
          <p:cNvPr id="6" name="Shape 4"/>
          <p:cNvSpPr/>
          <p:nvPr/>
        </p:nvSpPr>
        <p:spPr>
          <a:xfrm>
            <a:off x="457200" y="1143000"/>
            <a:ext cx="8229600" cy="1170432"/>
          </a:xfrm>
          <a:prstGeom prst="rect">
            <a:avLst/>
          </a:prstGeom>
          <a:solidFill>
            <a:srgbClr val="242424"/>
          </a:solidFill>
          <a:ln w="12700">
            <a:solidFill>
              <a:srgbClr val="333333"/>
            </a:solidFill>
            <a:prstDash val="solid"/>
          </a:ln>
        </p:spPr>
        <p:txBody>
          <a:bodyPr/>
          <a:lstStyle/>
          <a:p>
            <a:endParaRPr lang="en-US"/>
          </a:p>
        </p:txBody>
      </p:sp>
      <p:sp>
        <p:nvSpPr>
          <p:cNvPr id="7" name="Shape 5"/>
          <p:cNvSpPr/>
          <p:nvPr/>
        </p:nvSpPr>
        <p:spPr>
          <a:xfrm>
            <a:off x="457200" y="1143000"/>
            <a:ext cx="54864" cy="1170432"/>
          </a:xfrm>
          <a:prstGeom prst="rect">
            <a:avLst/>
          </a:prstGeom>
          <a:solidFill>
            <a:srgbClr val="E74C3C"/>
          </a:solidFill>
          <a:ln/>
        </p:spPr>
        <p:txBody>
          <a:bodyPr/>
          <a:lstStyle/>
          <a:p>
            <a:endParaRPr lang="en-US"/>
          </a:p>
        </p:txBody>
      </p:sp>
      <p:sp>
        <p:nvSpPr>
          <p:cNvPr id="8" name="Shape 6"/>
          <p:cNvSpPr/>
          <p:nvPr/>
        </p:nvSpPr>
        <p:spPr>
          <a:xfrm>
            <a:off x="640080" y="1216152"/>
            <a:ext cx="502920" cy="201168"/>
          </a:xfrm>
          <a:prstGeom prst="rect">
            <a:avLst/>
          </a:prstGeom>
          <a:solidFill>
            <a:srgbClr val="E74C3C"/>
          </a:solidFill>
          <a:ln/>
        </p:spPr>
        <p:txBody>
          <a:bodyPr/>
          <a:lstStyle/>
          <a:p>
            <a:endParaRPr lang="en-US"/>
          </a:p>
        </p:txBody>
      </p:sp>
      <p:sp>
        <p:nvSpPr>
          <p:cNvPr id="9" name="Text 7"/>
          <p:cNvSpPr/>
          <p:nvPr/>
        </p:nvSpPr>
        <p:spPr>
          <a:xfrm>
            <a:off x="640080" y="1216152"/>
            <a:ext cx="50292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TC-01</a:t>
            </a:r>
            <a:endParaRPr lang="en-US" sz="800" dirty="0"/>
          </a:p>
        </p:txBody>
      </p:sp>
      <p:sp>
        <p:nvSpPr>
          <p:cNvPr id="10" name="Text 8"/>
          <p:cNvSpPr/>
          <p:nvPr/>
        </p:nvSpPr>
        <p:spPr>
          <a:xfrm>
            <a:off x="1234440" y="1188720"/>
            <a:ext cx="7132320" cy="256032"/>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CreateContainerConfigError — Missing ConfigMap</a:t>
            </a:r>
            <a:endParaRPr lang="en-US" sz="1300" dirty="0"/>
          </a:p>
        </p:txBody>
      </p:sp>
      <p:sp>
        <p:nvSpPr>
          <p:cNvPr id="11" name="Text 9"/>
          <p:cNvSpPr/>
          <p:nvPr/>
        </p:nvSpPr>
        <p:spPr>
          <a:xfrm>
            <a:off x="685800" y="1463040"/>
            <a:ext cx="7772400" cy="201168"/>
          </a:xfrm>
          <a:prstGeom prst="rect">
            <a:avLst/>
          </a:prstGeom>
          <a:noFill/>
          <a:ln/>
        </p:spPr>
        <p:txBody>
          <a:bodyPr wrap="square" lIns="0" tIns="0" rIns="0" bIns="0" rtlCol="0" anchor="ctr"/>
          <a:lstStyle/>
          <a:p>
            <a:pPr marL="0" indent="0" algn="l">
              <a:buNone/>
            </a:pPr>
            <a:r>
              <a:rPr lang="en-US" sz="900" i="1" dirty="0">
                <a:solidFill>
                  <a:srgbClr val="3CB371"/>
                </a:solidFill>
                <a:latin typeface="Consolas" pitchFamily="34" charset="0"/>
                <a:ea typeface="Consolas" pitchFamily="34" charset="-122"/>
                <a:cs typeface="Consolas" pitchFamily="34" charset="-120"/>
              </a:rPr>
              <a:t>"Pod missing-configmap-pod in sre-agent-poc won't start. Investigate."</a:t>
            </a:r>
            <a:endParaRPr lang="en-US" sz="900" dirty="0"/>
          </a:p>
        </p:txBody>
      </p:sp>
      <p:sp>
        <p:nvSpPr>
          <p:cNvPr id="12" name="Text 10"/>
          <p:cNvSpPr/>
          <p:nvPr/>
        </p:nvSpPr>
        <p:spPr>
          <a:xfrm>
            <a:off x="685800" y="1691640"/>
            <a:ext cx="7772400" cy="228600"/>
          </a:xfrm>
          <a:prstGeom prst="rect">
            <a:avLst/>
          </a:prstGeom>
          <a:noFill/>
          <a:ln/>
        </p:spPr>
        <p:txBody>
          <a:bodyPr wrap="square" lIns="0" tIns="0" rIns="0" bIns="0" rtlCol="0" anchor="ctr"/>
          <a:lstStyle/>
          <a:p>
            <a:pPr marL="0" indent="0" algn="l">
              <a:buNone/>
            </a:pPr>
            <a:r>
              <a:rPr lang="en-US" sz="900" dirty="0">
                <a:solidFill>
                  <a:srgbClr val="CCCCCC"/>
                </a:solidFill>
                <a:latin typeface="Calibri" pitchFamily="34" charset="0"/>
                <a:ea typeface="Calibri" pitchFamily="34" charset="-122"/>
                <a:cs typeface="Calibri" pitchFamily="34" charset="-120"/>
              </a:rPr>
              <a:t>Agent describes the pod -&gt; finds the missing ConfigMap reference -&gt; confirms via events -&gt; returns root cause.</a:t>
            </a:r>
            <a:endParaRPr lang="en-US" sz="900" dirty="0"/>
          </a:p>
        </p:txBody>
      </p:sp>
      <p:sp>
        <p:nvSpPr>
          <p:cNvPr id="13" name="Text 11"/>
          <p:cNvSpPr/>
          <p:nvPr/>
        </p:nvSpPr>
        <p:spPr>
          <a:xfrm>
            <a:off x="685800" y="1965960"/>
            <a:ext cx="7772400" cy="274320"/>
          </a:xfrm>
          <a:prstGeom prst="rect">
            <a:avLst/>
          </a:prstGeom>
          <a:noFill/>
          <a:ln/>
        </p:spPr>
        <p:txBody>
          <a:bodyPr wrap="square" lIns="0" tIns="0" rIns="0" bIns="0" rtlCol="0" anchor="ctr"/>
          <a:lstStyle/>
          <a:p>
            <a:pPr marL="0" indent="0" algn="l">
              <a:buNone/>
            </a:pPr>
            <a:r>
              <a:rPr lang="en-US" sz="800" b="1" dirty="0">
                <a:solidFill>
                  <a:srgbClr val="1ABC9C"/>
                </a:solidFill>
                <a:latin typeface="Calibri" pitchFamily="34" charset="0"/>
                <a:ea typeface="Calibri" pitchFamily="34" charset="-122"/>
                <a:cs typeface="Calibri" pitchFamily="34" charset="-120"/>
              </a:rPr>
              <a:t>Tools: describe_k8s_resource - list_k8s_events   * Passed, confidence 0.80-0.90 (real eval run)</a:t>
            </a:r>
            <a:r>
              <a:rPr lang="en-US" sz="800" dirty="0">
                <a:solidFill>
                  <a:srgbClr val="999999"/>
                </a:solidFill>
                <a:latin typeface="Calibri" pitchFamily="34" charset="0"/>
                <a:ea typeface="Calibri" pitchFamily="34" charset="-122"/>
                <a:cs typeface="Calibri" pitchFamily="34" charset="-120"/>
              </a:rPr>
              <a:t>get_pod_status · get_previous_pod_logs · get_pod_events</a:t>
            </a:r>
            <a:r>
              <a:rPr lang="en-US" sz="800" i="1" dirty="0">
                <a:solidFill>
                  <a:srgbClr val="666666"/>
                </a:solidFill>
                <a:latin typeface="Calibri" pitchFamily="34" charset="0"/>
                <a:ea typeface="Calibri" pitchFamily="34" charset="-122"/>
                <a:cs typeface="Calibri" pitchFamily="34" charset="-120"/>
              </a:rPr>
              <a:t>   ★  Most common production incident — demonstrates multi-step evidence gathering</a:t>
            </a:r>
            <a:endParaRPr lang="en-US" sz="800" dirty="0"/>
          </a:p>
        </p:txBody>
      </p:sp>
      <p:sp>
        <p:nvSpPr>
          <p:cNvPr id="14" name="Shape 12"/>
          <p:cNvSpPr/>
          <p:nvPr/>
        </p:nvSpPr>
        <p:spPr>
          <a:xfrm>
            <a:off x="457200" y="2423160"/>
            <a:ext cx="8229600" cy="1170432"/>
          </a:xfrm>
          <a:prstGeom prst="rect">
            <a:avLst/>
          </a:prstGeom>
          <a:solidFill>
            <a:srgbClr val="242424"/>
          </a:solidFill>
          <a:ln w="12700">
            <a:solidFill>
              <a:srgbClr val="333333"/>
            </a:solidFill>
            <a:prstDash val="solid"/>
          </a:ln>
        </p:spPr>
        <p:txBody>
          <a:bodyPr/>
          <a:lstStyle/>
          <a:p>
            <a:endParaRPr lang="en-US"/>
          </a:p>
        </p:txBody>
      </p:sp>
      <p:sp>
        <p:nvSpPr>
          <p:cNvPr id="15" name="Shape 13"/>
          <p:cNvSpPr/>
          <p:nvPr/>
        </p:nvSpPr>
        <p:spPr>
          <a:xfrm>
            <a:off x="457200" y="2423160"/>
            <a:ext cx="54864" cy="1170432"/>
          </a:xfrm>
          <a:prstGeom prst="rect">
            <a:avLst/>
          </a:prstGeom>
          <a:solidFill>
            <a:srgbClr val="E8751A"/>
          </a:solidFill>
          <a:ln/>
        </p:spPr>
        <p:txBody>
          <a:bodyPr/>
          <a:lstStyle/>
          <a:p>
            <a:endParaRPr lang="en-US"/>
          </a:p>
        </p:txBody>
      </p:sp>
      <p:sp>
        <p:nvSpPr>
          <p:cNvPr id="16" name="Shape 14"/>
          <p:cNvSpPr/>
          <p:nvPr/>
        </p:nvSpPr>
        <p:spPr>
          <a:xfrm>
            <a:off x="640080" y="2496312"/>
            <a:ext cx="502920" cy="201168"/>
          </a:xfrm>
          <a:prstGeom prst="rect">
            <a:avLst/>
          </a:prstGeom>
          <a:solidFill>
            <a:srgbClr val="E8751A"/>
          </a:solidFill>
          <a:ln/>
        </p:spPr>
        <p:txBody>
          <a:bodyPr/>
          <a:lstStyle/>
          <a:p>
            <a:endParaRPr lang="en-US"/>
          </a:p>
        </p:txBody>
      </p:sp>
      <p:sp>
        <p:nvSpPr>
          <p:cNvPr id="17" name="Text 15"/>
          <p:cNvSpPr/>
          <p:nvPr/>
        </p:nvSpPr>
        <p:spPr>
          <a:xfrm>
            <a:off x="640080" y="2496312"/>
            <a:ext cx="50292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TC-02</a:t>
            </a:r>
            <a:endParaRPr lang="en-US" sz="800" dirty="0"/>
          </a:p>
        </p:txBody>
      </p:sp>
      <p:sp>
        <p:nvSpPr>
          <p:cNvPr id="18" name="Text 16"/>
          <p:cNvSpPr/>
          <p:nvPr/>
        </p:nvSpPr>
        <p:spPr>
          <a:xfrm>
            <a:off x="1234440" y="2468880"/>
            <a:ext cx="7132320" cy="256032"/>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Stuck Pending — Missing PersistentVolumeClaim</a:t>
            </a:r>
            <a:endParaRPr lang="en-US" sz="1300" dirty="0"/>
          </a:p>
        </p:txBody>
      </p:sp>
      <p:sp>
        <p:nvSpPr>
          <p:cNvPr id="19" name="Text 17"/>
          <p:cNvSpPr/>
          <p:nvPr/>
        </p:nvSpPr>
        <p:spPr>
          <a:xfrm>
            <a:off x="685800" y="2743200"/>
            <a:ext cx="7772400" cy="201168"/>
          </a:xfrm>
          <a:prstGeom prst="rect">
            <a:avLst/>
          </a:prstGeom>
          <a:noFill/>
          <a:ln/>
        </p:spPr>
        <p:txBody>
          <a:bodyPr wrap="square" lIns="0" tIns="0" rIns="0" bIns="0" rtlCol="0" anchor="ctr"/>
          <a:lstStyle/>
          <a:p>
            <a:pPr marL="0" indent="0" algn="l">
              <a:buNone/>
            </a:pPr>
            <a:r>
              <a:rPr lang="en-US" sz="900" i="1" dirty="0">
                <a:solidFill>
                  <a:srgbClr val="3CB371"/>
                </a:solidFill>
                <a:latin typeface="Consolas" pitchFamily="34" charset="0"/>
                <a:ea typeface="Consolas" pitchFamily="34" charset="-122"/>
                <a:cs typeface="Consolas" pitchFamily="34" charset="-120"/>
              </a:rPr>
              <a:t>"Pod pvc-pending-pod in sre-agent-poc has been stuck Pending. Investigate."</a:t>
            </a:r>
            <a:endParaRPr lang="en-US" sz="900" dirty="0"/>
          </a:p>
        </p:txBody>
      </p:sp>
      <p:sp>
        <p:nvSpPr>
          <p:cNvPr id="20" name="Text 18"/>
          <p:cNvSpPr/>
          <p:nvPr/>
        </p:nvSpPr>
        <p:spPr>
          <a:xfrm>
            <a:off x="685800" y="2971800"/>
            <a:ext cx="7772400" cy="228600"/>
          </a:xfrm>
          <a:prstGeom prst="rect">
            <a:avLst/>
          </a:prstGeom>
          <a:noFill/>
          <a:ln/>
        </p:spPr>
        <p:txBody>
          <a:bodyPr wrap="square" lIns="0" tIns="0" rIns="0" bIns="0" rtlCol="0" anchor="ctr"/>
          <a:lstStyle/>
          <a:p>
            <a:pPr marL="0" indent="0" algn="l">
              <a:buNone/>
            </a:pPr>
            <a:r>
              <a:rPr lang="en-US" sz="900" dirty="0">
                <a:solidFill>
                  <a:srgbClr val="CCCCCC"/>
                </a:solidFill>
                <a:latin typeface="Calibri" pitchFamily="34" charset="0"/>
                <a:ea typeface="Calibri" pitchFamily="34" charset="-122"/>
                <a:cs typeface="Calibri" pitchFamily="34" charset="-120"/>
              </a:rPr>
              <a:t>Agent checks pod status -&gt; finds FailedScheduling event -&gt; traces to the missing PVC -&gt; returns root cause.</a:t>
            </a:r>
            <a:endParaRPr lang="en-US" sz="900" dirty="0"/>
          </a:p>
        </p:txBody>
      </p:sp>
      <p:sp>
        <p:nvSpPr>
          <p:cNvPr id="21" name="Text 19"/>
          <p:cNvSpPr/>
          <p:nvPr/>
        </p:nvSpPr>
        <p:spPr>
          <a:xfrm>
            <a:off x="685800" y="3246120"/>
            <a:ext cx="7772400" cy="274320"/>
          </a:xfrm>
          <a:prstGeom prst="rect">
            <a:avLst/>
          </a:prstGeom>
          <a:noFill/>
          <a:ln/>
        </p:spPr>
        <p:txBody>
          <a:bodyPr wrap="square" lIns="0" tIns="0" rIns="0" bIns="0" rtlCol="0" anchor="ctr"/>
          <a:lstStyle/>
          <a:p>
            <a:pPr marL="0" indent="0" algn="l">
              <a:buNone/>
            </a:pPr>
            <a:r>
              <a:rPr lang="en-US" sz="800" b="1" dirty="0">
                <a:solidFill>
                  <a:srgbClr val="1ABC9C"/>
                </a:solidFill>
                <a:latin typeface="Calibri" pitchFamily="34" charset="0"/>
                <a:ea typeface="Calibri" pitchFamily="34" charset="-122"/>
                <a:cs typeface="Calibri" pitchFamily="34" charset="-120"/>
              </a:rPr>
              <a:t>Tools: describe_k8s_resource - list_k8s_events   * Passed, confidence 0.90, keyword match 1.00 (real eval run)</a:t>
            </a:r>
            <a:r>
              <a:rPr lang="en-US" sz="800" dirty="0">
                <a:solidFill>
                  <a:srgbClr val="999999"/>
                </a:solidFill>
                <a:latin typeface="Calibri" pitchFamily="34" charset="0"/>
                <a:ea typeface="Calibri" pitchFamily="34" charset="-122"/>
                <a:cs typeface="Calibri" pitchFamily="34" charset="-120"/>
              </a:rPr>
              <a:t>get_pod_events · get_pod_status · describe_pod</a:t>
            </a:r>
            <a:r>
              <a:rPr lang="en-US" sz="800" i="1" dirty="0">
                <a:solidFill>
                  <a:srgbClr val="666666"/>
                </a:solidFill>
                <a:latin typeface="Calibri" pitchFamily="34" charset="0"/>
                <a:ea typeface="Calibri" pitchFamily="34" charset="-122"/>
                <a:cs typeface="Calibri" pitchFamily="34" charset="-120"/>
              </a:rPr>
              <a:t>   ★  Common misconfiguration — shows agent reasoning about config rather than runtime errors</a:t>
            </a:r>
            <a:endParaRPr lang="en-US" sz="800" dirty="0"/>
          </a:p>
        </p:txBody>
      </p:sp>
      <p:sp>
        <p:nvSpPr>
          <p:cNvPr id="22" name="Shape 20"/>
          <p:cNvSpPr/>
          <p:nvPr/>
        </p:nvSpPr>
        <p:spPr>
          <a:xfrm>
            <a:off x="457200" y="3703320"/>
            <a:ext cx="8229600" cy="1170432"/>
          </a:xfrm>
          <a:prstGeom prst="rect">
            <a:avLst/>
          </a:prstGeom>
          <a:solidFill>
            <a:srgbClr val="242424"/>
          </a:solidFill>
          <a:ln w="12700">
            <a:solidFill>
              <a:srgbClr val="333333"/>
            </a:solidFill>
            <a:prstDash val="solid"/>
          </a:ln>
        </p:spPr>
        <p:txBody>
          <a:bodyPr/>
          <a:lstStyle/>
          <a:p>
            <a:endParaRPr lang="en-US"/>
          </a:p>
        </p:txBody>
      </p:sp>
      <p:sp>
        <p:nvSpPr>
          <p:cNvPr id="23" name="Shape 21"/>
          <p:cNvSpPr/>
          <p:nvPr/>
        </p:nvSpPr>
        <p:spPr>
          <a:xfrm>
            <a:off x="457200" y="3703320"/>
            <a:ext cx="54864" cy="1170432"/>
          </a:xfrm>
          <a:prstGeom prst="rect">
            <a:avLst/>
          </a:prstGeom>
          <a:solidFill>
            <a:srgbClr val="F4C542"/>
          </a:solidFill>
          <a:ln/>
        </p:spPr>
        <p:txBody>
          <a:bodyPr/>
          <a:lstStyle/>
          <a:p>
            <a:endParaRPr lang="en-US"/>
          </a:p>
        </p:txBody>
      </p:sp>
      <p:sp>
        <p:nvSpPr>
          <p:cNvPr id="24" name="Shape 22"/>
          <p:cNvSpPr/>
          <p:nvPr/>
        </p:nvSpPr>
        <p:spPr>
          <a:xfrm>
            <a:off x="640080" y="3776472"/>
            <a:ext cx="502920" cy="201168"/>
          </a:xfrm>
          <a:prstGeom prst="rect">
            <a:avLst/>
          </a:prstGeom>
          <a:solidFill>
            <a:srgbClr val="F4C542"/>
          </a:solidFill>
          <a:ln/>
        </p:spPr>
        <p:txBody>
          <a:bodyPr/>
          <a:lstStyle/>
          <a:p>
            <a:endParaRPr lang="en-US"/>
          </a:p>
        </p:txBody>
      </p:sp>
      <p:sp>
        <p:nvSpPr>
          <p:cNvPr id="25" name="Text 23"/>
          <p:cNvSpPr/>
          <p:nvPr/>
        </p:nvSpPr>
        <p:spPr>
          <a:xfrm>
            <a:off x="640080" y="3776472"/>
            <a:ext cx="502920" cy="201168"/>
          </a:xfrm>
          <a:prstGeom prst="rect">
            <a:avLst/>
          </a:prstGeom>
          <a:noFill/>
          <a:ln/>
        </p:spPr>
        <p:txBody>
          <a:bodyPr wrap="square" lIns="0" tIns="0" rIns="0" bIns="0" rtlCol="0" anchor="ctr"/>
          <a:lstStyle/>
          <a:p>
            <a:pPr marL="0" indent="0" algn="ctr">
              <a:buNone/>
            </a:pPr>
            <a:r>
              <a:rPr lang="en-US" sz="800" b="1" dirty="0">
                <a:solidFill>
                  <a:srgbClr val="FFFFFF"/>
                </a:solidFill>
                <a:latin typeface="Trebuchet MS" pitchFamily="34" charset="0"/>
                <a:ea typeface="Trebuchet MS" pitchFamily="34" charset="-122"/>
                <a:cs typeface="Trebuchet MS" pitchFamily="34" charset="-120"/>
              </a:rPr>
              <a:t>TC-03</a:t>
            </a:r>
            <a:endParaRPr lang="en-US" sz="800" dirty="0"/>
          </a:p>
        </p:txBody>
      </p:sp>
      <p:sp>
        <p:nvSpPr>
          <p:cNvPr id="26" name="Text 24"/>
          <p:cNvSpPr/>
          <p:nvPr/>
        </p:nvSpPr>
        <p:spPr>
          <a:xfrm>
            <a:off x="1234440" y="3749040"/>
            <a:ext cx="7132320" cy="256032"/>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Liveness Probe Failure — Repeated Restarts</a:t>
            </a:r>
            <a:endParaRPr lang="en-US" sz="1300" dirty="0"/>
          </a:p>
        </p:txBody>
      </p:sp>
      <p:sp>
        <p:nvSpPr>
          <p:cNvPr id="27" name="Text 25"/>
          <p:cNvSpPr/>
          <p:nvPr/>
        </p:nvSpPr>
        <p:spPr>
          <a:xfrm>
            <a:off x="685800" y="4023360"/>
            <a:ext cx="7772400" cy="201168"/>
          </a:xfrm>
          <a:prstGeom prst="rect">
            <a:avLst/>
          </a:prstGeom>
          <a:noFill/>
          <a:ln/>
        </p:spPr>
        <p:txBody>
          <a:bodyPr wrap="square" lIns="0" tIns="0" rIns="0" bIns="0" rtlCol="0" anchor="ctr"/>
          <a:lstStyle/>
          <a:p>
            <a:pPr marL="0" indent="0" algn="l">
              <a:buNone/>
            </a:pPr>
            <a:r>
              <a:rPr lang="en-US" sz="900" i="1" dirty="0">
                <a:solidFill>
                  <a:srgbClr val="3CB371"/>
                </a:solidFill>
                <a:latin typeface="Consolas" pitchFamily="34" charset="0"/>
                <a:ea typeface="Consolas" pitchFamily="34" charset="-122"/>
                <a:cs typeface="Consolas" pitchFamily="34" charset="-120"/>
              </a:rPr>
              <a:t>"Pod liveness-fail-pod in sre-agent-poc keeps restarting. Investigate."</a:t>
            </a:r>
            <a:endParaRPr lang="en-US" sz="900" dirty="0"/>
          </a:p>
        </p:txBody>
      </p:sp>
      <p:sp>
        <p:nvSpPr>
          <p:cNvPr id="28" name="Text 26"/>
          <p:cNvSpPr/>
          <p:nvPr/>
        </p:nvSpPr>
        <p:spPr>
          <a:xfrm>
            <a:off x="685800" y="4251960"/>
            <a:ext cx="7772400" cy="228600"/>
          </a:xfrm>
          <a:prstGeom prst="rect">
            <a:avLst/>
          </a:prstGeom>
          <a:noFill/>
          <a:ln/>
        </p:spPr>
        <p:txBody>
          <a:bodyPr wrap="square" lIns="0" tIns="0" rIns="0" bIns="0" rtlCol="0" anchor="ctr"/>
          <a:lstStyle/>
          <a:p>
            <a:pPr marL="0" indent="0" algn="l">
              <a:buNone/>
            </a:pPr>
            <a:r>
              <a:rPr lang="en-US" sz="900" dirty="0">
                <a:solidFill>
                  <a:srgbClr val="CCCCCC"/>
                </a:solidFill>
                <a:latin typeface="Calibri" pitchFamily="34" charset="0"/>
                <a:ea typeface="Calibri" pitchFamily="34" charset="-122"/>
                <a:cs typeface="Calibri" pitchFamily="34" charset="-120"/>
              </a:rPr>
              <a:t>Agent checks events -&gt; finds liveness probe failures -&gt; correlates with restart count -&gt; returns root cause.</a:t>
            </a:r>
            <a:endParaRPr lang="en-US" sz="900" dirty="0"/>
          </a:p>
        </p:txBody>
      </p:sp>
      <p:sp>
        <p:nvSpPr>
          <p:cNvPr id="29" name="Text 27"/>
          <p:cNvSpPr/>
          <p:nvPr/>
        </p:nvSpPr>
        <p:spPr>
          <a:xfrm>
            <a:off x="685800" y="4526280"/>
            <a:ext cx="7772400" cy="274320"/>
          </a:xfrm>
          <a:prstGeom prst="rect">
            <a:avLst/>
          </a:prstGeom>
          <a:noFill/>
          <a:ln/>
        </p:spPr>
        <p:txBody>
          <a:bodyPr wrap="square" lIns="0" tIns="0" rIns="0" bIns="0" rtlCol="0" anchor="ctr"/>
          <a:lstStyle/>
          <a:p>
            <a:pPr marL="0" indent="0" algn="l">
              <a:buNone/>
            </a:pPr>
            <a:r>
              <a:rPr lang="en-US" sz="800" b="1" dirty="0">
                <a:solidFill>
                  <a:srgbClr val="1ABC9C"/>
                </a:solidFill>
                <a:latin typeface="Calibri" pitchFamily="34" charset="0"/>
                <a:ea typeface="Calibri" pitchFamily="34" charset="-122"/>
                <a:cs typeface="Calibri" pitchFamily="34" charset="-120"/>
              </a:rPr>
              <a:t>Tools: list_k8s_events - describe_k8s_resource   * Passed, confidence 0.90 (real eval run)</a:t>
            </a:r>
            <a:r>
              <a:rPr lang="en-US" sz="800" dirty="0">
                <a:solidFill>
                  <a:srgbClr val="999999"/>
                </a:solidFill>
                <a:latin typeface="Calibri" pitchFamily="34" charset="0"/>
                <a:ea typeface="Calibri" pitchFamily="34" charset="-122"/>
                <a:cs typeface="Calibri" pitchFamily="34" charset="-120"/>
              </a:rPr>
              <a:t>get_pod_logs · get_previous_pod_logs · get_pod_status</a:t>
            </a:r>
            <a:r>
              <a:rPr lang="en-US" sz="800" i="1" dirty="0">
                <a:solidFill>
                  <a:srgbClr val="666666"/>
                </a:solidFill>
                <a:latin typeface="Calibri" pitchFamily="34" charset="0"/>
                <a:ea typeface="Calibri" pitchFamily="34" charset="-122"/>
                <a:cs typeface="Calibri" pitchFamily="34" charset="-120"/>
              </a:rPr>
              <a:t>   ★  Shows iterative log analysis across multiple restarts — highlights loop value</a:t>
            </a:r>
            <a:endParaRPr lang="en-US" sz="8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554480" cy="256032"/>
          </a:xfrm>
          <a:prstGeom prst="rect">
            <a:avLst/>
          </a:prstGeom>
          <a:solidFill>
            <a:srgbClr val="F4C5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1A1A1A"/>
                </a:solidFill>
                <a:latin typeface="Trebuchet MS"/>
              </a:rPr>
              <a:t>PROOF IT WORKS</a:t>
            </a:r>
          </a:p>
        </p:txBody>
      </p:sp>
      <p:sp>
        <p:nvSpPr>
          <p:cNvPr id="4" name="TextBox 3"/>
          <p:cNvSpPr txBox="1"/>
          <p:nvPr/>
        </p:nvSpPr>
        <p:spPr>
          <a:xfrm>
            <a:off x="457200" y="594360"/>
            <a:ext cx="8229600" cy="411480"/>
          </a:xfrm>
          <a:prstGeom prst="rect">
            <a:avLst/>
          </a:prstGeom>
          <a:noFill/>
        </p:spPr>
        <p:txBody>
          <a:bodyPr wrap="square" anchor="t">
            <a:spAutoFit/>
          </a:bodyPr>
          <a:lstStyle/>
          <a:p>
            <a:pPr algn="l"/>
            <a:r>
              <a:rPr sz="2000" b="1" i="0">
                <a:solidFill>
                  <a:srgbClr val="FFFFFF"/>
                </a:solidFill>
                <a:latin typeface="Calibri"/>
              </a:rPr>
              <a:t>Evaluation Results — 10 Real Scenarios, Live Cluster</a:t>
            </a:r>
          </a:p>
        </p:txBody>
      </p:sp>
      <p:sp>
        <p:nvSpPr>
          <p:cNvPr id="5" name="Rectangle 4"/>
          <p:cNvSpPr/>
          <p:nvPr/>
        </p:nvSpPr>
        <p:spPr>
          <a:xfrm>
            <a:off x="457200" y="1234440"/>
            <a:ext cx="1938528"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25880"/>
            <a:ext cx="1719072" cy="457200"/>
          </a:xfrm>
          <a:prstGeom prst="rect">
            <a:avLst/>
          </a:prstGeom>
          <a:noFill/>
        </p:spPr>
        <p:txBody>
          <a:bodyPr wrap="square">
            <a:spAutoFit/>
          </a:bodyPr>
          <a:lstStyle/>
          <a:p>
            <a:pPr algn="l"/>
            <a:r>
              <a:rPr sz="2000" b="1" i="0">
                <a:solidFill>
                  <a:srgbClr val="1ABC9C"/>
                </a:solidFill>
                <a:latin typeface="Calibri"/>
              </a:rPr>
              <a:t>7/10</a:t>
            </a:r>
          </a:p>
        </p:txBody>
      </p:sp>
      <p:sp>
        <p:nvSpPr>
          <p:cNvPr id="7" name="TextBox 6"/>
          <p:cNvSpPr txBox="1"/>
          <p:nvPr/>
        </p:nvSpPr>
        <p:spPr>
          <a:xfrm>
            <a:off x="566928" y="1783080"/>
            <a:ext cx="1719072" cy="320040"/>
          </a:xfrm>
          <a:prstGeom prst="rect">
            <a:avLst/>
          </a:prstGeom>
          <a:noFill/>
        </p:spPr>
        <p:txBody>
          <a:bodyPr wrap="square">
            <a:spAutoFit/>
          </a:bodyPr>
          <a:lstStyle/>
          <a:p>
            <a:pPr algn="l"/>
            <a:r>
              <a:rPr sz="900" b="0" i="0">
                <a:solidFill>
                  <a:srgbClr val="999999"/>
                </a:solidFill>
                <a:latin typeface="Calibri"/>
              </a:rPr>
              <a:t>Correct root cause</a:t>
            </a:r>
          </a:p>
        </p:txBody>
      </p:sp>
      <p:sp>
        <p:nvSpPr>
          <p:cNvPr id="8" name="Rectangle 7"/>
          <p:cNvSpPr/>
          <p:nvPr/>
        </p:nvSpPr>
        <p:spPr>
          <a:xfrm>
            <a:off x="2468880" y="1234440"/>
            <a:ext cx="1938528"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78608" y="1325880"/>
            <a:ext cx="1719072" cy="457200"/>
          </a:xfrm>
          <a:prstGeom prst="rect">
            <a:avLst/>
          </a:prstGeom>
          <a:noFill/>
        </p:spPr>
        <p:txBody>
          <a:bodyPr wrap="square">
            <a:spAutoFit/>
          </a:bodyPr>
          <a:lstStyle/>
          <a:p>
            <a:pPr algn="l"/>
            <a:r>
              <a:rPr sz="2000" b="1" i="0">
                <a:solidFill>
                  <a:srgbClr val="F4C542"/>
                </a:solidFill>
                <a:latin typeface="Calibri"/>
              </a:rPr>
              <a:t>1 issue</a:t>
            </a:r>
          </a:p>
        </p:txBody>
      </p:sp>
      <p:sp>
        <p:nvSpPr>
          <p:cNvPr id="10" name="TextBox 9"/>
          <p:cNvSpPr txBox="1"/>
          <p:nvPr/>
        </p:nvSpPr>
        <p:spPr>
          <a:xfrm>
            <a:off x="2578608" y="1783080"/>
            <a:ext cx="1719072" cy="320040"/>
          </a:xfrm>
          <a:prstGeom prst="rect">
            <a:avLst/>
          </a:prstGeom>
          <a:noFill/>
        </p:spPr>
        <p:txBody>
          <a:bodyPr wrap="square">
            <a:spAutoFit/>
          </a:bodyPr>
          <a:lstStyle/>
          <a:p>
            <a:pPr algn="l"/>
            <a:r>
              <a:rPr sz="900" b="0" i="0">
                <a:solidFill>
                  <a:srgbClr val="999999"/>
                </a:solidFill>
                <a:latin typeface="Calibri"/>
              </a:rPr>
              <a:t>Root-caused, not 3 mysteries</a:t>
            </a:r>
          </a:p>
        </p:txBody>
      </p:sp>
      <p:sp>
        <p:nvSpPr>
          <p:cNvPr id="11" name="Rectangle 10"/>
          <p:cNvSpPr/>
          <p:nvPr/>
        </p:nvSpPr>
        <p:spPr>
          <a:xfrm>
            <a:off x="4480560" y="1234440"/>
            <a:ext cx="1938528"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1325880"/>
            <a:ext cx="1719072" cy="457200"/>
          </a:xfrm>
          <a:prstGeom prst="rect">
            <a:avLst/>
          </a:prstGeom>
          <a:noFill/>
        </p:spPr>
        <p:txBody>
          <a:bodyPr wrap="square">
            <a:spAutoFit/>
          </a:bodyPr>
          <a:lstStyle/>
          <a:p>
            <a:pPr algn="l"/>
            <a:r>
              <a:rPr sz="2000" b="1" i="0">
                <a:solidFill>
                  <a:srgbClr val="E8751A"/>
                </a:solidFill>
                <a:latin typeface="Calibri"/>
              </a:rPr>
              <a:t>$0.0025</a:t>
            </a:r>
          </a:p>
        </p:txBody>
      </p:sp>
      <p:sp>
        <p:nvSpPr>
          <p:cNvPr id="13" name="TextBox 12"/>
          <p:cNvSpPr txBox="1"/>
          <p:nvPr/>
        </p:nvSpPr>
        <p:spPr>
          <a:xfrm>
            <a:off x="4590288" y="1783080"/>
            <a:ext cx="1719072" cy="320040"/>
          </a:xfrm>
          <a:prstGeom prst="rect">
            <a:avLst/>
          </a:prstGeom>
          <a:noFill/>
        </p:spPr>
        <p:txBody>
          <a:bodyPr wrap="square">
            <a:spAutoFit/>
          </a:bodyPr>
          <a:lstStyle/>
          <a:p>
            <a:pPr algn="l"/>
            <a:r>
              <a:rPr sz="900" b="0" i="0">
                <a:solidFill>
                  <a:srgbClr val="999999"/>
                </a:solidFill>
                <a:latin typeface="Calibri"/>
              </a:rPr>
              <a:t>Avg cost / investigation</a:t>
            </a:r>
          </a:p>
        </p:txBody>
      </p:sp>
      <p:sp>
        <p:nvSpPr>
          <p:cNvPr id="14" name="Rectangle 13"/>
          <p:cNvSpPr/>
          <p:nvPr/>
        </p:nvSpPr>
        <p:spPr>
          <a:xfrm>
            <a:off x="6492240" y="1234440"/>
            <a:ext cx="1938528"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1325880"/>
            <a:ext cx="1719072" cy="457200"/>
          </a:xfrm>
          <a:prstGeom prst="rect">
            <a:avLst/>
          </a:prstGeom>
          <a:noFill/>
        </p:spPr>
        <p:txBody>
          <a:bodyPr wrap="square">
            <a:spAutoFit/>
          </a:bodyPr>
          <a:lstStyle/>
          <a:p>
            <a:pPr algn="l"/>
            <a:r>
              <a:rPr sz="2000" b="1" i="0">
                <a:solidFill>
                  <a:srgbClr val="F4C542"/>
                </a:solidFill>
                <a:latin typeface="Calibri"/>
              </a:rPr>
              <a:t>20.2s</a:t>
            </a:r>
          </a:p>
        </p:txBody>
      </p:sp>
      <p:sp>
        <p:nvSpPr>
          <p:cNvPr id="16" name="TextBox 15"/>
          <p:cNvSpPr txBox="1"/>
          <p:nvPr/>
        </p:nvSpPr>
        <p:spPr>
          <a:xfrm>
            <a:off x="6601968" y="1783080"/>
            <a:ext cx="1719072" cy="320040"/>
          </a:xfrm>
          <a:prstGeom prst="rect">
            <a:avLst/>
          </a:prstGeom>
          <a:noFill/>
        </p:spPr>
        <p:txBody>
          <a:bodyPr wrap="square">
            <a:spAutoFit/>
          </a:bodyPr>
          <a:lstStyle/>
          <a:p>
            <a:pPr algn="l"/>
            <a:r>
              <a:rPr sz="900" b="0" i="0">
                <a:solidFill>
                  <a:srgbClr val="999999"/>
                </a:solidFill>
                <a:latin typeface="Calibri"/>
              </a:rPr>
              <a:t>Avg latency</a:t>
            </a:r>
          </a:p>
        </p:txBody>
      </p:sp>
      <p:sp>
        <p:nvSpPr>
          <p:cNvPr id="17" name="Rectangle 16"/>
          <p:cNvSpPr/>
          <p:nvPr/>
        </p:nvSpPr>
        <p:spPr>
          <a:xfrm>
            <a:off x="457200" y="2331720"/>
            <a:ext cx="8229600" cy="77724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331720"/>
            <a:ext cx="54864" cy="7772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404872"/>
            <a:ext cx="7863840" cy="640080"/>
          </a:xfrm>
          <a:prstGeom prst="rect">
            <a:avLst/>
          </a:prstGeom>
          <a:noFill/>
        </p:spPr>
        <p:txBody>
          <a:bodyPr wrap="square">
            <a:spAutoFit/>
          </a:bodyPr>
          <a:lstStyle/>
          <a:p>
            <a:pPr algn="l"/>
            <a:r>
              <a:rPr sz="1050" b="0" i="0">
                <a:solidFill>
                  <a:srgbClr val="FFFFFF"/>
                </a:solidFill>
                <a:latin typeface="Calibri"/>
              </a:rPr>
              <a:t>All 3 failures trace to ONE root cause: the agent's identity can't read pod logs in this namespace (a missing/misconfigured RoleBinding — "sre-agent-poc-rolebinding" not found). Not 3 separate bugs — 1 diagnosed, fixable permissions gap.</a:t>
            </a:r>
          </a:p>
        </p:txBody>
      </p:sp>
      <p:sp>
        <p:nvSpPr>
          <p:cNvPr id="20" name="TextBox 19"/>
          <p:cNvSpPr txBox="1"/>
          <p:nvPr/>
        </p:nvSpPr>
        <p:spPr>
          <a:xfrm>
            <a:off x="457200" y="3246120"/>
            <a:ext cx="8229600" cy="274320"/>
          </a:xfrm>
          <a:prstGeom prst="rect">
            <a:avLst/>
          </a:prstGeom>
          <a:noFill/>
        </p:spPr>
        <p:txBody>
          <a:bodyPr wrap="square">
            <a:spAutoFit/>
          </a:bodyPr>
          <a:lstStyle/>
          <a:p>
            <a:pPr algn="l"/>
            <a:r>
              <a:rPr sz="1100" b="1" i="0">
                <a:solidFill>
                  <a:srgbClr val="FFFFFF"/>
                </a:solidFill>
                <a:latin typeface="Calibri"/>
              </a:rPr>
              <a:t>What still passed despite this:</a:t>
            </a:r>
          </a:p>
        </p:txBody>
      </p:sp>
      <p:sp>
        <p:nvSpPr>
          <p:cNvPr id="21" name="TextBox 20"/>
          <p:cNvSpPr txBox="1"/>
          <p:nvPr/>
        </p:nvSpPr>
        <p:spPr>
          <a:xfrm>
            <a:off x="457200" y="3520440"/>
            <a:ext cx="8229600" cy="457200"/>
          </a:xfrm>
          <a:prstGeom prst="rect">
            <a:avLst/>
          </a:prstGeom>
          <a:noFill/>
        </p:spPr>
        <p:txBody>
          <a:bodyPr wrap="square">
            <a:spAutoFit/>
          </a:bodyPr>
          <a:lstStyle/>
          <a:p>
            <a:pPr algn="l"/>
            <a:r>
              <a:rPr sz="1000" b="0" i="0">
                <a:solidFill>
                  <a:srgbClr val="CCCCCC"/>
                </a:solidFill>
                <a:latin typeface="Calibri"/>
              </a:rPr>
              <a:t>All 7 cases that didn't need log access (config, secrets, scheduling, probes) passed cleanly with real evidence-backed reasoning — the gap is specific, not systemic.</a:t>
            </a:r>
          </a:p>
        </p:txBody>
      </p:sp>
      <p:sp>
        <p:nvSpPr>
          <p:cNvPr id="22" name="TextBox 21"/>
          <p:cNvSpPr txBox="1"/>
          <p:nvPr/>
        </p:nvSpPr>
        <p:spPr>
          <a:xfrm>
            <a:off x="457200" y="4069080"/>
            <a:ext cx="8229600" cy="365760"/>
          </a:xfrm>
          <a:prstGeom prst="rect">
            <a:avLst/>
          </a:prstGeom>
          <a:noFill/>
        </p:spPr>
        <p:txBody>
          <a:bodyPr wrap="square">
            <a:spAutoFit/>
          </a:bodyPr>
          <a:lstStyle/>
          <a:p>
            <a:pPr algn="l"/>
            <a:r>
              <a:rPr sz="950" b="0" i="1">
                <a:solidFill>
                  <a:srgbClr val="999999"/>
                </a:solidFill>
                <a:latin typeface="Calibri"/>
              </a:rPr>
              <a:t>This is a focused validation set (10 of 21 scenarios) — the remaining 11 are flagged for the next testing pass before wider rollout. More testing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06</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Cost &amp; Value</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What it costs and how we measure success</a:t>
            </a:r>
            <a:endParaRPr lang="en-US" sz="14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188720" cy="256032"/>
          </a:xfrm>
          <a:prstGeom prst="rect">
            <a:avLst/>
          </a:prstGeom>
          <a:solidFill>
            <a:srgbClr val="F4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A1A1A"/>
                </a:solidFill>
                <a:latin typeface="Trebuchet MS"/>
              </a:rPr>
              <a:t>COST &amp; VALUE</a:t>
            </a:r>
          </a:p>
        </p:txBody>
      </p:sp>
      <p:sp>
        <p:nvSpPr>
          <p:cNvPr id="4" name="TextBox 3"/>
          <p:cNvSpPr txBox="1"/>
          <p:nvPr/>
        </p:nvSpPr>
        <p:spPr>
          <a:xfrm>
            <a:off x="457200" y="594360"/>
            <a:ext cx="8229600" cy="411480"/>
          </a:xfrm>
          <a:prstGeom prst="rect">
            <a:avLst/>
          </a:prstGeom>
          <a:noFill/>
        </p:spPr>
        <p:txBody>
          <a:bodyPr wrap="square">
            <a:spAutoFit/>
          </a:bodyPr>
          <a:lstStyle/>
          <a:p>
            <a:pPr algn="l"/>
            <a:r>
              <a:rPr sz="2000" b="1">
                <a:solidFill>
                  <a:srgbClr val="FFFFFF"/>
                </a:solidFill>
                <a:latin typeface="Calibri"/>
              </a:rPr>
              <a:t>What This Actually Costs</a:t>
            </a:r>
          </a:p>
        </p:txBody>
      </p:sp>
      <p:sp>
        <p:nvSpPr>
          <p:cNvPr id="5" name="Rectangle 4"/>
          <p:cNvSpPr/>
          <p:nvPr/>
        </p:nvSpPr>
        <p:spPr>
          <a:xfrm>
            <a:off x="457200" y="1234440"/>
            <a:ext cx="2560320"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25880"/>
            <a:ext cx="2286000" cy="457200"/>
          </a:xfrm>
          <a:prstGeom prst="rect">
            <a:avLst/>
          </a:prstGeom>
          <a:noFill/>
        </p:spPr>
        <p:txBody>
          <a:bodyPr wrap="square">
            <a:spAutoFit/>
          </a:bodyPr>
          <a:lstStyle/>
          <a:p>
            <a:pPr algn="l"/>
            <a:r>
              <a:rPr sz="2400" b="1">
                <a:solidFill>
                  <a:srgbClr val="1ABC9C"/>
                </a:solidFill>
                <a:latin typeface="Calibri"/>
              </a:rPr>
              <a:t>$0.0025</a:t>
            </a:r>
          </a:p>
        </p:txBody>
      </p:sp>
      <p:sp>
        <p:nvSpPr>
          <p:cNvPr id="7" name="TextBox 6"/>
          <p:cNvSpPr txBox="1"/>
          <p:nvPr/>
        </p:nvSpPr>
        <p:spPr>
          <a:xfrm>
            <a:off x="594360" y="1783080"/>
            <a:ext cx="2286000" cy="320040"/>
          </a:xfrm>
          <a:prstGeom prst="rect">
            <a:avLst/>
          </a:prstGeom>
          <a:noFill/>
        </p:spPr>
        <p:txBody>
          <a:bodyPr wrap="square">
            <a:spAutoFit/>
          </a:bodyPr>
          <a:lstStyle/>
          <a:p>
            <a:pPr algn="l"/>
            <a:r>
              <a:rPr sz="1000" b="0">
                <a:solidFill>
                  <a:srgbClr val="999999"/>
                </a:solidFill>
                <a:latin typeface="Calibri"/>
              </a:rPr>
              <a:t>Avg cost / investigation</a:t>
            </a:r>
          </a:p>
        </p:txBody>
      </p:sp>
      <p:sp>
        <p:nvSpPr>
          <p:cNvPr id="8" name="Rectangle 7"/>
          <p:cNvSpPr/>
          <p:nvPr/>
        </p:nvSpPr>
        <p:spPr>
          <a:xfrm>
            <a:off x="3154679" y="1234440"/>
            <a:ext cx="2560320"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39" y="1325880"/>
            <a:ext cx="2286000" cy="457200"/>
          </a:xfrm>
          <a:prstGeom prst="rect">
            <a:avLst/>
          </a:prstGeom>
          <a:noFill/>
        </p:spPr>
        <p:txBody>
          <a:bodyPr wrap="square">
            <a:spAutoFit/>
          </a:bodyPr>
          <a:lstStyle/>
          <a:p>
            <a:pPr algn="l"/>
            <a:r>
              <a:rPr sz="2400" b="1">
                <a:solidFill>
                  <a:srgbClr val="F4C542"/>
                </a:solidFill>
                <a:latin typeface="Calibri"/>
              </a:rPr>
              <a:t>20.5s</a:t>
            </a:r>
          </a:p>
        </p:txBody>
      </p:sp>
      <p:sp>
        <p:nvSpPr>
          <p:cNvPr id="10" name="TextBox 9"/>
          <p:cNvSpPr txBox="1"/>
          <p:nvPr/>
        </p:nvSpPr>
        <p:spPr>
          <a:xfrm>
            <a:off x="3291839" y="1783080"/>
            <a:ext cx="2286000" cy="320040"/>
          </a:xfrm>
          <a:prstGeom prst="rect">
            <a:avLst/>
          </a:prstGeom>
          <a:noFill/>
        </p:spPr>
        <p:txBody>
          <a:bodyPr wrap="square">
            <a:spAutoFit/>
          </a:bodyPr>
          <a:lstStyle/>
          <a:p>
            <a:pPr algn="l"/>
            <a:r>
              <a:rPr sz="1000" b="0">
                <a:solidFill>
                  <a:srgbClr val="999999"/>
                </a:solidFill>
                <a:latin typeface="Calibri"/>
              </a:rPr>
              <a:t>Avg latency / investigation</a:t>
            </a:r>
          </a:p>
        </p:txBody>
      </p:sp>
      <p:sp>
        <p:nvSpPr>
          <p:cNvPr id="11" name="Rectangle 10"/>
          <p:cNvSpPr/>
          <p:nvPr/>
        </p:nvSpPr>
        <p:spPr>
          <a:xfrm>
            <a:off x="5852159" y="1234440"/>
            <a:ext cx="2560320"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89320" y="1325880"/>
            <a:ext cx="2286000" cy="457200"/>
          </a:xfrm>
          <a:prstGeom prst="rect">
            <a:avLst/>
          </a:prstGeom>
          <a:noFill/>
        </p:spPr>
        <p:txBody>
          <a:bodyPr wrap="square">
            <a:spAutoFit/>
          </a:bodyPr>
          <a:lstStyle/>
          <a:p>
            <a:pPr algn="l"/>
            <a:r>
              <a:rPr sz="2400" b="1">
                <a:solidFill>
                  <a:srgbClr val="E8751A"/>
                </a:solidFill>
                <a:latin typeface="Calibri"/>
              </a:rPr>
              <a:t>~13K</a:t>
            </a:r>
          </a:p>
        </p:txBody>
      </p:sp>
      <p:sp>
        <p:nvSpPr>
          <p:cNvPr id="13" name="TextBox 12"/>
          <p:cNvSpPr txBox="1"/>
          <p:nvPr/>
        </p:nvSpPr>
        <p:spPr>
          <a:xfrm>
            <a:off x="5989320" y="1783080"/>
            <a:ext cx="2286000" cy="320040"/>
          </a:xfrm>
          <a:prstGeom prst="rect">
            <a:avLst/>
          </a:prstGeom>
          <a:noFill/>
        </p:spPr>
        <p:txBody>
          <a:bodyPr wrap="square">
            <a:spAutoFit/>
          </a:bodyPr>
          <a:lstStyle/>
          <a:p>
            <a:pPr algn="l"/>
            <a:r>
              <a:rPr sz="1000" b="0">
                <a:solidFill>
                  <a:srgbClr val="999999"/>
                </a:solidFill>
                <a:latin typeface="Calibri"/>
              </a:rPr>
              <a:t>Avg tokens / investigation</a:t>
            </a:r>
          </a:p>
        </p:txBody>
      </p:sp>
      <p:sp>
        <p:nvSpPr>
          <p:cNvPr id="14" name="Rectangle 13"/>
          <p:cNvSpPr/>
          <p:nvPr/>
        </p:nvSpPr>
        <p:spPr>
          <a:xfrm>
            <a:off x="457200" y="2331720"/>
            <a:ext cx="8229600" cy="91440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331720"/>
            <a:ext cx="54864" cy="914400"/>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423160"/>
            <a:ext cx="7863840" cy="731520"/>
          </a:xfrm>
          <a:prstGeom prst="rect">
            <a:avLst/>
          </a:prstGeom>
          <a:noFill/>
        </p:spPr>
        <p:txBody>
          <a:bodyPr wrap="square">
            <a:spAutoFit/>
          </a:bodyPr>
          <a:lstStyle/>
          <a:p>
            <a:pPr algn="l"/>
            <a:r>
              <a:rPr sz="1100" b="0">
                <a:solidFill>
                  <a:srgbClr val="CCCCCC"/>
                </a:solidFill>
                <a:latin typeface="Calibri"/>
              </a:rPr>
              <a:t>Real numbers from the actual eval run — not estimated. Every investigation's token usage and cost is tracked individually and exported to Cloud Monitoring, with a cost-spike alert already deployed.</a:t>
            </a:r>
          </a:p>
        </p:txBody>
      </p:sp>
      <p:sp>
        <p:nvSpPr>
          <p:cNvPr id="17" name="TextBox 16"/>
          <p:cNvSpPr txBox="1"/>
          <p:nvPr/>
        </p:nvSpPr>
        <p:spPr>
          <a:xfrm>
            <a:off x="457200" y="3429000"/>
            <a:ext cx="8229600" cy="274320"/>
          </a:xfrm>
          <a:prstGeom prst="rect">
            <a:avLst/>
          </a:prstGeom>
          <a:noFill/>
        </p:spPr>
        <p:txBody>
          <a:bodyPr wrap="square">
            <a:spAutoFit/>
          </a:bodyPr>
          <a:lstStyle/>
          <a:p>
            <a:pPr algn="l"/>
            <a:r>
              <a:rPr sz="1100" b="1">
                <a:solidFill>
                  <a:srgbClr val="FFFFFF"/>
                </a:solidFill>
                <a:latin typeface="Calibri"/>
              </a:rPr>
              <a:t>How this scales:</a:t>
            </a:r>
          </a:p>
        </p:txBody>
      </p:sp>
      <p:sp>
        <p:nvSpPr>
          <p:cNvPr id="18" name="TextBox 17"/>
          <p:cNvSpPr txBox="1"/>
          <p:nvPr/>
        </p:nvSpPr>
        <p:spPr>
          <a:xfrm>
            <a:off x="457200" y="3703320"/>
            <a:ext cx="8229600" cy="457200"/>
          </a:xfrm>
          <a:prstGeom prst="rect">
            <a:avLst/>
          </a:prstGeom>
          <a:noFill/>
        </p:spPr>
        <p:txBody>
          <a:bodyPr wrap="square">
            <a:spAutoFit/>
          </a:bodyPr>
          <a:lstStyle/>
          <a:p>
            <a:pPr algn="l"/>
            <a:r>
              <a:rPr sz="1050" b="0">
                <a:solidFill>
                  <a:srgbClr val="CCCCCC"/>
                </a:solidFill>
                <a:latin typeface="Calibri"/>
              </a:rPr>
              <a:t>At this rate, 1,000 investigations/month is roughly $2.50 in model cost — the real constraint on scale is engineering time to expand coverage, not per-run spend.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Shape 1"/>
          <p:cNvSpPr/>
          <p:nvPr/>
        </p:nvSpPr>
        <p:spPr>
          <a:xfrm>
            <a:off x="457200" y="182880"/>
            <a:ext cx="1426464" cy="256032"/>
          </a:xfrm>
          <a:prstGeom prst="roundRect">
            <a:avLst>
              <a:gd name="adj" fmla="val 14286"/>
            </a:avLst>
          </a:prstGeom>
          <a:solidFill>
            <a:srgbClr val="E8751A"/>
          </a:solidFill>
          <a:ln/>
        </p:spPr>
        <p:txBody>
          <a:bodyPr/>
          <a:lstStyle/>
          <a:p>
            <a:endParaRPr lang="en-US"/>
          </a:p>
        </p:txBody>
      </p:sp>
      <p:sp>
        <p:nvSpPr>
          <p:cNvPr id="4" name="Text 2"/>
          <p:cNvSpPr/>
          <p:nvPr/>
        </p:nvSpPr>
        <p:spPr>
          <a:xfrm>
            <a:off x="457200" y="182880"/>
            <a:ext cx="1426464"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latin typeface="Trebuchet MS" pitchFamily="34" charset="0"/>
                <a:ea typeface="Trebuchet MS" pitchFamily="34" charset="-122"/>
                <a:cs typeface="Trebuchet MS" pitchFamily="34" charset="-120"/>
              </a:rPr>
              <a:t>COST &amp; VALUE</a:t>
            </a:r>
            <a:endParaRPr lang="en-US" sz="800" dirty="0"/>
          </a:p>
        </p:txBody>
      </p:sp>
      <p:sp>
        <p:nvSpPr>
          <p:cNvPr id="5" name="Text 3"/>
          <p:cNvSpPr/>
          <p:nvPr/>
        </p:nvSpPr>
        <p:spPr>
          <a:xfrm>
            <a:off x="457200" y="502920"/>
            <a:ext cx="8229600" cy="502920"/>
          </a:xfrm>
          <a:prstGeom prst="rect">
            <a:avLst/>
          </a:prstGeom>
          <a:noFill/>
          <a:ln/>
        </p:spPr>
        <p:txBody>
          <a:bodyPr wrap="square" lIns="0" tIns="0" rIns="0" bIns="0" rtlCol="0" anchor="ctr"/>
          <a:lstStyle/>
          <a:p>
            <a:pPr marL="0" indent="0">
              <a:buNone/>
            </a:pPr>
            <a:r>
              <a:rPr lang="en-US" sz="3000" b="1" dirty="0">
                <a:latin typeface="Georgia" pitchFamily="34" charset="0"/>
                <a:ea typeface="Georgia" pitchFamily="34" charset="-122"/>
                <a:cs typeface="Georgia" pitchFamily="34" charset="-120"/>
              </a:rPr>
              <a:t>Success Metrics &amp; KPIs</a:t>
            </a:r>
            <a:endParaRPr lang="en-US" sz="3000" dirty="0"/>
          </a:p>
        </p:txBody>
      </p:sp>
      <p:sp>
        <p:nvSpPr>
          <p:cNvPr id="6" name="Shape 4"/>
          <p:cNvSpPr/>
          <p:nvPr/>
        </p:nvSpPr>
        <p:spPr>
          <a:xfrm>
            <a:off x="457200" y="1188720"/>
            <a:ext cx="3931920" cy="3017520"/>
          </a:xfrm>
          <a:prstGeom prst="rect">
            <a:avLst/>
          </a:prstGeom>
          <a:solidFill>
            <a:srgbClr val="242424"/>
          </a:solidFill>
          <a:ln w="12700">
            <a:solidFill>
              <a:srgbClr val="333333"/>
            </a:solidFill>
            <a:prstDash val="solid"/>
          </a:ln>
        </p:spPr>
        <p:txBody>
          <a:bodyPr/>
          <a:lstStyle/>
          <a:p>
            <a:endParaRPr lang="en-US"/>
          </a:p>
        </p:txBody>
      </p:sp>
      <p:sp>
        <p:nvSpPr>
          <p:cNvPr id="7" name="Shape 5"/>
          <p:cNvSpPr/>
          <p:nvPr/>
        </p:nvSpPr>
        <p:spPr>
          <a:xfrm>
            <a:off x="457200" y="1188720"/>
            <a:ext cx="3931920" cy="36576"/>
          </a:xfrm>
          <a:prstGeom prst="rect">
            <a:avLst/>
          </a:prstGeom>
          <a:solidFill>
            <a:srgbClr val="E8751A"/>
          </a:solidFill>
          <a:ln/>
        </p:spPr>
        <p:txBody>
          <a:bodyPr/>
          <a:lstStyle/>
          <a:p>
            <a:endParaRPr lang="en-US"/>
          </a:p>
        </p:txBody>
      </p:sp>
      <p:sp>
        <p:nvSpPr>
          <p:cNvPr id="8" name="Text 6"/>
          <p:cNvSpPr/>
          <p:nvPr/>
        </p:nvSpPr>
        <p:spPr>
          <a:xfrm>
            <a:off x="640080" y="1325880"/>
            <a:ext cx="3566160" cy="320040"/>
          </a:xfrm>
          <a:prstGeom prst="rect">
            <a:avLst/>
          </a:prstGeom>
          <a:noFill/>
          <a:ln/>
        </p:spPr>
        <p:txBody>
          <a:bodyPr wrap="square" lIns="0" tIns="0" rIns="0" bIns="0" rtlCol="0" anchor="ctr"/>
          <a:lstStyle/>
          <a:p>
            <a:pPr marL="0" indent="0" algn="l">
              <a:buNone/>
            </a:pPr>
            <a:r>
              <a:rPr lang="en-US" sz="1600" b="1" dirty="0">
                <a:solidFill>
                  <a:srgbClr val="E8751A"/>
                </a:solidFill>
                <a:latin typeface="Trebuchet MS" pitchFamily="34" charset="0"/>
                <a:ea typeface="Trebuchet MS" pitchFamily="34" charset="-122"/>
                <a:cs typeface="Trebuchet MS" pitchFamily="34" charset="-120"/>
              </a:rPr>
              <a:t>Operational</a:t>
            </a:r>
            <a:endParaRPr lang="en-US" sz="1600" dirty="0"/>
          </a:p>
        </p:txBody>
      </p:sp>
      <p:pic>
        <p:nvPicPr>
          <p:cNvPr id="9" name="Image 0" descr="preencoded.png"/>
          <p:cNvPicPr>
            <a:picLocks noChangeAspect="1"/>
          </p:cNvPicPr>
          <p:nvPr/>
        </p:nvPicPr>
        <p:blipFill>
          <a:blip r:embed="rId3"/>
          <a:stretch>
            <a:fillRect/>
          </a:stretch>
        </p:blipFill>
        <p:spPr>
          <a:xfrm>
            <a:off x="685800" y="1828800"/>
            <a:ext cx="228600" cy="228600"/>
          </a:xfrm>
          <a:prstGeom prst="rect">
            <a:avLst/>
          </a:prstGeom>
        </p:spPr>
      </p:pic>
      <p:sp>
        <p:nvSpPr>
          <p:cNvPr id="10" name="Text 7"/>
          <p:cNvSpPr/>
          <p:nvPr/>
        </p:nvSpPr>
        <p:spPr>
          <a:xfrm>
            <a:off x="1051560" y="178308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MTTR Reduction</a:t>
            </a:r>
            <a:endParaRPr lang="en-US" sz="1100" dirty="0"/>
          </a:p>
        </p:txBody>
      </p:sp>
      <p:sp>
        <p:nvSpPr>
          <p:cNvPr id="11" name="Text 8"/>
          <p:cNvSpPr/>
          <p:nvPr/>
        </p:nvSpPr>
        <p:spPr>
          <a:xfrm>
            <a:off x="1051560" y="1984248"/>
            <a:ext cx="3108960" cy="228600"/>
          </a:xfrm>
          <a:prstGeom prst="rect">
            <a:avLst/>
          </a:prstGeom>
          <a:noFill/>
          <a:ln/>
        </p:spPr>
        <p:txBody>
          <a:bodyPr wrap="square" lIns="0" tIns="0" rIns="0" bIns="0" rtlCol="0" anchor="ctr"/>
          <a:lstStyle/>
          <a:p>
            <a:pPr marL="0" indent="0" algn="l">
              <a:buNone/>
            </a:pPr>
            <a:r>
              <a:rPr lang="en-US" sz="1200" dirty="0">
                <a:solidFill>
                  <a:srgbClr val="999999"/>
                </a:solidFill>
                <a:latin typeface="Calibri" pitchFamily="34" charset="0"/>
                <a:ea typeface="Calibri" pitchFamily="34" charset="-122"/>
                <a:cs typeface="Calibri" pitchFamily="34" charset="-120"/>
              </a:rPr>
              <a:t>Target metric — no baseline claimed yet</a:t>
            </a:r>
            <a:endParaRPr lang="en-US" sz="900" dirty="0"/>
          </a:p>
        </p:txBody>
      </p:sp>
      <p:pic>
        <p:nvPicPr>
          <p:cNvPr id="12" name="Image 1" descr="preencoded.png"/>
          <p:cNvPicPr>
            <a:picLocks noChangeAspect="1"/>
          </p:cNvPicPr>
          <p:nvPr/>
        </p:nvPicPr>
        <p:blipFill>
          <a:blip r:embed="rId4"/>
          <a:stretch>
            <a:fillRect/>
          </a:stretch>
        </p:blipFill>
        <p:spPr>
          <a:xfrm>
            <a:off x="685800" y="2377440"/>
            <a:ext cx="228600" cy="228600"/>
          </a:xfrm>
          <a:prstGeom prst="rect">
            <a:avLst/>
          </a:prstGeom>
        </p:spPr>
      </p:pic>
      <p:sp>
        <p:nvSpPr>
          <p:cNvPr id="13" name="Text 9"/>
          <p:cNvSpPr/>
          <p:nvPr/>
        </p:nvSpPr>
        <p:spPr>
          <a:xfrm>
            <a:off x="1051560" y="233172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Auto-Triage Rate</a:t>
            </a:r>
            <a:endParaRPr lang="en-US" sz="1100" dirty="0"/>
          </a:p>
        </p:txBody>
      </p:sp>
      <p:sp>
        <p:nvSpPr>
          <p:cNvPr id="14" name="Text 10"/>
          <p:cNvSpPr/>
          <p:nvPr/>
        </p:nvSpPr>
        <p:spPr>
          <a:xfrm>
            <a:off x="1051560" y="253288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 of alerts with RCA hypothesis within minutes</a:t>
            </a:r>
            <a:endParaRPr lang="en-US" sz="900" dirty="0"/>
          </a:p>
        </p:txBody>
      </p:sp>
      <p:pic>
        <p:nvPicPr>
          <p:cNvPr id="15" name="Image 2" descr="preencoded.png"/>
          <p:cNvPicPr>
            <a:picLocks noChangeAspect="1"/>
          </p:cNvPicPr>
          <p:nvPr/>
        </p:nvPicPr>
        <p:blipFill>
          <a:blip r:embed="rId5"/>
          <a:stretch>
            <a:fillRect/>
          </a:stretch>
        </p:blipFill>
        <p:spPr>
          <a:xfrm>
            <a:off x="685800" y="2926080"/>
            <a:ext cx="228600" cy="228600"/>
          </a:xfrm>
          <a:prstGeom prst="rect">
            <a:avLst/>
          </a:prstGeom>
        </p:spPr>
      </p:pic>
      <p:sp>
        <p:nvSpPr>
          <p:cNvPr id="16" name="Text 11"/>
          <p:cNvSpPr/>
          <p:nvPr/>
        </p:nvSpPr>
        <p:spPr>
          <a:xfrm>
            <a:off x="1051560" y="288036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Alert Noise Reduction</a:t>
            </a:r>
            <a:endParaRPr lang="en-US" sz="1100" dirty="0"/>
          </a:p>
        </p:txBody>
      </p:sp>
      <p:sp>
        <p:nvSpPr>
          <p:cNvPr id="17" name="Text 12"/>
          <p:cNvSpPr/>
          <p:nvPr/>
        </p:nvSpPr>
        <p:spPr>
          <a:xfrm>
            <a:off x="1051560" y="308152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Reduction in noisy / duplicate alerts</a:t>
            </a:r>
            <a:endParaRPr lang="en-US" sz="900" dirty="0"/>
          </a:p>
        </p:txBody>
      </p:sp>
      <p:pic>
        <p:nvPicPr>
          <p:cNvPr id="18" name="Image 3" descr="preencoded.png"/>
          <p:cNvPicPr>
            <a:picLocks noChangeAspect="1"/>
          </p:cNvPicPr>
          <p:nvPr/>
        </p:nvPicPr>
        <p:blipFill>
          <a:blip r:embed="rId6"/>
          <a:stretch>
            <a:fillRect/>
          </a:stretch>
        </p:blipFill>
        <p:spPr>
          <a:xfrm>
            <a:off x="685800" y="3474720"/>
            <a:ext cx="228600" cy="228600"/>
          </a:xfrm>
          <a:prstGeom prst="rect">
            <a:avLst/>
          </a:prstGeom>
        </p:spPr>
      </p:pic>
      <p:sp>
        <p:nvSpPr>
          <p:cNvPr id="19" name="Text 13"/>
          <p:cNvSpPr/>
          <p:nvPr/>
        </p:nvSpPr>
        <p:spPr>
          <a:xfrm>
            <a:off x="1051560" y="342900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RCA Accuracy</a:t>
            </a:r>
            <a:endParaRPr lang="en-US" sz="1100" dirty="0"/>
          </a:p>
        </p:txBody>
      </p:sp>
      <p:sp>
        <p:nvSpPr>
          <p:cNvPr id="20" name="Text 14"/>
          <p:cNvSpPr/>
          <p:nvPr/>
        </p:nvSpPr>
        <p:spPr>
          <a:xfrm>
            <a:off x="1051560" y="363016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Correct root cause identification rate</a:t>
            </a:r>
            <a:endParaRPr lang="en-US" sz="900" dirty="0"/>
          </a:p>
        </p:txBody>
      </p:sp>
      <p:sp>
        <p:nvSpPr>
          <p:cNvPr id="21" name="Shape 15"/>
          <p:cNvSpPr/>
          <p:nvPr/>
        </p:nvSpPr>
        <p:spPr>
          <a:xfrm>
            <a:off x="4754880" y="1188720"/>
            <a:ext cx="3931920" cy="3017520"/>
          </a:xfrm>
          <a:prstGeom prst="rect">
            <a:avLst/>
          </a:prstGeom>
          <a:solidFill>
            <a:srgbClr val="242424"/>
          </a:solidFill>
          <a:ln w="12700">
            <a:solidFill>
              <a:srgbClr val="333333"/>
            </a:solidFill>
            <a:prstDash val="solid"/>
          </a:ln>
        </p:spPr>
        <p:txBody>
          <a:bodyPr/>
          <a:lstStyle/>
          <a:p>
            <a:endParaRPr lang="en-US"/>
          </a:p>
        </p:txBody>
      </p:sp>
      <p:sp>
        <p:nvSpPr>
          <p:cNvPr id="22" name="Shape 16"/>
          <p:cNvSpPr/>
          <p:nvPr/>
        </p:nvSpPr>
        <p:spPr>
          <a:xfrm>
            <a:off x="4754880" y="1188720"/>
            <a:ext cx="3931920" cy="36576"/>
          </a:xfrm>
          <a:prstGeom prst="rect">
            <a:avLst/>
          </a:prstGeom>
          <a:solidFill>
            <a:srgbClr val="1ABC9C"/>
          </a:solidFill>
          <a:ln/>
        </p:spPr>
        <p:txBody>
          <a:bodyPr/>
          <a:lstStyle/>
          <a:p>
            <a:endParaRPr lang="en-US"/>
          </a:p>
        </p:txBody>
      </p:sp>
      <p:sp>
        <p:nvSpPr>
          <p:cNvPr id="23" name="Text 17"/>
          <p:cNvSpPr/>
          <p:nvPr/>
        </p:nvSpPr>
        <p:spPr>
          <a:xfrm>
            <a:off x="4937760" y="1325880"/>
            <a:ext cx="3566160" cy="320040"/>
          </a:xfrm>
          <a:prstGeom prst="rect">
            <a:avLst/>
          </a:prstGeom>
          <a:noFill/>
          <a:ln/>
        </p:spPr>
        <p:txBody>
          <a:bodyPr wrap="square" lIns="0" tIns="0" rIns="0" bIns="0" rtlCol="0" anchor="ctr"/>
          <a:lstStyle/>
          <a:p>
            <a:pPr marL="0" indent="0" algn="l">
              <a:buNone/>
            </a:pPr>
            <a:r>
              <a:rPr lang="en-US" sz="1600" b="1" dirty="0">
                <a:solidFill>
                  <a:srgbClr val="1ABC9C"/>
                </a:solidFill>
                <a:latin typeface="Trebuchet MS" pitchFamily="34" charset="0"/>
                <a:ea typeface="Trebuchet MS" pitchFamily="34" charset="-122"/>
                <a:cs typeface="Trebuchet MS" pitchFamily="34" charset="-120"/>
              </a:rPr>
              <a:t>Productivity</a:t>
            </a:r>
            <a:endParaRPr lang="en-US" sz="1600" dirty="0"/>
          </a:p>
        </p:txBody>
      </p:sp>
      <p:pic>
        <p:nvPicPr>
          <p:cNvPr id="24" name="Image 4" descr="preencoded.png"/>
          <p:cNvPicPr>
            <a:picLocks noChangeAspect="1"/>
          </p:cNvPicPr>
          <p:nvPr/>
        </p:nvPicPr>
        <p:blipFill>
          <a:blip r:embed="rId7"/>
          <a:stretch>
            <a:fillRect/>
          </a:stretch>
        </p:blipFill>
        <p:spPr>
          <a:xfrm>
            <a:off x="4983480" y="1828800"/>
            <a:ext cx="228600" cy="228600"/>
          </a:xfrm>
          <a:prstGeom prst="rect">
            <a:avLst/>
          </a:prstGeom>
        </p:spPr>
      </p:pic>
      <p:sp>
        <p:nvSpPr>
          <p:cNvPr id="25" name="Text 18"/>
          <p:cNvSpPr/>
          <p:nvPr/>
        </p:nvSpPr>
        <p:spPr>
          <a:xfrm>
            <a:off x="5349240" y="178308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Time Saved per Incident</a:t>
            </a:r>
            <a:endParaRPr lang="en-US" sz="1100" dirty="0"/>
          </a:p>
        </p:txBody>
      </p:sp>
      <p:sp>
        <p:nvSpPr>
          <p:cNvPr id="26" name="Text 19"/>
          <p:cNvSpPr/>
          <p:nvPr/>
        </p:nvSpPr>
        <p:spPr>
          <a:xfrm>
            <a:off x="5349240" y="198424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Hours saved on log/metric digging &amp; RCA writing</a:t>
            </a:r>
            <a:endParaRPr lang="en-US" sz="900" dirty="0"/>
          </a:p>
        </p:txBody>
      </p:sp>
      <p:pic>
        <p:nvPicPr>
          <p:cNvPr id="27" name="Image 5" descr="preencoded.png"/>
          <p:cNvPicPr>
            <a:picLocks noChangeAspect="1"/>
          </p:cNvPicPr>
          <p:nvPr/>
        </p:nvPicPr>
        <p:blipFill>
          <a:blip r:embed="rId8"/>
          <a:stretch>
            <a:fillRect/>
          </a:stretch>
        </p:blipFill>
        <p:spPr>
          <a:xfrm>
            <a:off x="4983480" y="2377440"/>
            <a:ext cx="228600" cy="228600"/>
          </a:xfrm>
          <a:prstGeom prst="rect">
            <a:avLst/>
          </a:prstGeom>
        </p:spPr>
      </p:pic>
      <p:sp>
        <p:nvSpPr>
          <p:cNvPr id="28" name="Text 20"/>
          <p:cNvSpPr/>
          <p:nvPr/>
        </p:nvSpPr>
        <p:spPr>
          <a:xfrm>
            <a:off x="5349240" y="233172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On-Call Fatigue</a:t>
            </a:r>
            <a:endParaRPr lang="en-US" sz="1100" dirty="0"/>
          </a:p>
        </p:txBody>
      </p:sp>
      <p:sp>
        <p:nvSpPr>
          <p:cNvPr id="29" name="Text 21"/>
          <p:cNvSpPr/>
          <p:nvPr/>
        </p:nvSpPr>
        <p:spPr>
          <a:xfrm>
            <a:off x="5349240" y="253288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SRE satisfaction scores &amp; fatigue indicators</a:t>
            </a:r>
            <a:endParaRPr lang="en-US" sz="900" dirty="0"/>
          </a:p>
        </p:txBody>
      </p:sp>
      <p:pic>
        <p:nvPicPr>
          <p:cNvPr id="30" name="Image 6" descr="preencoded.png"/>
          <p:cNvPicPr>
            <a:picLocks noChangeAspect="1"/>
          </p:cNvPicPr>
          <p:nvPr/>
        </p:nvPicPr>
        <p:blipFill>
          <a:blip r:embed="rId9"/>
          <a:stretch>
            <a:fillRect/>
          </a:stretch>
        </p:blipFill>
        <p:spPr>
          <a:xfrm>
            <a:off x="4983480" y="2926080"/>
            <a:ext cx="228600" cy="228600"/>
          </a:xfrm>
          <a:prstGeom prst="rect">
            <a:avLst/>
          </a:prstGeom>
        </p:spPr>
      </p:pic>
      <p:sp>
        <p:nvSpPr>
          <p:cNvPr id="31" name="Text 22"/>
          <p:cNvSpPr/>
          <p:nvPr/>
        </p:nvSpPr>
        <p:spPr>
          <a:xfrm>
            <a:off x="5349240" y="288036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Faster Onboarding</a:t>
            </a:r>
            <a:endParaRPr lang="en-US" sz="1100" dirty="0"/>
          </a:p>
        </p:txBody>
      </p:sp>
      <p:sp>
        <p:nvSpPr>
          <p:cNvPr id="32" name="Text 23"/>
          <p:cNvSpPr/>
          <p:nvPr/>
        </p:nvSpPr>
        <p:spPr>
          <a:xfrm>
            <a:off x="5349240" y="308152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New SRE engineers ramp via AI-assisted knowledge</a:t>
            </a:r>
            <a:endParaRPr lang="en-US" sz="900" dirty="0"/>
          </a:p>
        </p:txBody>
      </p:sp>
      <p:pic>
        <p:nvPicPr>
          <p:cNvPr id="33" name="Image 7" descr="preencoded.png"/>
          <p:cNvPicPr>
            <a:picLocks noChangeAspect="1"/>
          </p:cNvPicPr>
          <p:nvPr/>
        </p:nvPicPr>
        <p:blipFill>
          <a:blip r:embed="rId10"/>
          <a:stretch>
            <a:fillRect/>
          </a:stretch>
        </p:blipFill>
        <p:spPr>
          <a:xfrm>
            <a:off x="4983480" y="3474720"/>
            <a:ext cx="228600" cy="228600"/>
          </a:xfrm>
          <a:prstGeom prst="rect">
            <a:avLst/>
          </a:prstGeom>
        </p:spPr>
      </p:pic>
      <p:sp>
        <p:nvSpPr>
          <p:cNvPr id="34" name="Text 24"/>
          <p:cNvSpPr/>
          <p:nvPr/>
        </p:nvSpPr>
        <p:spPr>
          <a:xfrm>
            <a:off x="5349240" y="3429000"/>
            <a:ext cx="3108960" cy="20116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Knowledge Capture</a:t>
            </a:r>
            <a:endParaRPr lang="en-US" sz="1100" dirty="0"/>
          </a:p>
        </p:txBody>
      </p:sp>
      <p:sp>
        <p:nvSpPr>
          <p:cNvPr id="35" name="Text 25"/>
          <p:cNvSpPr/>
          <p:nvPr/>
        </p:nvSpPr>
        <p:spPr>
          <a:xfrm>
            <a:off x="5349240" y="3630168"/>
            <a:ext cx="3108960" cy="228600"/>
          </a:xfrm>
          <a:prstGeom prst="rect">
            <a:avLst/>
          </a:prstGeom>
          <a:noFill/>
          <a:ln/>
        </p:spPr>
        <p:txBody>
          <a:bodyPr wrap="square" lIns="0" tIns="0" rIns="0" bIns="0" rtlCol="0" anchor="ctr"/>
          <a:lstStyle/>
          <a:p>
            <a:pPr marL="0" indent="0" algn="l">
              <a:buNone/>
            </a:pPr>
            <a:r>
              <a:rPr lang="en-US" sz="900" dirty="0">
                <a:solidFill>
                  <a:srgbClr val="999999"/>
                </a:solidFill>
                <a:latin typeface="Calibri" pitchFamily="34" charset="0"/>
                <a:ea typeface="Calibri" pitchFamily="34" charset="-122"/>
                <a:cs typeface="Calibri" pitchFamily="34" charset="-120"/>
              </a:rPr>
              <a:t>Tribal knowledge encoded into system context</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7589520" y="137160"/>
            <a:ext cx="1371600" cy="274320"/>
          </a:xfrm>
          <a:prstGeom prst="rect">
            <a:avLst/>
          </a:prstGeom>
          <a:noFill/>
          <a:ln/>
        </p:spPr>
        <p:txBody>
          <a:bodyPr wrap="square" lIns="0" tIns="0" rIns="0" bIns="0" rtlCol="0" anchor="ctr"/>
          <a:lstStyle/>
          <a:p>
            <a:pPr marL="0" indent="0" algn="r">
              <a:buNone/>
            </a:pPr>
            <a:r>
              <a:rPr lang="en-US" sz="1200" b="1" kern="0" spc="300" dirty="0">
                <a:solidFill>
                  <a:srgbClr val="3CB371"/>
                </a:solidFill>
                <a:latin typeface="Trebuchet MS" pitchFamily="34" charset="0"/>
                <a:ea typeface="Trebuchet MS" pitchFamily="34" charset="-122"/>
                <a:cs typeface="Trebuchet MS" pitchFamily="34" charset="-120"/>
              </a:rPr>
              <a:t>SECTIGO</a:t>
            </a:r>
            <a:endParaRPr lang="en-US" sz="1200" dirty="0"/>
          </a:p>
        </p:txBody>
      </p:sp>
      <p:sp>
        <p:nvSpPr>
          <p:cNvPr id="3" name="Text 1"/>
          <p:cNvSpPr/>
          <p:nvPr/>
        </p:nvSpPr>
        <p:spPr>
          <a:xfrm>
            <a:off x="457200" y="1097280"/>
            <a:ext cx="1828800" cy="1371600"/>
          </a:xfrm>
          <a:prstGeom prst="rect">
            <a:avLst/>
          </a:prstGeom>
          <a:noFill/>
          <a:ln/>
        </p:spPr>
        <p:txBody>
          <a:bodyPr wrap="square" lIns="0" tIns="0" rIns="0" bIns="0" rtlCol="0" anchor="ctr"/>
          <a:lstStyle/>
          <a:p>
            <a:pPr marL="0" indent="0" algn="l">
              <a:buNone/>
            </a:pPr>
            <a:r>
              <a:rPr lang="en-US" sz="7200" b="1" dirty="0">
                <a:solidFill>
                  <a:srgbClr val="E8751A"/>
                </a:solidFill>
                <a:latin typeface="Georgia" pitchFamily="34" charset="0"/>
                <a:ea typeface="Georgia" pitchFamily="34" charset="-122"/>
                <a:cs typeface="Georgia" pitchFamily="34" charset="-120"/>
              </a:rPr>
              <a:t>07</a:t>
            </a:r>
            <a:endParaRPr lang="en-US" sz="7200" dirty="0"/>
          </a:p>
        </p:txBody>
      </p:sp>
      <p:sp>
        <p:nvSpPr>
          <p:cNvPr id="4" name="Shape 2"/>
          <p:cNvSpPr/>
          <p:nvPr/>
        </p:nvSpPr>
        <p:spPr>
          <a:xfrm>
            <a:off x="457200" y="2560320"/>
            <a:ext cx="2743200" cy="0"/>
          </a:xfrm>
          <a:prstGeom prst="line">
            <a:avLst/>
          </a:prstGeom>
          <a:noFill/>
          <a:ln w="38100">
            <a:solidFill>
              <a:srgbClr val="E8751A"/>
            </a:solidFill>
            <a:prstDash val="solid"/>
          </a:ln>
        </p:spPr>
        <p:txBody>
          <a:bodyPr/>
          <a:lstStyle/>
          <a:p>
            <a:endParaRPr lang="en-US"/>
          </a:p>
        </p:txBody>
      </p:sp>
      <p:sp>
        <p:nvSpPr>
          <p:cNvPr id="5" name="Text 3"/>
          <p:cNvSpPr/>
          <p:nvPr/>
        </p:nvSpPr>
        <p:spPr>
          <a:xfrm>
            <a:off x="457200" y="2743200"/>
            <a:ext cx="8229600" cy="914400"/>
          </a:xfrm>
          <a:prstGeom prst="rect">
            <a:avLst/>
          </a:prstGeom>
          <a:noFill/>
          <a:ln/>
        </p:spPr>
        <p:txBody>
          <a:bodyPr wrap="square" lIns="0" tIns="0" rIns="0" bIns="0" rtlCol="0" anchor="ctr"/>
          <a:lstStyle/>
          <a:p>
            <a:pPr marL="0" indent="0" algn="l">
              <a:buNone/>
            </a:pPr>
            <a:r>
              <a:rPr lang="en-US" sz="3600" b="1" dirty="0">
                <a:latin typeface="Georgia" pitchFamily="34" charset="0"/>
                <a:ea typeface="Georgia" pitchFamily="34" charset="-122"/>
                <a:cs typeface="Georgia" pitchFamily="34" charset="-120"/>
              </a:rPr>
              <a:t>What's Next</a:t>
            </a:r>
            <a:endParaRPr lang="en-US" sz="3600" dirty="0"/>
          </a:p>
        </p:txBody>
      </p:sp>
      <p:sp>
        <p:nvSpPr>
          <p:cNvPr id="6" name="Text 4"/>
          <p:cNvSpPr/>
          <p:nvPr/>
        </p:nvSpPr>
        <p:spPr>
          <a:xfrm>
            <a:off x="457200" y="3566160"/>
            <a:ext cx="8229600" cy="457200"/>
          </a:xfrm>
          <a:prstGeom prst="rect">
            <a:avLst/>
          </a:prstGeom>
          <a:noFill/>
          <a:ln/>
        </p:spPr>
        <p:txBody>
          <a:bodyPr wrap="square" lIns="0" tIns="0" rIns="0" bIns="0" rtlCol="0" anchor="ctr"/>
          <a:lstStyle/>
          <a:p>
            <a:pPr marL="0" indent="0" algn="l">
              <a:buNone/>
            </a:pPr>
            <a:r>
              <a:rPr lang="en-US" sz="1400" dirty="0">
                <a:solidFill>
                  <a:srgbClr val="999999"/>
                </a:solidFill>
                <a:latin typeface="Calibri" pitchFamily="34" charset="0"/>
                <a:ea typeface="Calibri" pitchFamily="34" charset="-122"/>
                <a:cs typeface="Calibri" pitchFamily="34" charset="-120"/>
              </a:rPr>
              <a:t>Roadmap, phased adoption, and cloud strategy</a:t>
            </a:r>
            <a:endParaRPr lang="en-US" sz="1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82880"/>
            <a:ext cx="1554480" cy="256032"/>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1A1A1A"/>
                </a:solidFill>
                <a:latin typeface="Trebuchet MS"/>
              </a:rPr>
              <a:t>WHAT'S NEXT</a:t>
            </a:r>
          </a:p>
        </p:txBody>
      </p:sp>
      <p:sp>
        <p:nvSpPr>
          <p:cNvPr id="4" name="TextBox 3"/>
          <p:cNvSpPr txBox="1"/>
          <p:nvPr/>
        </p:nvSpPr>
        <p:spPr>
          <a:xfrm>
            <a:off x="457200" y="594360"/>
            <a:ext cx="8229600" cy="411480"/>
          </a:xfrm>
          <a:prstGeom prst="rect">
            <a:avLst/>
          </a:prstGeom>
          <a:noFill/>
        </p:spPr>
        <p:txBody>
          <a:bodyPr wrap="square" anchor="t">
            <a:spAutoFit/>
          </a:bodyPr>
          <a:lstStyle/>
          <a:p>
            <a:pPr algn="l"/>
            <a:r>
              <a:rPr sz="2000" b="1" i="0">
                <a:solidFill>
                  <a:srgbClr val="FFFFFF"/>
                </a:solidFill>
                <a:latin typeface="Calibri"/>
              </a:rPr>
              <a:t>Where This Goes Next</a:t>
            </a:r>
          </a:p>
        </p:txBody>
      </p:sp>
      <p:sp>
        <p:nvSpPr>
          <p:cNvPr id="5" name="Rectangle 4"/>
          <p:cNvSpPr/>
          <p:nvPr/>
        </p:nvSpPr>
        <p:spPr>
          <a:xfrm>
            <a:off x="457200" y="1371600"/>
            <a:ext cx="2651760"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2651760" cy="45720"/>
          </a:xfrm>
          <a:prstGeom prst="rect">
            <a:avLst/>
          </a:prstGeom>
          <a:solidFill>
            <a:srgbClr val="1ABC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08760"/>
            <a:ext cx="2377440" cy="320040"/>
          </a:xfrm>
          <a:prstGeom prst="rect">
            <a:avLst/>
          </a:prstGeom>
          <a:noFill/>
        </p:spPr>
        <p:txBody>
          <a:bodyPr wrap="square" anchor="t">
            <a:spAutoFit/>
          </a:bodyPr>
          <a:lstStyle/>
          <a:p>
            <a:pPr algn="l"/>
            <a:r>
              <a:rPr sz="1200" b="1" i="0">
                <a:solidFill>
                  <a:srgbClr val="1ABC9C"/>
                </a:solidFill>
                <a:latin typeface="Trebuchet MS"/>
              </a:rPr>
              <a:t>TODAY</a:t>
            </a:r>
          </a:p>
        </p:txBody>
      </p:sp>
      <p:sp>
        <p:nvSpPr>
          <p:cNvPr id="8" name="TextBox 7"/>
          <p:cNvSpPr txBox="1"/>
          <p:nvPr/>
        </p:nvSpPr>
        <p:spPr>
          <a:xfrm>
            <a:off x="594360" y="1874519"/>
            <a:ext cx="2377440" cy="365760"/>
          </a:xfrm>
          <a:prstGeom prst="rect">
            <a:avLst/>
          </a:prstGeom>
          <a:noFill/>
        </p:spPr>
        <p:txBody>
          <a:bodyPr wrap="square" anchor="t">
            <a:spAutoFit/>
          </a:bodyPr>
          <a:lstStyle/>
          <a:p>
            <a:pPr algn="l"/>
            <a:r>
              <a:rPr sz="950" b="0" i="0">
                <a:solidFill>
                  <a:srgbClr val="CCCCCC"/>
                </a:solidFill>
                <a:latin typeface="Calibri"/>
              </a:rPr>
              <a:t>•  Kubernetes investigation</a:t>
            </a:r>
          </a:p>
        </p:txBody>
      </p:sp>
      <p:sp>
        <p:nvSpPr>
          <p:cNvPr id="9" name="TextBox 8"/>
          <p:cNvSpPr txBox="1"/>
          <p:nvPr/>
        </p:nvSpPr>
        <p:spPr>
          <a:xfrm>
            <a:off x="594360" y="2258568"/>
            <a:ext cx="2377440" cy="365760"/>
          </a:xfrm>
          <a:prstGeom prst="rect">
            <a:avLst/>
          </a:prstGeom>
          <a:noFill/>
        </p:spPr>
        <p:txBody>
          <a:bodyPr wrap="square" anchor="t">
            <a:spAutoFit/>
          </a:bodyPr>
          <a:lstStyle/>
          <a:p>
            <a:pPr algn="l"/>
            <a:r>
              <a:rPr sz="950" b="0" i="0">
                <a:solidFill>
                  <a:srgbClr val="CCCCCC"/>
                </a:solidFill>
                <a:latin typeface="Calibri"/>
              </a:rPr>
              <a:t>•  Multi-cluster support</a:t>
            </a:r>
          </a:p>
        </p:txBody>
      </p:sp>
      <p:sp>
        <p:nvSpPr>
          <p:cNvPr id="10" name="TextBox 9"/>
          <p:cNvSpPr txBox="1"/>
          <p:nvPr/>
        </p:nvSpPr>
        <p:spPr>
          <a:xfrm>
            <a:off x="594360" y="2642615"/>
            <a:ext cx="2377440" cy="365760"/>
          </a:xfrm>
          <a:prstGeom prst="rect">
            <a:avLst/>
          </a:prstGeom>
          <a:noFill/>
        </p:spPr>
        <p:txBody>
          <a:bodyPr wrap="square" anchor="t">
            <a:spAutoFit/>
          </a:bodyPr>
          <a:lstStyle/>
          <a:p>
            <a:pPr algn="l"/>
            <a:r>
              <a:rPr sz="950" b="0" i="0">
                <a:solidFill>
                  <a:srgbClr val="CCCCCC"/>
                </a:solidFill>
                <a:latin typeface="Calibri"/>
              </a:rPr>
              <a:t>•  Evidence-backed RCA</a:t>
            </a:r>
          </a:p>
        </p:txBody>
      </p:sp>
      <p:sp>
        <p:nvSpPr>
          <p:cNvPr id="11" name="TextBox 10"/>
          <p:cNvSpPr txBox="1"/>
          <p:nvPr/>
        </p:nvSpPr>
        <p:spPr>
          <a:xfrm>
            <a:off x="594360" y="3026663"/>
            <a:ext cx="2377440" cy="365760"/>
          </a:xfrm>
          <a:prstGeom prst="rect">
            <a:avLst/>
          </a:prstGeom>
          <a:noFill/>
        </p:spPr>
        <p:txBody>
          <a:bodyPr wrap="square" anchor="t">
            <a:spAutoFit/>
          </a:bodyPr>
          <a:lstStyle/>
          <a:p>
            <a:pPr algn="l"/>
            <a:r>
              <a:rPr sz="950" b="0" i="0">
                <a:solidFill>
                  <a:srgbClr val="CCCCCC"/>
                </a:solidFill>
                <a:latin typeface="Calibri"/>
              </a:rPr>
              <a:t>•  Human-controlled actions</a:t>
            </a:r>
          </a:p>
        </p:txBody>
      </p:sp>
      <p:sp>
        <p:nvSpPr>
          <p:cNvPr id="12" name="Rectangle 11"/>
          <p:cNvSpPr/>
          <p:nvPr/>
        </p:nvSpPr>
        <p:spPr>
          <a:xfrm>
            <a:off x="3246120" y="1371600"/>
            <a:ext cx="2651760"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371600"/>
            <a:ext cx="2651760" cy="45720"/>
          </a:xfrm>
          <a:prstGeom prst="rect">
            <a:avLst/>
          </a:prstGeom>
          <a:solidFill>
            <a:srgbClr val="F4C5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79" y="1508760"/>
            <a:ext cx="2377440" cy="320040"/>
          </a:xfrm>
          <a:prstGeom prst="rect">
            <a:avLst/>
          </a:prstGeom>
          <a:noFill/>
        </p:spPr>
        <p:txBody>
          <a:bodyPr wrap="square" anchor="t">
            <a:spAutoFit/>
          </a:bodyPr>
          <a:lstStyle/>
          <a:p>
            <a:pPr algn="l"/>
            <a:r>
              <a:rPr sz="1200" b="1" i="0">
                <a:solidFill>
                  <a:srgbClr val="F4C542"/>
                </a:solidFill>
                <a:latin typeface="Trebuchet MS"/>
              </a:rPr>
              <a:t>NEXT</a:t>
            </a:r>
          </a:p>
        </p:txBody>
      </p:sp>
      <p:sp>
        <p:nvSpPr>
          <p:cNvPr id="15" name="TextBox 14"/>
          <p:cNvSpPr txBox="1"/>
          <p:nvPr/>
        </p:nvSpPr>
        <p:spPr>
          <a:xfrm>
            <a:off x="3383279" y="1874519"/>
            <a:ext cx="2377440" cy="365760"/>
          </a:xfrm>
          <a:prstGeom prst="rect">
            <a:avLst/>
          </a:prstGeom>
          <a:noFill/>
        </p:spPr>
        <p:txBody>
          <a:bodyPr wrap="square" anchor="t">
            <a:spAutoFit/>
          </a:bodyPr>
          <a:lstStyle/>
          <a:p>
            <a:pPr algn="l"/>
            <a:r>
              <a:rPr sz="950" b="0" i="0">
                <a:solidFill>
                  <a:srgbClr val="CCCCCC"/>
                </a:solidFill>
                <a:latin typeface="Calibri"/>
              </a:rPr>
              <a:t>•  Fix the wrong-pod pattern found here</a:t>
            </a:r>
          </a:p>
        </p:txBody>
      </p:sp>
      <p:sp>
        <p:nvSpPr>
          <p:cNvPr id="16" name="TextBox 15"/>
          <p:cNvSpPr txBox="1"/>
          <p:nvPr/>
        </p:nvSpPr>
        <p:spPr>
          <a:xfrm>
            <a:off x="3383279" y="2258568"/>
            <a:ext cx="2377440" cy="365760"/>
          </a:xfrm>
          <a:prstGeom prst="rect">
            <a:avLst/>
          </a:prstGeom>
          <a:noFill/>
        </p:spPr>
        <p:txBody>
          <a:bodyPr wrap="square" anchor="t">
            <a:spAutoFit/>
          </a:bodyPr>
          <a:lstStyle/>
          <a:p>
            <a:pPr algn="l"/>
            <a:r>
              <a:rPr sz="950" b="0" i="0">
                <a:solidFill>
                  <a:srgbClr val="CCCCCC"/>
                </a:solidFill>
                <a:latin typeface="Calibri"/>
              </a:rPr>
              <a:t>•  PagerDuty-triggered investigations</a:t>
            </a:r>
          </a:p>
        </p:txBody>
      </p:sp>
      <p:sp>
        <p:nvSpPr>
          <p:cNvPr id="17" name="TextBox 16"/>
          <p:cNvSpPr txBox="1"/>
          <p:nvPr/>
        </p:nvSpPr>
        <p:spPr>
          <a:xfrm>
            <a:off x="3383279" y="2642615"/>
            <a:ext cx="2377440" cy="365760"/>
          </a:xfrm>
          <a:prstGeom prst="rect">
            <a:avLst/>
          </a:prstGeom>
          <a:noFill/>
        </p:spPr>
        <p:txBody>
          <a:bodyPr wrap="square" anchor="t">
            <a:spAutoFit/>
          </a:bodyPr>
          <a:lstStyle/>
          <a:p>
            <a:pPr algn="l"/>
            <a:r>
              <a:rPr sz="950" b="0" i="0">
                <a:solidFill>
                  <a:srgbClr val="CCCCCC"/>
                </a:solidFill>
                <a:latin typeface="Calibri"/>
              </a:rPr>
              <a:t>•  Non-GKE environments</a:t>
            </a:r>
          </a:p>
        </p:txBody>
      </p:sp>
      <p:sp>
        <p:nvSpPr>
          <p:cNvPr id="18" name="TextBox 17"/>
          <p:cNvSpPr txBox="1"/>
          <p:nvPr/>
        </p:nvSpPr>
        <p:spPr>
          <a:xfrm>
            <a:off x="3383279" y="3026663"/>
            <a:ext cx="2377440" cy="365760"/>
          </a:xfrm>
          <a:prstGeom prst="rect">
            <a:avLst/>
          </a:prstGeom>
          <a:noFill/>
        </p:spPr>
        <p:txBody>
          <a:bodyPr wrap="square" anchor="t">
            <a:spAutoFit/>
          </a:bodyPr>
          <a:lstStyle/>
          <a:p>
            <a:pPr algn="l"/>
            <a:r>
              <a:rPr sz="950" b="0" i="0">
                <a:solidFill>
                  <a:srgbClr val="CCCCCC"/>
                </a:solidFill>
                <a:latin typeface="Calibri"/>
              </a:rPr>
              <a:t>•  Golden-case evaluation, expanded</a:t>
            </a:r>
          </a:p>
        </p:txBody>
      </p:sp>
      <p:sp>
        <p:nvSpPr>
          <p:cNvPr id="19" name="Rectangle 18"/>
          <p:cNvSpPr/>
          <p:nvPr/>
        </p:nvSpPr>
        <p:spPr>
          <a:xfrm>
            <a:off x="6035040" y="1371600"/>
            <a:ext cx="2651760" cy="21031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35040" y="1371600"/>
            <a:ext cx="2651760" cy="45720"/>
          </a:xfrm>
          <a:prstGeom prst="rect">
            <a:avLst/>
          </a:prstGeom>
          <a:solidFill>
            <a:srgbClr val="E87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1508760"/>
            <a:ext cx="2377440" cy="320040"/>
          </a:xfrm>
          <a:prstGeom prst="rect">
            <a:avLst/>
          </a:prstGeom>
          <a:noFill/>
        </p:spPr>
        <p:txBody>
          <a:bodyPr wrap="square" anchor="t">
            <a:spAutoFit/>
          </a:bodyPr>
          <a:lstStyle/>
          <a:p>
            <a:pPr algn="l"/>
            <a:r>
              <a:rPr sz="1200" b="1" i="0">
                <a:solidFill>
                  <a:srgbClr val="E8751A"/>
                </a:solidFill>
                <a:latin typeface="Trebuchet MS"/>
              </a:rPr>
              <a:t>SCALE</a:t>
            </a:r>
          </a:p>
        </p:txBody>
      </p:sp>
      <p:sp>
        <p:nvSpPr>
          <p:cNvPr id="22" name="TextBox 21"/>
          <p:cNvSpPr txBox="1"/>
          <p:nvPr/>
        </p:nvSpPr>
        <p:spPr>
          <a:xfrm>
            <a:off x="6172200" y="1874519"/>
            <a:ext cx="2377440" cy="365760"/>
          </a:xfrm>
          <a:prstGeom prst="rect">
            <a:avLst/>
          </a:prstGeom>
          <a:noFill/>
        </p:spPr>
        <p:txBody>
          <a:bodyPr wrap="square" anchor="t">
            <a:spAutoFit/>
          </a:bodyPr>
          <a:lstStyle/>
          <a:p>
            <a:pPr algn="l"/>
            <a:r>
              <a:rPr sz="950" b="0" i="0">
                <a:solidFill>
                  <a:srgbClr val="CCCCCC"/>
                </a:solidFill>
                <a:latin typeface="Calibri"/>
              </a:rPr>
              <a:t>•  Additional data sources</a:t>
            </a:r>
          </a:p>
        </p:txBody>
      </p:sp>
      <p:sp>
        <p:nvSpPr>
          <p:cNvPr id="23" name="TextBox 22"/>
          <p:cNvSpPr txBox="1"/>
          <p:nvPr/>
        </p:nvSpPr>
        <p:spPr>
          <a:xfrm>
            <a:off x="6172200" y="2258568"/>
            <a:ext cx="2377440" cy="365760"/>
          </a:xfrm>
          <a:prstGeom prst="rect">
            <a:avLst/>
          </a:prstGeom>
          <a:noFill/>
        </p:spPr>
        <p:txBody>
          <a:bodyPr wrap="square" anchor="t">
            <a:spAutoFit/>
          </a:bodyPr>
          <a:lstStyle/>
          <a:p>
            <a:pPr algn="l"/>
            <a:r>
              <a:rPr sz="950" b="0" i="0">
                <a:solidFill>
                  <a:srgbClr val="CCCCCC"/>
                </a:solidFill>
                <a:latin typeface="Calibri"/>
              </a:rPr>
              <a:t>•  Cross-project GKE</a:t>
            </a:r>
          </a:p>
        </p:txBody>
      </p:sp>
      <p:sp>
        <p:nvSpPr>
          <p:cNvPr id="24" name="TextBox 23"/>
          <p:cNvSpPr txBox="1"/>
          <p:nvPr/>
        </p:nvSpPr>
        <p:spPr>
          <a:xfrm>
            <a:off x="6172200" y="2642615"/>
            <a:ext cx="2377440" cy="365760"/>
          </a:xfrm>
          <a:prstGeom prst="rect">
            <a:avLst/>
          </a:prstGeom>
          <a:noFill/>
        </p:spPr>
        <p:txBody>
          <a:bodyPr wrap="square" anchor="t">
            <a:spAutoFit/>
          </a:bodyPr>
          <a:lstStyle/>
          <a:p>
            <a:pPr algn="l"/>
            <a:r>
              <a:rPr sz="950" b="0" i="0">
                <a:solidFill>
                  <a:srgbClr val="CCCCCC"/>
                </a:solidFill>
                <a:latin typeface="Calibri"/>
              </a:rPr>
              <a:t>•  Continuous evaluation</a:t>
            </a:r>
          </a:p>
        </p:txBody>
      </p:sp>
      <p:sp>
        <p:nvSpPr>
          <p:cNvPr id="25" name="TextBox 24"/>
          <p:cNvSpPr txBox="1"/>
          <p:nvPr/>
        </p:nvSpPr>
        <p:spPr>
          <a:xfrm>
            <a:off x="6172200" y="3026663"/>
            <a:ext cx="2377440" cy="365760"/>
          </a:xfrm>
          <a:prstGeom prst="rect">
            <a:avLst/>
          </a:prstGeom>
          <a:noFill/>
        </p:spPr>
        <p:txBody>
          <a:bodyPr wrap="square" anchor="t">
            <a:spAutoFit/>
          </a:bodyPr>
          <a:lstStyle/>
          <a:p>
            <a:pPr algn="l"/>
            <a:r>
              <a:rPr sz="950" b="0" i="0">
                <a:solidFill>
                  <a:srgbClr val="CCCCCC"/>
                </a:solidFill>
                <a:latin typeface="Calibri"/>
              </a:rPr>
              <a:t>•  Enterprise governance</a:t>
            </a:r>
          </a:p>
        </p:txBody>
      </p:sp>
      <p:sp>
        <p:nvSpPr>
          <p:cNvPr id="26" name="Rectangle 25"/>
          <p:cNvSpPr/>
          <p:nvPr/>
        </p:nvSpPr>
        <p:spPr>
          <a:xfrm>
            <a:off x="457200" y="3657600"/>
            <a:ext cx="8229600" cy="502920"/>
          </a:xfrm>
          <a:prstGeom prst="rect">
            <a:avLst/>
          </a:prstGeom>
          <a:solidFill>
            <a:srgbClr val="242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776472"/>
            <a:ext cx="7863840" cy="320040"/>
          </a:xfrm>
          <a:prstGeom prst="rect">
            <a:avLst/>
          </a:prstGeom>
          <a:noFill/>
        </p:spPr>
        <p:txBody>
          <a:bodyPr wrap="square" anchor="t">
            <a:spAutoFit/>
          </a:bodyPr>
          <a:lstStyle/>
          <a:p>
            <a:pPr algn="ctr"/>
            <a:r>
              <a:rPr sz="1300" b="1" i="0">
                <a:solidFill>
                  <a:srgbClr val="FFFFFF"/>
                </a:solidFill>
                <a:latin typeface="Calibri"/>
              </a:rPr>
              <a:t>Complete validation  →  controlled pilot  →  measure operational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Rectangle 2"/>
          <p:cNvSpPr/>
          <p:nvPr/>
        </p:nvSpPr>
        <p:spPr>
          <a:xfrm>
            <a:off x="457200" y="137160"/>
            <a:ext cx="1737360" cy="237744"/>
          </a:xfrm>
          <a:prstGeom prst="rect">
            <a:avLst/>
          </a:prstGeom>
          <a:solidFill>
            <a:srgbClr val="E87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A1A1A"/>
                </a:solidFill>
                <a:latin typeface="Trebuchet MS"/>
              </a:rPr>
              <a:t>FUTURE ARCHITECTURE</a:t>
            </a:r>
          </a:p>
        </p:txBody>
      </p:sp>
      <p:sp>
        <p:nvSpPr>
          <p:cNvPr id="4" name="TextBox 3"/>
          <p:cNvSpPr txBox="1"/>
          <p:nvPr/>
        </p:nvSpPr>
        <p:spPr>
          <a:xfrm>
            <a:off x="457200" y="402336"/>
            <a:ext cx="8229600" cy="320040"/>
          </a:xfrm>
          <a:prstGeom prst="rect">
            <a:avLst/>
          </a:prstGeom>
          <a:noFill/>
        </p:spPr>
        <p:txBody>
          <a:bodyPr wrap="none">
            <a:spAutoFit/>
          </a:bodyPr>
          <a:lstStyle/>
          <a:p>
            <a:r>
              <a:rPr sz="1500" b="1">
                <a:solidFill>
                  <a:srgbClr val="FFFFFF"/>
                </a:solidFill>
                <a:latin typeface="Calibri"/>
              </a:rPr>
              <a:t>Target Architecture — Where We're Building Toward</a:t>
            </a:r>
          </a:p>
        </p:txBody>
      </p:sp>
      <p:pic>
        <p:nvPicPr>
          <p:cNvPr id="5" name="Picture 4" descr="d40816cf-62446CA4FBB84372BC6026175AF93832.png"/>
          <p:cNvPicPr>
            <a:picLocks noChangeAspect="1"/>
          </p:cNvPicPr>
          <p:nvPr/>
        </p:nvPicPr>
        <p:blipFill>
          <a:blip r:embed="rId2"/>
          <a:stretch>
            <a:fillRect/>
          </a:stretch>
        </p:blipFill>
        <p:spPr>
          <a:xfrm>
            <a:off x="1348740" y="777240"/>
            <a:ext cx="6446520" cy="42976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0" y="137160"/>
            <a:ext cx="1371600" cy="274320"/>
          </a:xfrm>
          <a:prstGeom prst="rect">
            <a:avLst/>
          </a:prstGeom>
          <a:noFill/>
        </p:spPr>
        <p:txBody>
          <a:bodyPr wrap="none">
            <a:spAutoFit/>
          </a:bodyPr>
          <a:lstStyle/>
          <a:p>
            <a:r>
              <a:rPr sz="1200" b="1">
                <a:solidFill>
                  <a:srgbClr val="3CB371"/>
                </a:solidFill>
                <a:latin typeface="Trebuchet MS"/>
              </a:rPr>
              <a:t>SECTIGO</a:t>
            </a:r>
          </a:p>
        </p:txBody>
      </p:sp>
      <p:sp>
        <p:nvSpPr>
          <p:cNvPr id="3" name="TextBox 2"/>
          <p:cNvSpPr txBox="1"/>
          <p:nvPr/>
        </p:nvSpPr>
        <p:spPr>
          <a:xfrm>
            <a:off x="457200" y="1828800"/>
            <a:ext cx="8229600" cy="914400"/>
          </a:xfrm>
          <a:prstGeom prst="rect">
            <a:avLst/>
          </a:prstGeom>
          <a:noFill/>
        </p:spPr>
        <p:txBody>
          <a:bodyPr wrap="square" anchor="t">
            <a:spAutoFit/>
          </a:bodyPr>
          <a:lstStyle/>
          <a:p>
            <a:pPr algn="ctr"/>
            <a:r>
              <a:rPr sz="4400" b="1" i="0">
                <a:solidFill>
                  <a:srgbClr val="FFFFFF"/>
                </a:solidFill>
                <a:latin typeface="Georgia"/>
              </a:rPr>
              <a:t>Thank You</a:t>
            </a:r>
          </a:p>
        </p:txBody>
      </p:sp>
      <p:sp>
        <p:nvSpPr>
          <p:cNvPr id="4" name="TextBox 3"/>
          <p:cNvSpPr txBox="1"/>
          <p:nvPr/>
        </p:nvSpPr>
        <p:spPr>
          <a:xfrm>
            <a:off x="457200" y="2697480"/>
            <a:ext cx="8229600" cy="457200"/>
          </a:xfrm>
          <a:prstGeom prst="rect">
            <a:avLst/>
          </a:prstGeom>
          <a:noFill/>
        </p:spPr>
        <p:txBody>
          <a:bodyPr wrap="square" anchor="t">
            <a:spAutoFit/>
          </a:bodyPr>
          <a:lstStyle/>
          <a:p>
            <a:pPr algn="ctr"/>
            <a:r>
              <a:rPr sz="2000" b="0" i="0">
                <a:solidFill>
                  <a:srgbClr val="E8751A"/>
                </a:solidFill>
                <a:latin typeface="Calibri"/>
              </a:rPr>
              <a:t>Questions?</a:t>
            </a:r>
          </a:p>
        </p:txBody>
      </p:sp>
      <p:sp>
        <p:nvSpPr>
          <p:cNvPr id="5" name="TextBox 4"/>
          <p:cNvSpPr txBox="1"/>
          <p:nvPr/>
        </p:nvSpPr>
        <p:spPr>
          <a:xfrm>
            <a:off x="457200" y="4206240"/>
            <a:ext cx="8229600" cy="365760"/>
          </a:xfrm>
          <a:prstGeom prst="rect">
            <a:avLst/>
          </a:prstGeom>
          <a:noFill/>
        </p:spPr>
        <p:txBody>
          <a:bodyPr wrap="square" anchor="t">
            <a:spAutoFit/>
          </a:bodyPr>
          <a:lstStyle/>
          <a:p>
            <a:pPr algn="ctr"/>
            <a:r>
              <a:rPr sz="1200" b="0" i="0">
                <a:solidFill>
                  <a:srgbClr val="999999"/>
                </a:solidFill>
                <a:latin typeface="Calibri"/>
              </a:rPr>
              <a:t>Ashwadeep Vaishnav  ·  SRE / CloudOps  ·  Sectigo</a:t>
            </a:r>
          </a:p>
        </p:txBody>
      </p:sp>
    </p:spTree>
  </p:cSld>
  <p:clrMapOvr>
    <a:masterClrMapping/>
  </p:clrMapOvr>
</p:sld>
</file>

<file path=ppt/theme/theme1.xml><?xml version="1.0" encoding="utf-8"?>
<a:theme xmlns:a="http://schemas.openxmlformats.org/drawingml/2006/main" name="Dune">
  <a:themeElements>
    <a:clrScheme name="Dune">
      <a:dk1>
        <a:srgbClr val="131313"/>
      </a:dk1>
      <a:lt1>
        <a:sysClr val="window" lastClr="FFFFFF"/>
      </a:lt1>
      <a:dk2>
        <a:srgbClr val="272D2B"/>
      </a:dk2>
      <a:lt2>
        <a:srgbClr val="F0EDE6"/>
      </a:lt2>
      <a:accent1>
        <a:srgbClr val="647E6B"/>
      </a:accent1>
      <a:accent2>
        <a:srgbClr val="476262"/>
      </a:accent2>
      <a:accent3>
        <a:srgbClr val="9B8C69"/>
      </a:accent3>
      <a:accent4>
        <a:srgbClr val="BA988C"/>
      </a:accent4>
      <a:accent5>
        <a:srgbClr val="A27C7C"/>
      </a:accent5>
      <a:accent6>
        <a:srgbClr val="79958B"/>
      </a:accent6>
      <a:hlink>
        <a:srgbClr val="476262"/>
      </a:hlink>
      <a:folHlink>
        <a:srgbClr val="A27C7C"/>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Dune</Template>
  <TotalTime>64</TotalTime>
  <Words>2181</Words>
  <Application>Microsoft Macintosh PowerPoint</Application>
  <PresentationFormat>On-screen Show (16:9)</PresentationFormat>
  <Paragraphs>211</Paragraphs>
  <Slides>16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Consolas</vt:lpstr>
      <vt:lpstr>Georgia</vt:lpstr>
      <vt:lpstr>Neue Haas Grotesk Text Pro</vt:lpstr>
      <vt:lpstr>Trebuchet MS</vt:lpstr>
      <vt:lpstr>Dune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SRE Intelligence Layer</dc:title>
  <dc:subject>PptxGenJS Presentation</dc:subject>
  <dc:creator>Ashwadeep Vaishnav</dc:creator>
  <cp:lastModifiedBy>Ashwadeep Vaishnav</cp:lastModifiedBy>
  <cp:revision>8</cp:revision>
  <dcterms:created xsi:type="dcterms:W3CDTF">2026-04-21T20:33:41Z</dcterms:created>
  <dcterms:modified xsi:type="dcterms:W3CDTF">2026-08-19T06:59:11Z</dcterms:modified>
</cp:coreProperties>
</file>